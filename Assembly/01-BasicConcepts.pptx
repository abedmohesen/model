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handoutMasterIdLst>
    <p:handoutMasterId r:id="rId48"/>
  </p:handoutMasterIdLst>
  <p:sldIdLst>
    <p:sldId id="355" r:id="rId3"/>
    <p:sldId id="356" r:id="rId4"/>
    <p:sldId id="357" r:id="rId5"/>
    <p:sldId id="352" r:id="rId6"/>
    <p:sldId id="313" r:id="rId7"/>
    <p:sldId id="314" r:id="rId8"/>
    <p:sldId id="271" r:id="rId9"/>
    <p:sldId id="322" r:id="rId10"/>
    <p:sldId id="358" r:id="rId11"/>
    <p:sldId id="323" r:id="rId12"/>
    <p:sldId id="350" r:id="rId13"/>
    <p:sldId id="351" r:id="rId14"/>
    <p:sldId id="353" r:id="rId15"/>
    <p:sldId id="345" r:id="rId16"/>
    <p:sldId id="346" r:id="rId17"/>
    <p:sldId id="347" r:id="rId18"/>
    <p:sldId id="280" r:id="rId19"/>
    <p:sldId id="281" r:id="rId20"/>
    <p:sldId id="282" r:id="rId21"/>
    <p:sldId id="283" r:id="rId22"/>
    <p:sldId id="284" r:id="rId23"/>
    <p:sldId id="287" r:id="rId24"/>
    <p:sldId id="288" r:id="rId25"/>
    <p:sldId id="289" r:id="rId26"/>
    <p:sldId id="291" r:id="rId27"/>
    <p:sldId id="286" r:id="rId28"/>
    <p:sldId id="285" r:id="rId29"/>
    <p:sldId id="292" r:id="rId30"/>
    <p:sldId id="339" r:id="rId31"/>
    <p:sldId id="340" r:id="rId32"/>
    <p:sldId id="295" r:id="rId33"/>
    <p:sldId id="294" r:id="rId34"/>
    <p:sldId id="354" r:id="rId35"/>
    <p:sldId id="338" r:id="rId36"/>
    <p:sldId id="343" r:id="rId37"/>
    <p:sldId id="296" r:id="rId38"/>
    <p:sldId id="293" r:id="rId39"/>
    <p:sldId id="298" r:id="rId40"/>
    <p:sldId id="341" r:id="rId41"/>
    <p:sldId id="342" r:id="rId42"/>
    <p:sldId id="299" r:id="rId43"/>
    <p:sldId id="336" r:id="rId44"/>
    <p:sldId id="337" r:id="rId45"/>
    <p:sldId id="300" r:id="rId46"/>
    <p:sldId id="311" r:id="rId47"/>
  </p:sldIdLst>
  <p:sldSz cx="9144000" cy="6858000" type="screen4x3"/>
  <p:notesSz cx="7099300" cy="10234613"/>
  <p:custShowLst>
    <p:custShow name="Shl" id="0">
      <p:sldLst/>
    </p:custShow>
  </p:custShow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E5D"/>
    <a:srgbClr val="FFBA75"/>
    <a:srgbClr val="008000"/>
    <a:srgbClr val="000099"/>
    <a:srgbClr val="FF0000"/>
    <a:srgbClr val="FFCCFF"/>
    <a:srgbClr val="FFFFCC"/>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660"/>
  </p:normalViewPr>
  <p:slideViewPr>
    <p:cSldViewPr>
      <p:cViewPr varScale="1">
        <p:scale>
          <a:sx n="65" d="100"/>
          <a:sy n="65" d="100"/>
        </p:scale>
        <p:origin x="1356" y="66"/>
      </p:cViewPr>
      <p:guideLst>
        <p:guide orient="horz" pos="2160"/>
        <p:guide pos="2880"/>
      </p:guideLst>
    </p:cSldViewPr>
  </p:slideViewPr>
  <p:notesTextViewPr>
    <p:cViewPr>
      <p:scale>
        <a:sx n="100" d="100"/>
        <a:sy n="100" d="100"/>
      </p:scale>
      <p:origin x="0" y="0"/>
    </p:cViewPr>
  </p:notesTextViewPr>
  <p:gridSpacing cx="57607" cy="57607"/>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898" name="Rectangle 2"/>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defTabSz="990600" eaLnBrk="1" hangingPunct="1">
              <a:defRPr sz="1300"/>
            </a:lvl1pPr>
          </a:lstStyle>
          <a:p>
            <a:pPr>
              <a:defRPr/>
            </a:pPr>
            <a:endParaRPr lang="en-US" altLang="ar-AE"/>
          </a:p>
        </p:txBody>
      </p:sp>
      <p:sp>
        <p:nvSpPr>
          <p:cNvPr id="208899" name="Rectangle 3"/>
          <p:cNvSpPr>
            <a:spLocks noGrp="1" noChangeArrowheads="1"/>
          </p:cNvSpPr>
          <p:nvPr>
            <p:ph type="dt" sz="quarter"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defTabSz="990600" eaLnBrk="1" hangingPunct="1">
              <a:defRPr sz="1300"/>
            </a:lvl1pPr>
          </a:lstStyle>
          <a:p>
            <a:pPr>
              <a:defRPr/>
            </a:pPr>
            <a:endParaRPr lang="en-US" altLang="ar-AE"/>
          </a:p>
        </p:txBody>
      </p:sp>
      <p:sp>
        <p:nvSpPr>
          <p:cNvPr id="208900" name="Rectangle 4"/>
          <p:cNvSpPr>
            <a:spLocks noGrp="1" noChangeArrowheads="1"/>
          </p:cNvSpPr>
          <p:nvPr>
            <p:ph type="ftr" sz="quarter" idx="2"/>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defTabSz="990600" eaLnBrk="1" hangingPunct="1">
              <a:defRPr sz="1300"/>
            </a:lvl1pPr>
          </a:lstStyle>
          <a:p>
            <a:pPr>
              <a:defRPr/>
            </a:pPr>
            <a:endParaRPr lang="en-US" altLang="ar-AE"/>
          </a:p>
        </p:txBody>
      </p:sp>
      <p:sp>
        <p:nvSpPr>
          <p:cNvPr id="208901" name="Rectangle 5"/>
          <p:cNvSpPr>
            <a:spLocks noGrp="1" noChangeArrowheads="1"/>
          </p:cNvSpPr>
          <p:nvPr>
            <p:ph type="sldNum" sz="quarter" idx="3"/>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defTabSz="990600" eaLnBrk="1" hangingPunct="1">
              <a:defRPr sz="1300" smtClean="0"/>
            </a:lvl1pPr>
          </a:lstStyle>
          <a:p>
            <a:pPr>
              <a:defRPr/>
            </a:pPr>
            <a:fld id="{38DBBD88-446D-4E2F-AC22-083488AF984B}" type="slidenum">
              <a:rPr lang="en-US" altLang="ar-AE"/>
              <a:pPr>
                <a:defRPr/>
              </a:pPr>
              <a:t>‹#›</a:t>
            </a:fld>
            <a:endParaRPr lang="en-US" altLang="ar-AE"/>
          </a:p>
        </p:txBody>
      </p:sp>
    </p:spTree>
    <p:extLst>
      <p:ext uri="{BB962C8B-B14F-4D97-AF65-F5344CB8AC3E}">
        <p14:creationId xmlns:p14="http://schemas.microsoft.com/office/powerpoint/2010/main" val="342534223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800100"/>
            <a:ext cx="8229600" cy="2057400"/>
          </a:xfrm>
        </p:spPr>
        <p:txBody>
          <a:bodyPr/>
          <a:lstStyle>
            <a:lvl1pPr>
              <a:defRPr/>
            </a:lvl1pPr>
          </a:lstStyle>
          <a:p>
            <a:pPr lvl="0"/>
            <a:r>
              <a:rPr lang="en-US" altLang="ar-AE" noProof="0"/>
              <a:t>Click to edit Master title style</a:t>
            </a:r>
          </a:p>
        </p:txBody>
      </p:sp>
      <p:sp>
        <p:nvSpPr>
          <p:cNvPr id="6147" name="Rectangle 3"/>
          <p:cNvSpPr>
            <a:spLocks noGrp="1" noChangeArrowheads="1"/>
          </p:cNvSpPr>
          <p:nvPr>
            <p:ph type="subTitle" idx="1"/>
          </p:nvPr>
        </p:nvSpPr>
        <p:spPr>
          <a:xfrm>
            <a:off x="457200" y="3086100"/>
            <a:ext cx="8229600" cy="2552700"/>
          </a:xfrm>
        </p:spPr>
        <p:txBody>
          <a:bodyPr/>
          <a:lstStyle>
            <a:lvl1pPr marL="0" indent="0" algn="ctr">
              <a:buFont typeface="Wingdings" panose="05000000000000000000" pitchFamily="2" charset="2"/>
              <a:buNone/>
              <a:defRPr/>
            </a:lvl1pPr>
          </a:lstStyle>
          <a:p>
            <a:pPr lvl="0"/>
            <a:r>
              <a:rPr lang="en-US" altLang="ar-AE" noProof="0"/>
              <a:t>Click to edit Master subtitle style</a:t>
            </a:r>
          </a:p>
        </p:txBody>
      </p:sp>
    </p:spTree>
    <p:extLst>
      <p:ext uri="{BB962C8B-B14F-4D97-AF65-F5344CB8AC3E}">
        <p14:creationId xmlns:p14="http://schemas.microsoft.com/office/powerpoint/2010/main" val="3483084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عنوان ومحتوى">
    <p:spTree>
      <p:nvGrpSpPr>
        <p:cNvPr id="1" name=""/>
        <p:cNvGrpSpPr/>
        <p:nvPr/>
      </p:nvGrpSpPr>
      <p:grpSpPr>
        <a:xfrm>
          <a:off x="0" y="0"/>
          <a:ext cx="0" cy="0"/>
          <a:chOff x="0" y="0"/>
          <a:chExt cx="0" cy="0"/>
        </a:xfrm>
      </p:grpSpPr>
      <p:sp>
        <p:nvSpPr>
          <p:cNvPr id="3" name="عنصر نائب للمحتوى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عنوان 3"/>
          <p:cNvSpPr>
            <a:spLocks noGrp="1"/>
          </p:cNvSpPr>
          <p:nvPr>
            <p:ph type="title"/>
          </p:nvPr>
        </p:nvSpPr>
        <p:spPr/>
        <p:txBody>
          <a:bodyPr/>
          <a:lstStyle/>
          <a:p>
            <a:r>
              <a:rPr lang="ar-SA"/>
              <a:t>انقر لتحرير نمط العنوان الرئيسي</a:t>
            </a:r>
          </a:p>
        </p:txBody>
      </p:sp>
    </p:spTree>
    <p:extLst>
      <p:ext uri="{BB962C8B-B14F-4D97-AF65-F5344CB8AC3E}">
        <p14:creationId xmlns:p14="http://schemas.microsoft.com/office/powerpoint/2010/main" val="2670075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623888" y="1709738"/>
            <a:ext cx="7886700" cy="2852737"/>
          </a:xfrm>
        </p:spPr>
        <p:txBody>
          <a:bodyPr anchor="b"/>
          <a:lstStyle>
            <a:lvl1pPr>
              <a:defRPr sz="6000"/>
            </a:lvl1pPr>
          </a:lstStyle>
          <a:p>
            <a:r>
              <a:rPr lang="ar-SA"/>
              <a:t>انقر لتحرير نمط عنوان الشكل الرئيسي</a:t>
            </a:r>
            <a:endParaRPr lang="ar-AE"/>
          </a:p>
        </p:txBody>
      </p:sp>
      <p:sp>
        <p:nvSpPr>
          <p:cNvPr id="3" name="عنصر نائب للنص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ar-SA"/>
              <a:t>انقر لتحرير أنماط نص الشكل الرئيسي</a:t>
            </a:r>
          </a:p>
        </p:txBody>
      </p:sp>
    </p:spTree>
    <p:extLst>
      <p:ext uri="{BB962C8B-B14F-4D97-AF65-F5344CB8AC3E}">
        <p14:creationId xmlns:p14="http://schemas.microsoft.com/office/powerpoint/2010/main" val="2230407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محتويا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عنوان الشكل الرئيسي</a:t>
            </a:r>
            <a:endParaRPr lang="ar-AE"/>
          </a:p>
        </p:txBody>
      </p:sp>
      <p:sp>
        <p:nvSpPr>
          <p:cNvPr id="3" name="عنصر نائب للمحتوى 2"/>
          <p:cNvSpPr>
            <a:spLocks noGrp="1"/>
          </p:cNvSpPr>
          <p:nvPr>
            <p:ph sz="half" idx="1"/>
          </p:nvPr>
        </p:nvSpPr>
        <p:spPr>
          <a:xfrm>
            <a:off x="457200" y="1143000"/>
            <a:ext cx="4038600" cy="51435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عنصر نائب للمحتوى 3"/>
          <p:cNvSpPr>
            <a:spLocks noGrp="1"/>
          </p:cNvSpPr>
          <p:nvPr>
            <p:ph sz="half" idx="2"/>
          </p:nvPr>
        </p:nvSpPr>
        <p:spPr>
          <a:xfrm>
            <a:off x="4648200" y="1143000"/>
            <a:ext cx="4038600" cy="51435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Tree>
    <p:extLst>
      <p:ext uri="{BB962C8B-B14F-4D97-AF65-F5344CB8AC3E}">
        <p14:creationId xmlns:p14="http://schemas.microsoft.com/office/powerpoint/2010/main" val="657781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a:xfrm>
            <a:off x="630238" y="365125"/>
            <a:ext cx="7886700" cy="1325563"/>
          </a:xfrm>
        </p:spPr>
        <p:txBody>
          <a:bodyPr/>
          <a:lstStyle/>
          <a:p>
            <a:r>
              <a:rPr lang="ar-SA"/>
              <a:t>انقر لتحرير نمط عنوان الشكل الرئيسي</a:t>
            </a:r>
            <a:endParaRPr lang="ar-AE"/>
          </a:p>
        </p:txBody>
      </p:sp>
      <p:sp>
        <p:nvSpPr>
          <p:cNvPr id="3" name="عنصر نائب للنص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p:cNvSpPr>
            <a:spLocks noGrp="1"/>
          </p:cNvSpPr>
          <p:nvPr>
            <p:ph sz="half" idx="2"/>
          </p:nvPr>
        </p:nvSpPr>
        <p:spPr>
          <a:xfrm>
            <a:off x="630238" y="2505075"/>
            <a:ext cx="386873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5" name="عنصر نائب للنص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p:cNvSpPr>
            <a:spLocks noGrp="1"/>
          </p:cNvSpPr>
          <p:nvPr>
            <p:ph sz="quarter" idx="4"/>
          </p:nvPr>
        </p:nvSpPr>
        <p:spPr>
          <a:xfrm>
            <a:off x="4629150" y="2505075"/>
            <a:ext cx="38877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Tree>
    <p:extLst>
      <p:ext uri="{BB962C8B-B14F-4D97-AF65-F5344CB8AC3E}">
        <p14:creationId xmlns:p14="http://schemas.microsoft.com/office/powerpoint/2010/main" val="3352855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عنوان الشكل الرئيسي</a:t>
            </a:r>
            <a:endParaRPr lang="ar-AE"/>
          </a:p>
        </p:txBody>
      </p:sp>
    </p:spTree>
    <p:extLst>
      <p:ext uri="{BB962C8B-B14F-4D97-AF65-F5344CB8AC3E}">
        <p14:creationId xmlns:p14="http://schemas.microsoft.com/office/powerpoint/2010/main" val="3245443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فارغ">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0605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محتوى مع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630238" y="457200"/>
            <a:ext cx="2949575" cy="1600200"/>
          </a:xfrm>
        </p:spPr>
        <p:txBody>
          <a:bodyPr anchor="b"/>
          <a:lstStyle>
            <a:lvl1pPr>
              <a:defRPr sz="3200"/>
            </a:lvl1pPr>
          </a:lstStyle>
          <a:p>
            <a:r>
              <a:rPr lang="ar-SA"/>
              <a:t>انقر لتحرير نمط عنوان الشكل الرئيسي</a:t>
            </a:r>
            <a:endParaRPr lang="ar-AE"/>
          </a:p>
        </p:txBody>
      </p:sp>
      <p:sp>
        <p:nvSpPr>
          <p:cNvPr id="3" name="عنصر نائب للمحتوى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عنصر نائب للنص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Tree>
    <p:extLst>
      <p:ext uri="{BB962C8B-B14F-4D97-AF65-F5344CB8AC3E}">
        <p14:creationId xmlns:p14="http://schemas.microsoft.com/office/powerpoint/2010/main" val="2351261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مع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630238" y="457200"/>
            <a:ext cx="2949575" cy="1600200"/>
          </a:xfrm>
        </p:spPr>
        <p:txBody>
          <a:bodyPr anchor="b"/>
          <a:lstStyle>
            <a:lvl1pPr>
              <a:defRPr sz="3200"/>
            </a:lvl1pPr>
          </a:lstStyle>
          <a:p>
            <a:r>
              <a:rPr lang="ar-SA"/>
              <a:t>انقر لتحرير نمط عنوان الشكل الرئيسي</a:t>
            </a:r>
            <a:endParaRPr lang="ar-AE"/>
          </a:p>
        </p:txBody>
      </p:sp>
      <p:sp>
        <p:nvSpPr>
          <p:cNvPr id="3" name="عنصر نائب للصورة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AE" noProof="0"/>
          </a:p>
        </p:txBody>
      </p:sp>
      <p:sp>
        <p:nvSpPr>
          <p:cNvPr id="4" name="عنصر نائب للنص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Tree>
    <p:extLst>
      <p:ext uri="{BB962C8B-B14F-4D97-AF65-F5344CB8AC3E}">
        <p14:creationId xmlns:p14="http://schemas.microsoft.com/office/powerpoint/2010/main" val="93305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عنوان الشكل الرئيسي</a:t>
            </a:r>
            <a:endParaRPr lang="ar-AE"/>
          </a:p>
        </p:txBody>
      </p:sp>
      <p:sp>
        <p:nvSpPr>
          <p:cNvPr id="3" name="عنصر نائب للعنوان العمودي 2"/>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Tree>
    <p:extLst>
      <p:ext uri="{BB962C8B-B14F-4D97-AF65-F5344CB8AC3E}">
        <p14:creationId xmlns:p14="http://schemas.microsoft.com/office/powerpoint/2010/main" val="413655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6011862"/>
          </a:xfrm>
        </p:spPr>
        <p:txBody>
          <a:bodyPr vert="eaVert"/>
          <a:lstStyle/>
          <a:p>
            <a:r>
              <a:rPr lang="ar-SA"/>
              <a:t>انقر لتحرير نمط عنوان الشكل الرئيسي</a:t>
            </a:r>
            <a:endParaRPr lang="ar-AE"/>
          </a:p>
        </p:txBody>
      </p:sp>
      <p:sp>
        <p:nvSpPr>
          <p:cNvPr id="3" name="عنصر نائب للعنوان العمودي 2"/>
          <p:cNvSpPr>
            <a:spLocks noGrp="1"/>
          </p:cNvSpPr>
          <p:nvPr>
            <p:ph type="body" orient="vert" idx="1"/>
          </p:nvPr>
        </p:nvSpPr>
        <p:spPr>
          <a:xfrm>
            <a:off x="457200" y="274638"/>
            <a:ext cx="6019800" cy="6011862"/>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Tree>
    <p:extLst>
      <p:ext uri="{BB962C8B-B14F-4D97-AF65-F5344CB8AC3E}">
        <p14:creationId xmlns:p14="http://schemas.microsoft.com/office/powerpoint/2010/main" val="1849637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bl" preserve="1">
  <p:cSld name="عنوان وجدول">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4638"/>
            <a:ext cx="8229600" cy="792162"/>
          </a:xfrm>
        </p:spPr>
        <p:txBody>
          <a:bodyPr/>
          <a:lstStyle/>
          <a:p>
            <a:r>
              <a:rPr lang="ar-SA"/>
              <a:t>انقر لتحرير نمط عنوان الشكل الرئيسي</a:t>
            </a:r>
            <a:endParaRPr lang="ar-AE"/>
          </a:p>
        </p:txBody>
      </p:sp>
      <p:sp>
        <p:nvSpPr>
          <p:cNvPr id="3" name="عنصر نائب للجدول 2"/>
          <p:cNvSpPr>
            <a:spLocks noGrp="1"/>
          </p:cNvSpPr>
          <p:nvPr>
            <p:ph type="tbl" idx="1"/>
          </p:nvPr>
        </p:nvSpPr>
        <p:spPr>
          <a:xfrm>
            <a:off x="457200" y="1143000"/>
            <a:ext cx="8229600" cy="5143500"/>
          </a:xfrm>
        </p:spPr>
        <p:txBody>
          <a:bodyPr/>
          <a:lstStyle/>
          <a:p>
            <a:pPr lvl="0"/>
            <a:endParaRPr lang="ar-AE" noProof="0"/>
          </a:p>
        </p:txBody>
      </p:sp>
    </p:spTree>
    <p:extLst>
      <p:ext uri="{BB962C8B-B14F-4D97-AF65-F5344CB8AC3E}">
        <p14:creationId xmlns:p14="http://schemas.microsoft.com/office/powerpoint/2010/main" val="597379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عنوان، ونص، ومحتوى">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4638"/>
            <a:ext cx="8229600" cy="792162"/>
          </a:xfrm>
        </p:spPr>
        <p:txBody>
          <a:bodyPr/>
          <a:lstStyle/>
          <a:p>
            <a:r>
              <a:rPr lang="ar-SA"/>
              <a:t>انقر لتحرير نمط عنوان الشكل الرئيسي</a:t>
            </a:r>
            <a:endParaRPr lang="ar-AE"/>
          </a:p>
        </p:txBody>
      </p:sp>
      <p:sp>
        <p:nvSpPr>
          <p:cNvPr id="3" name="عنصر نائب للنص 2"/>
          <p:cNvSpPr>
            <a:spLocks noGrp="1"/>
          </p:cNvSpPr>
          <p:nvPr>
            <p:ph type="body" sz="half" idx="1"/>
          </p:nvPr>
        </p:nvSpPr>
        <p:spPr>
          <a:xfrm>
            <a:off x="457200" y="1143000"/>
            <a:ext cx="4038600" cy="51435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عنصر نائب للمحتوى 3"/>
          <p:cNvSpPr>
            <a:spLocks noGrp="1"/>
          </p:cNvSpPr>
          <p:nvPr>
            <p:ph sz="half" idx="2"/>
          </p:nvPr>
        </p:nvSpPr>
        <p:spPr>
          <a:xfrm>
            <a:off x="4648200" y="1143000"/>
            <a:ext cx="4038600" cy="51435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Tree>
    <p:extLst>
      <p:ext uri="{BB962C8B-B14F-4D97-AF65-F5344CB8AC3E}">
        <p14:creationId xmlns:p14="http://schemas.microsoft.com/office/powerpoint/2010/main" val="29020573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cxnSp>
        <p:nvCxnSpPr>
          <p:cNvPr id="4" name="Straight Connector 7"/>
          <p:cNvCxnSpPr/>
          <p:nvPr/>
        </p:nvCxnSpPr>
        <p:spPr>
          <a:xfrm>
            <a:off x="685800" y="3398838"/>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374E3268-F265-488C-B0CE-A95BF77505EB}" type="datetimeFigureOut">
              <a:rPr lang="en-US"/>
              <a:pPr>
                <a:defRPr/>
              </a:pPr>
              <a:t>9/14/2021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0235BB3-89E9-421E-A86F-C6FFC6CCDB75}" type="slidenum">
              <a:rPr lang="en-US"/>
              <a:pPr>
                <a:defRPr/>
              </a:pPr>
              <a:t>‹#›</a:t>
            </a:fld>
            <a:endParaRPr lang="en-US"/>
          </a:p>
        </p:txBody>
      </p:sp>
    </p:spTree>
    <p:extLst>
      <p:ext uri="{BB962C8B-B14F-4D97-AF65-F5344CB8AC3E}">
        <p14:creationId xmlns:p14="http://schemas.microsoft.com/office/powerpoint/2010/main" val="1320279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62000"/>
          </a:xfrm>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a:xfrm>
            <a:off x="457200" y="1295400"/>
            <a:ext cx="8229600" cy="5257800"/>
          </a:xfrm>
        </p:spPr>
        <p:txBody>
          <a:bodyPr/>
          <a:lstStyle>
            <a:lvl1pPr algn="just">
              <a:lnSpc>
                <a:spcPct val="150000"/>
              </a:lnSpc>
              <a:spcAft>
                <a:spcPts val="600"/>
              </a:spcAft>
              <a:defRPr/>
            </a:lvl1pPr>
            <a:lvl2pPr algn="just">
              <a:lnSpc>
                <a:spcPct val="150000"/>
              </a:lnSpc>
              <a:spcAft>
                <a:spcPts val="600"/>
              </a:spcAft>
              <a:defRPr/>
            </a:lvl2pPr>
            <a:lvl3pPr algn="just">
              <a:lnSpc>
                <a:spcPct val="150000"/>
              </a:lnSpc>
              <a:spcAft>
                <a:spcPts val="600"/>
              </a:spcAft>
              <a:defRPr/>
            </a:lvl3pPr>
            <a:lvl4pPr algn="just">
              <a:lnSpc>
                <a:spcPct val="150000"/>
              </a:lnSpc>
              <a:spcAft>
                <a:spcPts val="600"/>
              </a:spcAft>
              <a:defRPr/>
            </a:lvl4pPr>
            <a:lvl5pPr algn="just">
              <a:lnSpc>
                <a:spcPct val="150000"/>
              </a:lnSpc>
              <a:spcAft>
                <a:spcPts val="6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3F6B2E8C-EFD5-4FE2-B4FC-7A8467D31E32}" type="datetimeFigureOut">
              <a:rPr lang="en-US"/>
              <a:pPr>
                <a:defRPr/>
              </a:pPr>
              <a:t>9/14/2021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C04A8A6-C15F-4CE9-BA47-737E1E166BC9}" type="slidenum">
              <a:rPr lang="en-US"/>
              <a:pPr>
                <a:defRPr/>
              </a:pPr>
              <a:t>‹#›</a:t>
            </a:fld>
            <a:endParaRPr lang="en-US"/>
          </a:p>
        </p:txBody>
      </p:sp>
    </p:spTree>
    <p:extLst>
      <p:ext uri="{BB962C8B-B14F-4D97-AF65-F5344CB8AC3E}">
        <p14:creationId xmlns:p14="http://schemas.microsoft.com/office/powerpoint/2010/main" val="1887006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cxnSp>
        <p:nvCxnSpPr>
          <p:cNvPr id="4" name="Straight Connector 6"/>
          <p:cNvCxnSpPr/>
          <p:nvPr/>
        </p:nvCxnSpPr>
        <p:spPr>
          <a:xfrm>
            <a:off x="731838" y="4598988"/>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2313" y="2362200"/>
            <a:ext cx="7772400" cy="2200275"/>
          </a:xfrm>
        </p:spPr>
        <p:txBody>
          <a:bodyPr anchor="b"/>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BE978E2-F60D-49ED-8E1F-E2F0FCF7F2B9}" type="datetimeFigureOut">
              <a:rPr lang="en-US"/>
              <a:pPr>
                <a:defRPr/>
              </a:pPr>
              <a:t>9/14/2021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B74E1A9-CDAC-4B7D-BB04-2BC88BBD008B}" type="slidenum">
              <a:rPr lang="en-US"/>
              <a:pPr>
                <a:defRPr/>
              </a:pPr>
              <a:t>‹#›</a:t>
            </a:fld>
            <a:endParaRPr lang="en-US"/>
          </a:p>
        </p:txBody>
      </p:sp>
    </p:spTree>
    <p:extLst>
      <p:ext uri="{BB962C8B-B14F-4D97-AF65-F5344CB8AC3E}">
        <p14:creationId xmlns:p14="http://schemas.microsoft.com/office/powerpoint/2010/main" val="16194680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A1BF5F5-87DA-4939-AE31-6A14CBA7BABA}" type="datetimeFigureOut">
              <a:rPr lang="en-US"/>
              <a:pPr>
                <a:defRPr/>
              </a:pPr>
              <a:t>9/14/2021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2075C81-A9D8-4A91-AA8A-7A2FCC1AD870}" type="slidenum">
              <a:rPr lang="en-US"/>
              <a:pPr>
                <a:defRPr/>
              </a:pPr>
              <a:t>‹#›</a:t>
            </a:fld>
            <a:endParaRPr lang="en-US"/>
          </a:p>
        </p:txBody>
      </p:sp>
    </p:spTree>
    <p:extLst>
      <p:ext uri="{BB962C8B-B14F-4D97-AF65-F5344CB8AC3E}">
        <p14:creationId xmlns:p14="http://schemas.microsoft.com/office/powerpoint/2010/main" val="24879122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cxnSp>
        <p:nvCxnSpPr>
          <p:cNvPr id="7" name="Straight Connector 10"/>
          <p:cNvCxnSpPr/>
          <p:nvPr/>
        </p:nvCxnSpPr>
        <p:spPr>
          <a:xfrm rot="5400000">
            <a:off x="2218531" y="4045744"/>
            <a:ext cx="470852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p:cNvSpPr>
            <a:spLocks noGrp="1"/>
          </p:cNvSpPr>
          <p:nvPr>
            <p:ph type="dt" sz="half" idx="10"/>
          </p:nvPr>
        </p:nvSpPr>
        <p:spPr/>
        <p:txBody>
          <a:bodyPr/>
          <a:lstStyle>
            <a:lvl1pPr>
              <a:defRPr/>
            </a:lvl1pPr>
          </a:lstStyle>
          <a:p>
            <a:pPr>
              <a:defRPr/>
            </a:pPr>
            <a:fld id="{E22B7021-416D-4B17-9660-A3C054CA182F}" type="datetimeFigureOut">
              <a:rPr lang="en-US"/>
              <a:pPr>
                <a:defRPr/>
              </a:pPr>
              <a:t>9/14/2021</a:t>
            </a:fld>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6E9F7CB1-1A92-4428-AB2A-32534FF79EDC}" type="slidenum">
              <a:rPr lang="en-US"/>
              <a:pPr>
                <a:defRPr/>
              </a:pPr>
              <a:t>‹#›</a:t>
            </a:fld>
            <a:endParaRPr lang="en-US"/>
          </a:p>
        </p:txBody>
      </p:sp>
    </p:spTree>
    <p:extLst>
      <p:ext uri="{BB962C8B-B14F-4D97-AF65-F5344CB8AC3E}">
        <p14:creationId xmlns:p14="http://schemas.microsoft.com/office/powerpoint/2010/main" val="39420884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C8EF4A5-B7B4-48BD-A0EA-D2001FFB30EA}" type="datetimeFigureOut">
              <a:rPr lang="en-US"/>
              <a:pPr>
                <a:defRPr/>
              </a:pPr>
              <a:t>9/14/2021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EF7E345-D40D-489B-BDD1-051FA20D7644}" type="slidenum">
              <a:rPr lang="en-US"/>
              <a:pPr>
                <a:defRPr/>
              </a:pPr>
              <a:t>‹#›</a:t>
            </a:fld>
            <a:endParaRPr lang="en-US"/>
          </a:p>
        </p:txBody>
      </p:sp>
    </p:spTree>
    <p:extLst>
      <p:ext uri="{BB962C8B-B14F-4D97-AF65-F5344CB8AC3E}">
        <p14:creationId xmlns:p14="http://schemas.microsoft.com/office/powerpoint/2010/main" val="5444731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5BE90B3-D894-4020-8B88-9DBF53F9E70D}" type="datetimeFigureOut">
              <a:rPr lang="en-US"/>
              <a:pPr>
                <a:defRPr/>
              </a:pPr>
              <a:t>9/14/2021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C88155B1-E50D-4DA8-870F-520F0E845C9D}" type="slidenum">
              <a:rPr lang="en-US"/>
              <a:pPr>
                <a:defRPr/>
              </a:pPr>
              <a:t>‹#›</a:t>
            </a:fld>
            <a:endParaRPr lang="en-US"/>
          </a:p>
        </p:txBody>
      </p:sp>
    </p:spTree>
    <p:extLst>
      <p:ext uri="{BB962C8B-B14F-4D97-AF65-F5344CB8AC3E}">
        <p14:creationId xmlns:p14="http://schemas.microsoft.com/office/powerpoint/2010/main" val="3047486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cxnSp>
        <p:nvCxnSpPr>
          <p:cNvPr id="5" name="Straight Connector 8"/>
          <p:cNvCxnSpPr/>
          <p:nvPr/>
        </p:nvCxnSpPr>
        <p:spPr>
          <a:xfrm rot="5400000">
            <a:off x="-13494" y="3580607"/>
            <a:ext cx="557847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fld id="{06060426-8EA2-444C-A21D-56EEA2222CAA}" type="datetimeFigureOut">
              <a:rPr lang="en-US"/>
              <a:pPr>
                <a:defRPr/>
              </a:pPr>
              <a:t>9/14/2021</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5E4CBE06-28A4-4D6E-AEEC-FA4D447CB9AC}" type="slidenum">
              <a:rPr lang="en-US"/>
              <a:pPr>
                <a:defRPr/>
              </a:pPr>
              <a:t>‹#›</a:t>
            </a:fld>
            <a:endParaRPr lang="en-US"/>
          </a:p>
        </p:txBody>
      </p:sp>
    </p:spTree>
    <p:extLst>
      <p:ext uri="{BB962C8B-B14F-4D97-AF65-F5344CB8AC3E}">
        <p14:creationId xmlns:p14="http://schemas.microsoft.com/office/powerpoint/2010/main" val="24155805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0304311-20D6-46B5-AAFD-47127D8D792A}" type="datetimeFigureOut">
              <a:rPr lang="en-US"/>
              <a:pPr>
                <a:defRPr/>
              </a:pPr>
              <a:t>9/14/2021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B70865F-F58C-4040-A8CF-C4E7AC082F61}" type="slidenum">
              <a:rPr lang="en-US"/>
              <a:pPr>
                <a:defRPr/>
              </a:pPr>
              <a:t>‹#›</a:t>
            </a:fld>
            <a:endParaRPr lang="en-US"/>
          </a:p>
        </p:txBody>
      </p:sp>
    </p:spTree>
    <p:extLst>
      <p:ext uri="{BB962C8B-B14F-4D97-AF65-F5344CB8AC3E}">
        <p14:creationId xmlns:p14="http://schemas.microsoft.com/office/powerpoint/2010/main" val="34849921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6BE43D5-4322-4652-AEBA-2047E9449B79}" type="datetimeFigureOut">
              <a:rPr lang="en-US"/>
              <a:pPr>
                <a:defRPr/>
              </a:pPr>
              <a:t>9/14/2021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A1044F1-2C54-4908-8FC5-EC52529D25BB}" type="slidenum">
              <a:rPr lang="en-US"/>
              <a:pPr>
                <a:defRPr/>
              </a:pPr>
              <a:t>‹#›</a:t>
            </a:fld>
            <a:endParaRPr lang="en-US"/>
          </a:p>
        </p:txBody>
      </p:sp>
    </p:spTree>
    <p:extLst>
      <p:ext uri="{BB962C8B-B14F-4D97-AF65-F5344CB8AC3E}">
        <p14:creationId xmlns:p14="http://schemas.microsoft.com/office/powerpoint/2010/main" val="13605879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5939B43-9EB6-448C-BAE9-58C7BB9187EA}" type="datetimeFigureOut">
              <a:rPr lang="en-US"/>
              <a:pPr>
                <a:defRPr/>
              </a:pPr>
              <a:t>9/14/2021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18E29B-DDC0-4AD6-9883-68D4BCFB133E}" type="slidenum">
              <a:rPr lang="en-US"/>
              <a:pPr>
                <a:defRPr/>
              </a:pPr>
              <a:t>‹#›</a:t>
            </a:fld>
            <a:endParaRPr lang="en-US"/>
          </a:p>
        </p:txBody>
      </p:sp>
    </p:spTree>
    <p:extLst>
      <p:ext uri="{BB962C8B-B14F-4D97-AF65-F5344CB8AC3E}">
        <p14:creationId xmlns:p14="http://schemas.microsoft.com/office/powerpoint/2010/main" val="24901464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50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7"/>
          <p:cNvSpPr>
            <a:spLocks noGrp="1" noChangeArrowheads="1"/>
          </p:cNvSpPr>
          <p:nvPr>
            <p:ph type="dt" sz="half" idx="10"/>
          </p:nvPr>
        </p:nvSpPr>
        <p:spPr/>
        <p:txBody>
          <a:bodyPr/>
          <a:lstStyle>
            <a:lvl1pPr>
              <a:defRPr/>
            </a:lvl1pPr>
          </a:lstStyle>
          <a:p>
            <a:pPr>
              <a:defRPr/>
            </a:pPr>
            <a:endParaRPr lang="en-US"/>
          </a:p>
        </p:txBody>
      </p:sp>
      <p:sp>
        <p:nvSpPr>
          <p:cNvPr id="6" name="Rectangle 9"/>
          <p:cNvSpPr>
            <a:spLocks noGrp="1" noChangeArrowheads="1"/>
          </p:cNvSpPr>
          <p:nvPr>
            <p:ph type="sldNum" sz="quarter" idx="11"/>
          </p:nvPr>
        </p:nvSpPr>
        <p:spPr/>
        <p:txBody>
          <a:bodyPr/>
          <a:lstStyle>
            <a:lvl2pPr lvl="1" eaLnBrk="1" hangingPunct="1">
              <a:defRPr/>
            </a:lvl2pPr>
          </a:lstStyle>
          <a:p>
            <a:pPr lvl="1">
              <a:defRPr/>
            </a:pPr>
            <a:fld id="{FDA10B69-DC88-41D8-8547-F469CAD8D2D6}" type="slidenum">
              <a:rPr lang="en-US" altLang="ar-SA"/>
              <a:pPr lvl="1">
                <a:defRPr/>
              </a:pPr>
              <a:t>‹#›</a:t>
            </a:fld>
            <a:endParaRPr lang="en-US" altLang="ar-SA"/>
          </a:p>
        </p:txBody>
      </p:sp>
    </p:spTree>
    <p:extLst>
      <p:ext uri="{BB962C8B-B14F-4D97-AF65-F5344CB8AC3E}">
        <p14:creationId xmlns:p14="http://schemas.microsoft.com/office/powerpoint/2010/main" val="2318828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792162"/>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ar-AE"/>
              <a:t>Click to edit Master title style</a:t>
            </a:r>
          </a:p>
        </p:txBody>
      </p:sp>
      <p:sp>
        <p:nvSpPr>
          <p:cNvPr id="1027" name="Rectangle 3"/>
          <p:cNvSpPr>
            <a:spLocks noGrp="1" noChangeArrowheads="1"/>
          </p:cNvSpPr>
          <p:nvPr>
            <p:ph type="body" idx="1"/>
          </p:nvPr>
        </p:nvSpPr>
        <p:spPr bwMode="auto">
          <a:xfrm>
            <a:off x="457200" y="1143000"/>
            <a:ext cx="82296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AE"/>
              <a:t>Click to edit Master text styles</a:t>
            </a:r>
          </a:p>
          <a:p>
            <a:pPr lvl="1"/>
            <a:r>
              <a:rPr lang="en-US" altLang="ar-AE"/>
              <a:t>Second level</a:t>
            </a:r>
          </a:p>
          <a:p>
            <a:pPr lvl="2"/>
            <a:r>
              <a:rPr lang="en-US" altLang="ar-AE"/>
              <a:t>Third level</a:t>
            </a:r>
          </a:p>
          <a:p>
            <a:pPr lvl="3"/>
            <a:r>
              <a:rPr lang="en-US" altLang="ar-AE"/>
              <a:t>Fourth level</a:t>
            </a:r>
          </a:p>
          <a:p>
            <a:pPr lvl="4"/>
            <a:r>
              <a:rPr lang="en-US" altLang="ar-AE"/>
              <a:t>Fifth level</a:t>
            </a:r>
          </a:p>
        </p:txBody>
      </p:sp>
      <p:sp>
        <p:nvSpPr>
          <p:cNvPr id="1032" name="Text Box 8"/>
          <p:cNvSpPr txBox="1">
            <a:spLocks noChangeArrowheads="1"/>
          </p:cNvSpPr>
          <p:nvPr userDrawn="1"/>
        </p:nvSpPr>
        <p:spPr bwMode="auto">
          <a:xfrm>
            <a:off x="457200" y="6324600"/>
            <a:ext cx="8229600" cy="244475"/>
          </a:xfrm>
          <a:prstGeom prst="rect">
            <a:avLst/>
          </a:prstGeom>
          <a:solidFill>
            <a:srgbClr val="FFFF99"/>
          </a:solidFill>
          <a:ln>
            <a:noFill/>
          </a:ln>
          <a:effectLst/>
        </p:spPr>
        <p:txBody>
          <a:bodyPr>
            <a:spAutoFit/>
          </a:bodyPr>
          <a:lstStyle>
            <a:lvl1pPr>
              <a:tabLst>
                <a:tab pos="3943350" algn="ctr"/>
                <a:tab pos="8050213" algn="r"/>
              </a:tabLst>
              <a:defRPr>
                <a:solidFill>
                  <a:schemeClr val="tx1"/>
                </a:solidFill>
                <a:latin typeface="Arial" panose="020B0604020202020204" pitchFamily="34" charset="0"/>
                <a:cs typeface="Arial" panose="020B0604020202020204" pitchFamily="34" charset="0"/>
              </a:defRPr>
            </a:lvl1pPr>
            <a:lvl2pPr>
              <a:tabLst>
                <a:tab pos="3943350" algn="ctr"/>
                <a:tab pos="8050213" algn="r"/>
              </a:tabLst>
              <a:defRPr>
                <a:solidFill>
                  <a:schemeClr val="tx1"/>
                </a:solidFill>
                <a:latin typeface="Arial" panose="020B0604020202020204" pitchFamily="34" charset="0"/>
                <a:cs typeface="Arial" panose="020B0604020202020204" pitchFamily="34" charset="0"/>
              </a:defRPr>
            </a:lvl2pPr>
            <a:lvl3pPr>
              <a:tabLst>
                <a:tab pos="3943350" algn="ctr"/>
                <a:tab pos="8050213" algn="r"/>
              </a:tabLst>
              <a:defRPr>
                <a:solidFill>
                  <a:schemeClr val="tx1"/>
                </a:solidFill>
                <a:latin typeface="Arial" panose="020B0604020202020204" pitchFamily="34" charset="0"/>
                <a:cs typeface="Arial" panose="020B0604020202020204" pitchFamily="34" charset="0"/>
              </a:defRPr>
            </a:lvl3pPr>
            <a:lvl4pPr>
              <a:tabLst>
                <a:tab pos="3943350" algn="ctr"/>
                <a:tab pos="8050213" algn="r"/>
              </a:tabLst>
              <a:defRPr>
                <a:solidFill>
                  <a:schemeClr val="tx1"/>
                </a:solidFill>
                <a:latin typeface="Arial" panose="020B0604020202020204" pitchFamily="34" charset="0"/>
                <a:cs typeface="Arial" panose="020B0604020202020204" pitchFamily="34" charset="0"/>
              </a:defRPr>
            </a:lvl4pPr>
            <a:lvl5pPr>
              <a:tabLst>
                <a:tab pos="3943350" algn="ctr"/>
                <a:tab pos="8050213" algn="r"/>
              </a:tabLst>
              <a:defRPr>
                <a:solidFill>
                  <a:schemeClr val="tx1"/>
                </a:solidFill>
                <a:latin typeface="Arial" panose="020B0604020202020204" pitchFamily="34" charset="0"/>
                <a:cs typeface="Arial" panose="020B0604020202020204" pitchFamily="34" charset="0"/>
              </a:defRPr>
            </a:lvl5pPr>
            <a:lvl6pPr algn="l" rtl="0" fontAlgn="base">
              <a:spcBef>
                <a:spcPct val="0"/>
              </a:spcBef>
              <a:spcAft>
                <a:spcPct val="0"/>
              </a:spcAft>
              <a:tabLst>
                <a:tab pos="3943350" algn="ctr"/>
                <a:tab pos="8050213" algn="r"/>
              </a:tabLst>
              <a:defRPr>
                <a:solidFill>
                  <a:schemeClr val="tx1"/>
                </a:solidFill>
                <a:latin typeface="Arial" panose="020B0604020202020204" pitchFamily="34" charset="0"/>
                <a:cs typeface="Arial" panose="020B0604020202020204" pitchFamily="34" charset="0"/>
              </a:defRPr>
            </a:lvl6pPr>
            <a:lvl7pPr algn="l" rtl="0" fontAlgn="base">
              <a:spcBef>
                <a:spcPct val="0"/>
              </a:spcBef>
              <a:spcAft>
                <a:spcPct val="0"/>
              </a:spcAft>
              <a:tabLst>
                <a:tab pos="3943350" algn="ctr"/>
                <a:tab pos="8050213" algn="r"/>
              </a:tabLst>
              <a:defRPr>
                <a:solidFill>
                  <a:schemeClr val="tx1"/>
                </a:solidFill>
                <a:latin typeface="Arial" panose="020B0604020202020204" pitchFamily="34" charset="0"/>
                <a:cs typeface="Arial" panose="020B0604020202020204" pitchFamily="34" charset="0"/>
              </a:defRPr>
            </a:lvl7pPr>
            <a:lvl8pPr algn="l" rtl="0" fontAlgn="base">
              <a:spcBef>
                <a:spcPct val="0"/>
              </a:spcBef>
              <a:spcAft>
                <a:spcPct val="0"/>
              </a:spcAft>
              <a:tabLst>
                <a:tab pos="3943350" algn="ctr"/>
                <a:tab pos="8050213" algn="r"/>
              </a:tabLst>
              <a:defRPr>
                <a:solidFill>
                  <a:schemeClr val="tx1"/>
                </a:solidFill>
                <a:latin typeface="Arial" panose="020B0604020202020204" pitchFamily="34" charset="0"/>
                <a:cs typeface="Arial" panose="020B0604020202020204" pitchFamily="34" charset="0"/>
              </a:defRPr>
            </a:lvl8pPr>
            <a:lvl9pPr algn="l" rtl="0" fontAlgn="base">
              <a:spcBef>
                <a:spcPct val="0"/>
              </a:spcBef>
              <a:spcAft>
                <a:spcPct val="0"/>
              </a:spcAft>
              <a:tabLst>
                <a:tab pos="3943350" algn="ctr"/>
                <a:tab pos="8050213" algn="r"/>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en-US" altLang="ar-AE" sz="1000" i="1">
                <a:latin typeface="Times New Roman" panose="02020603050405020304" pitchFamily="18" charset="0"/>
                <a:cs typeface="Times New Roman" panose="02020603050405020304" pitchFamily="18" charset="0"/>
              </a:rPr>
              <a:t>Basic Concepts	COE 205 – Computer Organization and Assembly Language – KFUPM	© Muhamed Mudawar – slide </a:t>
            </a:r>
            <a:fld id="{A7E4E4AF-5504-4336-AB23-B54B2114AEDD}" type="slidenum">
              <a:rPr lang="en-US" altLang="ar-AE" sz="1000" i="1" smtClean="0">
                <a:latin typeface="Times New Roman" panose="02020603050405020304" pitchFamily="18" charset="0"/>
                <a:cs typeface="Times New Roman" panose="02020603050405020304" pitchFamily="18" charset="0"/>
              </a:rPr>
              <a:pPr eaLnBrk="1" hangingPunct="1">
                <a:spcBef>
                  <a:spcPct val="50000"/>
                </a:spcBef>
                <a:defRPr/>
              </a:pPr>
              <a:t>‹#›</a:t>
            </a:fld>
            <a:endParaRPr lang="en-US" altLang="ar-AE" sz="1000" i="1">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0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Lst>
  <p:txStyles>
    <p:titleStyle>
      <a:lvl1pPr algn="ctr" rtl="0" eaLnBrk="0" fontAlgn="base" hangingPunct="0">
        <a:spcBef>
          <a:spcPct val="0"/>
        </a:spcBef>
        <a:spcAft>
          <a:spcPct val="0"/>
        </a:spcAft>
        <a:defRPr sz="3600" kern="1200">
          <a:solidFill>
            <a:srgbClr val="000099"/>
          </a:solidFill>
          <a:latin typeface="+mj-lt"/>
          <a:ea typeface="+mj-ea"/>
          <a:cs typeface="+mj-cs"/>
        </a:defRPr>
      </a:lvl1pPr>
      <a:lvl2pPr algn="ctr" rtl="0" eaLnBrk="0" fontAlgn="base" hangingPunct="0">
        <a:spcBef>
          <a:spcPct val="0"/>
        </a:spcBef>
        <a:spcAft>
          <a:spcPct val="0"/>
        </a:spcAft>
        <a:defRPr sz="3600">
          <a:solidFill>
            <a:srgbClr val="000099"/>
          </a:solidFill>
          <a:latin typeface="Comic Sans MS" panose="030F0702030302020204" pitchFamily="66" charset="0"/>
          <a:cs typeface="Arial" panose="020B0604020202020204" pitchFamily="34" charset="0"/>
        </a:defRPr>
      </a:lvl2pPr>
      <a:lvl3pPr algn="ctr" rtl="0" eaLnBrk="0" fontAlgn="base" hangingPunct="0">
        <a:spcBef>
          <a:spcPct val="0"/>
        </a:spcBef>
        <a:spcAft>
          <a:spcPct val="0"/>
        </a:spcAft>
        <a:defRPr sz="3600">
          <a:solidFill>
            <a:srgbClr val="000099"/>
          </a:solidFill>
          <a:latin typeface="Comic Sans MS" panose="030F0702030302020204" pitchFamily="66" charset="0"/>
          <a:cs typeface="Arial" panose="020B0604020202020204" pitchFamily="34" charset="0"/>
        </a:defRPr>
      </a:lvl3pPr>
      <a:lvl4pPr algn="ctr" rtl="0" eaLnBrk="0" fontAlgn="base" hangingPunct="0">
        <a:spcBef>
          <a:spcPct val="0"/>
        </a:spcBef>
        <a:spcAft>
          <a:spcPct val="0"/>
        </a:spcAft>
        <a:defRPr sz="3600">
          <a:solidFill>
            <a:srgbClr val="000099"/>
          </a:solidFill>
          <a:latin typeface="Comic Sans MS" panose="030F0702030302020204" pitchFamily="66" charset="0"/>
          <a:cs typeface="Arial" panose="020B0604020202020204" pitchFamily="34" charset="0"/>
        </a:defRPr>
      </a:lvl4pPr>
      <a:lvl5pPr algn="ctr" rtl="0" eaLnBrk="0" fontAlgn="base" hangingPunct="0">
        <a:spcBef>
          <a:spcPct val="0"/>
        </a:spcBef>
        <a:spcAft>
          <a:spcPct val="0"/>
        </a:spcAft>
        <a:defRPr sz="3600">
          <a:solidFill>
            <a:srgbClr val="000099"/>
          </a:solidFill>
          <a:latin typeface="Comic Sans MS" panose="030F0702030302020204" pitchFamily="66" charset="0"/>
          <a:cs typeface="Arial" panose="020B0604020202020204" pitchFamily="34" charset="0"/>
        </a:defRPr>
      </a:lvl5pPr>
      <a:lvl6pPr marL="457200" algn="ctr" rtl="0" fontAlgn="base">
        <a:spcBef>
          <a:spcPct val="0"/>
        </a:spcBef>
        <a:spcAft>
          <a:spcPct val="0"/>
        </a:spcAft>
        <a:defRPr sz="3600">
          <a:solidFill>
            <a:srgbClr val="000099"/>
          </a:solidFill>
          <a:latin typeface="Comic Sans MS" panose="030F0702030302020204" pitchFamily="66" charset="0"/>
          <a:cs typeface="Arial" panose="020B0604020202020204" pitchFamily="34" charset="0"/>
        </a:defRPr>
      </a:lvl6pPr>
      <a:lvl7pPr marL="914400" algn="ctr" rtl="0" fontAlgn="base">
        <a:spcBef>
          <a:spcPct val="0"/>
        </a:spcBef>
        <a:spcAft>
          <a:spcPct val="0"/>
        </a:spcAft>
        <a:defRPr sz="3600">
          <a:solidFill>
            <a:srgbClr val="000099"/>
          </a:solidFill>
          <a:latin typeface="Comic Sans MS" panose="030F0702030302020204" pitchFamily="66" charset="0"/>
          <a:cs typeface="Arial" panose="020B0604020202020204" pitchFamily="34" charset="0"/>
        </a:defRPr>
      </a:lvl7pPr>
      <a:lvl8pPr marL="1371600" algn="ctr" rtl="0" fontAlgn="base">
        <a:spcBef>
          <a:spcPct val="0"/>
        </a:spcBef>
        <a:spcAft>
          <a:spcPct val="0"/>
        </a:spcAft>
        <a:defRPr sz="3600">
          <a:solidFill>
            <a:srgbClr val="000099"/>
          </a:solidFill>
          <a:latin typeface="Comic Sans MS" panose="030F0702030302020204" pitchFamily="66" charset="0"/>
          <a:cs typeface="Arial" panose="020B0604020202020204" pitchFamily="34" charset="0"/>
        </a:defRPr>
      </a:lvl8pPr>
      <a:lvl9pPr marL="1828800" algn="ctr" rtl="0" fontAlgn="base">
        <a:spcBef>
          <a:spcPct val="0"/>
        </a:spcBef>
        <a:spcAft>
          <a:spcPct val="0"/>
        </a:spcAft>
        <a:defRPr sz="3600">
          <a:solidFill>
            <a:srgbClr val="000099"/>
          </a:solidFill>
          <a:latin typeface="Comic Sans MS" panose="030F0702030302020204" pitchFamily="66" charset="0"/>
          <a:cs typeface="Arial" panose="020B0604020202020204" pitchFamily="34" charset="0"/>
        </a:defRPr>
      </a:lvl9pPr>
    </p:titleStyle>
    <p:bodyStyle>
      <a:lvl1pPr marL="347663" indent="-347663" algn="l" rtl="0" eaLnBrk="0" fontAlgn="base" hangingPunct="0">
        <a:spcBef>
          <a:spcPct val="40000"/>
        </a:spcBef>
        <a:spcAft>
          <a:spcPct val="0"/>
        </a:spcAft>
        <a:buFont typeface="Wingdings" panose="05000000000000000000" pitchFamily="2" charset="2"/>
        <a:buChar char="v"/>
        <a:defRPr sz="2400" kern="1200">
          <a:solidFill>
            <a:schemeClr val="tx1"/>
          </a:solidFill>
          <a:latin typeface="+mn-lt"/>
          <a:ea typeface="+mn-ea"/>
          <a:cs typeface="+mn-cs"/>
        </a:defRPr>
      </a:lvl1pPr>
      <a:lvl2pPr marL="798513" indent="-336550" algn="l" rtl="0" eaLnBrk="0" fontAlgn="base" hangingPunct="0">
        <a:spcBef>
          <a:spcPct val="40000"/>
        </a:spcBef>
        <a:spcAft>
          <a:spcPct val="0"/>
        </a:spcAft>
        <a:buFont typeface="Wingdings" panose="05000000000000000000" pitchFamily="2" charset="2"/>
        <a:buChar char="²"/>
        <a:defRPr sz="2000" kern="1200">
          <a:solidFill>
            <a:schemeClr val="tx1"/>
          </a:solidFill>
          <a:latin typeface="+mn-lt"/>
          <a:ea typeface="+mn-ea"/>
          <a:cs typeface="+mn-cs"/>
        </a:defRPr>
      </a:lvl2pPr>
      <a:lvl3pPr marL="1144588" indent="-231775" algn="l" rtl="0" eaLnBrk="0" fontAlgn="base" hangingPunct="0">
        <a:spcBef>
          <a:spcPct val="40000"/>
        </a:spcBef>
        <a:spcAft>
          <a:spcPct val="0"/>
        </a:spcAft>
        <a:buFont typeface="Wingdings" panose="05000000000000000000" pitchFamily="2" charset="2"/>
        <a:buChar char="§"/>
        <a:defRPr kern="1200">
          <a:solidFill>
            <a:schemeClr val="tx1"/>
          </a:solidFill>
          <a:latin typeface="+mn-lt"/>
          <a:ea typeface="+mn-ea"/>
          <a:cs typeface="+mn-cs"/>
        </a:defRPr>
      </a:lvl3pPr>
      <a:lvl4pPr marL="1481138" indent="-222250" algn="l" rtl="0" eaLnBrk="0" fontAlgn="base" hangingPunct="0">
        <a:spcBef>
          <a:spcPct val="40000"/>
        </a:spcBef>
        <a:spcAft>
          <a:spcPct val="0"/>
        </a:spcAft>
        <a:buChar char="–"/>
        <a:defRPr sz="1600" kern="1200">
          <a:solidFill>
            <a:schemeClr val="tx1"/>
          </a:solidFill>
          <a:latin typeface="+mn-lt"/>
          <a:ea typeface="+mn-ea"/>
          <a:cs typeface="+mn-cs"/>
        </a:defRPr>
      </a:lvl4pPr>
      <a:lvl5pPr marL="1828800" indent="-233363" algn="l" rtl="0" eaLnBrk="0" fontAlgn="base" hangingPunct="0">
        <a:spcBef>
          <a:spcPct val="40000"/>
        </a:spcBef>
        <a:spcAft>
          <a:spcPct val="0"/>
        </a:spcAft>
        <a:buChar char="»"/>
        <a:defRPr sz="16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AE"/>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663"/>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2" name="Text Placeholder 2"/>
          <p:cNvSpPr>
            <a:spLocks noGrp="1" noChangeArrowheads="1"/>
          </p:cNvSpPr>
          <p:nvPr>
            <p:ph type="body" idx="1"/>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p:nvSpPr>
        <p:spPr>
          <a:xfrm>
            <a:off x="0" y="0"/>
            <a:ext cx="9144000"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4" name="Date Placeholder 3"/>
          <p:cNvSpPr>
            <a:spLocks noGrp="1"/>
          </p:cNvSpPr>
          <p:nvPr>
            <p:ph type="dt" sz="half" idx="2"/>
          </p:nvPr>
        </p:nvSpPr>
        <p:spPr>
          <a:xfrm>
            <a:off x="457200" y="19050"/>
            <a:ext cx="2895600" cy="328613"/>
          </a:xfrm>
          <a:prstGeom prst="rect">
            <a:avLst/>
          </a:prstGeom>
        </p:spPr>
        <p:txBody>
          <a:bodyPr vert="horz" lIns="91440" tIns="45720" rIns="91440" bIns="45720" rtlCol="0" anchor="ctr"/>
          <a:lstStyle>
            <a:lvl1pPr algn="l" eaLnBrk="1" hangingPunct="1">
              <a:defRPr sz="1200" smtClean="0">
                <a:solidFill>
                  <a:srgbClr val="FFFFFF"/>
                </a:solidFill>
              </a:defRPr>
            </a:lvl1pPr>
          </a:lstStyle>
          <a:p>
            <a:pPr>
              <a:defRPr/>
            </a:pPr>
            <a:fld id="{38BED03F-F4A8-41F5-944D-A435218C4F94}" type="datetimeFigureOut">
              <a:rPr lang="en-US"/>
              <a:pPr>
                <a:defRPr/>
              </a:pPr>
              <a:t>9/14/2021</a:t>
            </a:fld>
            <a:endParaRPr lang="en-US"/>
          </a:p>
        </p:txBody>
      </p:sp>
      <p:sp>
        <p:nvSpPr>
          <p:cNvPr id="5" name="Footer Placeholder 4"/>
          <p:cNvSpPr>
            <a:spLocks noGrp="1"/>
          </p:cNvSpPr>
          <p:nvPr>
            <p:ph type="ftr" sz="quarter" idx="3"/>
          </p:nvPr>
        </p:nvSpPr>
        <p:spPr>
          <a:xfrm>
            <a:off x="3429000" y="19050"/>
            <a:ext cx="4114800" cy="328613"/>
          </a:xfrm>
          <a:prstGeom prst="rect">
            <a:avLst/>
          </a:prstGeom>
        </p:spPr>
        <p:txBody>
          <a:bodyPr vert="horz" lIns="91440" tIns="45720" rIns="91440" bIns="45720" rtlCol="0" anchor="ctr"/>
          <a:lstStyle>
            <a:lvl1pPr algn="ctr" eaLnBrk="1" hangingPunct="1">
              <a:defRPr sz="120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7620000" y="19050"/>
            <a:ext cx="1066800" cy="328613"/>
          </a:xfrm>
          <a:prstGeom prst="rect">
            <a:avLst/>
          </a:prstGeom>
        </p:spPr>
        <p:txBody>
          <a:bodyPr vert="horz" lIns="91440" tIns="45720" rIns="91440" bIns="45720" rtlCol="0" anchor="ctr"/>
          <a:lstStyle>
            <a:lvl1pPr algn="l" eaLnBrk="1" hangingPunct="1">
              <a:defRPr sz="1400" b="1" smtClean="0">
                <a:solidFill>
                  <a:srgbClr val="FFFFFF"/>
                </a:solidFill>
              </a:defRPr>
            </a:lvl1pPr>
          </a:lstStyle>
          <a:p>
            <a:pPr>
              <a:defRPr/>
            </a:pPr>
            <a:fld id="{43F69AFB-F941-4DE0-ADE4-E1CAC9E6C81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1" r:id="rId1"/>
    <p:sldLayoutId id="2147483693" r:id="rId2"/>
    <p:sldLayoutId id="2147483702" r:id="rId3"/>
    <p:sldLayoutId id="2147483694" r:id="rId4"/>
    <p:sldLayoutId id="2147483703" r:id="rId5"/>
    <p:sldLayoutId id="2147483695" r:id="rId6"/>
    <p:sldLayoutId id="2147483696" r:id="rId7"/>
    <p:sldLayoutId id="2147483704" r:id="rId8"/>
    <p:sldLayoutId id="2147483697" r:id="rId9"/>
    <p:sldLayoutId id="2147483698" r:id="rId10"/>
    <p:sldLayoutId id="2147483699" r:id="rId11"/>
    <p:sldLayoutId id="2147483705" r:id="rId12"/>
  </p:sldLayoutIdLst>
  <p:txStyles>
    <p:titleStyle>
      <a:lvl1pPr algn="l" rtl="0" fontAlgn="base">
        <a:spcBef>
          <a:spcPct val="0"/>
        </a:spcBef>
        <a:spcAft>
          <a:spcPct val="0"/>
        </a:spcAft>
        <a:defRPr sz="4000" kern="1200" spc="-100">
          <a:solidFill>
            <a:schemeClr val="tx2"/>
          </a:solidFill>
          <a:latin typeface="+mj-lt"/>
          <a:ea typeface="+mj-ea"/>
          <a:cs typeface="+mj-cs"/>
        </a:defRPr>
      </a:lvl1pPr>
      <a:lvl2pPr algn="l" rtl="0" fontAlgn="base">
        <a:spcBef>
          <a:spcPct val="0"/>
        </a:spcBef>
        <a:spcAft>
          <a:spcPct val="0"/>
        </a:spcAft>
        <a:defRPr sz="4000">
          <a:solidFill>
            <a:schemeClr val="tx2"/>
          </a:solidFill>
          <a:latin typeface="Georgia" panose="02040502050405020303" pitchFamily="18" charset="0"/>
        </a:defRPr>
      </a:lvl2pPr>
      <a:lvl3pPr algn="l" rtl="0" fontAlgn="base">
        <a:spcBef>
          <a:spcPct val="0"/>
        </a:spcBef>
        <a:spcAft>
          <a:spcPct val="0"/>
        </a:spcAft>
        <a:defRPr sz="4000">
          <a:solidFill>
            <a:schemeClr val="tx2"/>
          </a:solidFill>
          <a:latin typeface="Georgia" panose="02040502050405020303" pitchFamily="18" charset="0"/>
        </a:defRPr>
      </a:lvl3pPr>
      <a:lvl4pPr algn="l" rtl="0" fontAlgn="base">
        <a:spcBef>
          <a:spcPct val="0"/>
        </a:spcBef>
        <a:spcAft>
          <a:spcPct val="0"/>
        </a:spcAft>
        <a:defRPr sz="4000">
          <a:solidFill>
            <a:schemeClr val="tx2"/>
          </a:solidFill>
          <a:latin typeface="Georgia" panose="02040502050405020303" pitchFamily="18" charset="0"/>
        </a:defRPr>
      </a:lvl4pPr>
      <a:lvl5pPr algn="l" rtl="0" fontAlgn="base">
        <a:spcBef>
          <a:spcPct val="0"/>
        </a:spcBef>
        <a:spcAft>
          <a:spcPct val="0"/>
        </a:spcAft>
        <a:defRPr sz="4000">
          <a:solidFill>
            <a:schemeClr val="tx2"/>
          </a:solidFill>
          <a:latin typeface="Georgia" panose="02040502050405020303" pitchFamily="18" charset="0"/>
        </a:defRPr>
      </a:lvl5pPr>
      <a:lvl6pPr marL="457200" algn="l" rtl="0" fontAlgn="base">
        <a:spcBef>
          <a:spcPct val="0"/>
        </a:spcBef>
        <a:spcAft>
          <a:spcPct val="0"/>
        </a:spcAft>
        <a:defRPr sz="4000">
          <a:solidFill>
            <a:schemeClr val="tx2"/>
          </a:solidFill>
          <a:latin typeface="Georgia" panose="02040502050405020303" pitchFamily="18" charset="0"/>
        </a:defRPr>
      </a:lvl6pPr>
      <a:lvl7pPr marL="914400" algn="l" rtl="0" fontAlgn="base">
        <a:spcBef>
          <a:spcPct val="0"/>
        </a:spcBef>
        <a:spcAft>
          <a:spcPct val="0"/>
        </a:spcAft>
        <a:defRPr sz="4000">
          <a:solidFill>
            <a:schemeClr val="tx2"/>
          </a:solidFill>
          <a:latin typeface="Georgia" panose="02040502050405020303" pitchFamily="18" charset="0"/>
        </a:defRPr>
      </a:lvl7pPr>
      <a:lvl8pPr marL="1371600" algn="l" rtl="0" fontAlgn="base">
        <a:spcBef>
          <a:spcPct val="0"/>
        </a:spcBef>
        <a:spcAft>
          <a:spcPct val="0"/>
        </a:spcAft>
        <a:defRPr sz="4000">
          <a:solidFill>
            <a:schemeClr val="tx2"/>
          </a:solidFill>
          <a:latin typeface="Georgia" panose="02040502050405020303" pitchFamily="18" charset="0"/>
        </a:defRPr>
      </a:lvl8pPr>
      <a:lvl9pPr marL="1828800" algn="l" rtl="0" fontAlgn="base">
        <a:spcBef>
          <a:spcPct val="0"/>
        </a:spcBef>
        <a:spcAft>
          <a:spcPct val="0"/>
        </a:spcAft>
        <a:defRPr sz="4000">
          <a:solidFill>
            <a:schemeClr val="tx2"/>
          </a:solidFill>
          <a:latin typeface="Georgia" panose="02040502050405020303" pitchFamily="18" charset="0"/>
        </a:defRPr>
      </a:lvl9pPr>
    </p:titleStyle>
    <p:bodyStyle>
      <a:lvl1pPr marL="182563" indent="-182563" algn="l" rtl="0" fontAlgn="base">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mn-ea"/>
          <a:cs typeface="+mn-cs"/>
        </a:defRPr>
      </a:lvl1pPr>
      <a:lvl2pPr marL="457200" indent="-182563" algn="l" rtl="0" fontAlgn="base">
        <a:spcBef>
          <a:spcPct val="20000"/>
        </a:spcBef>
        <a:spcAft>
          <a:spcPct val="0"/>
        </a:spcAft>
        <a:buClr>
          <a:schemeClr val="accent1"/>
        </a:buClr>
        <a:buSzPct val="85000"/>
        <a:buFont typeface="Arial" panose="020B0604020202020204" pitchFamily="34" charset="0"/>
        <a:buChar char="•"/>
        <a:defRPr sz="2000" kern="1200">
          <a:solidFill>
            <a:schemeClr val="tx1"/>
          </a:solidFill>
          <a:latin typeface="+mn-lt"/>
          <a:ea typeface="+mn-ea"/>
          <a:cs typeface="+mn-cs"/>
        </a:defRPr>
      </a:lvl2pPr>
      <a:lvl3pPr marL="730250" indent="-182563" algn="l" rtl="0" fontAlgn="base">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mn-ea"/>
          <a:cs typeface="+mn-cs"/>
        </a:defRPr>
      </a:lvl3pPr>
      <a:lvl4pPr marL="1004888" indent="-182563" algn="l" rtl="0" fontAlgn="base">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mn-ea"/>
          <a:cs typeface="+mn-cs"/>
        </a:defRPr>
      </a:lvl4pPr>
      <a:lvl5pPr marL="1187450" indent="-136525" algn="l" rtl="0" fontAlgn="base">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0.png"/><Relationship Id="rId4" Type="http://schemas.openxmlformats.org/officeDocument/2006/relationships/image" Target="../media/image9.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8.wmf"/></Relationships>
</file>

<file path=ppt/slides/_rels/slide3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5300" y="854075"/>
            <a:ext cx="8153400" cy="2517318"/>
          </a:xfrm>
        </p:spPr>
        <p:txBody>
          <a:bodyPr/>
          <a:lstStyle/>
          <a:p>
            <a:pPr algn="ctr">
              <a:spcAft>
                <a:spcPts val="0"/>
              </a:spcAft>
              <a:defRPr/>
            </a:pPr>
            <a:br>
              <a:rPr lang="en-US" sz="2800" dirty="0"/>
            </a:br>
            <a:br>
              <a:rPr lang="en-US" sz="2800" dirty="0"/>
            </a:br>
            <a:r>
              <a:rPr lang="en-US" sz="2800" dirty="0"/>
              <a:t>ECOM 4412</a:t>
            </a:r>
            <a:br>
              <a:rPr lang="en-US" sz="2800" dirty="0"/>
            </a:br>
            <a:r>
              <a:rPr lang="en-US" sz="2800" dirty="0"/>
              <a:t>Computer Organization &amp;</a:t>
            </a:r>
            <a:br>
              <a:rPr lang="en-US" sz="2800" dirty="0"/>
            </a:br>
            <a:r>
              <a:rPr lang="en-US" sz="2800" dirty="0"/>
              <a:t> Assembly Language</a:t>
            </a:r>
            <a:br>
              <a:rPr lang="en-US" sz="2800" dirty="0"/>
            </a:br>
            <a:endParaRPr lang="en-US" sz="2800" dirty="0"/>
          </a:p>
        </p:txBody>
      </p:sp>
      <p:pic>
        <p:nvPicPr>
          <p:cNvPr id="10244" name="Picture 2" descr="C:\Users\Jehad\Desktop\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867" y="76993"/>
            <a:ext cx="2016246" cy="187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ubtitle 2"/>
          <p:cNvSpPr txBox="1">
            <a:spLocks/>
          </p:cNvSpPr>
          <p:nvPr/>
        </p:nvSpPr>
        <p:spPr bwMode="auto">
          <a:xfrm>
            <a:off x="193868" y="3704840"/>
            <a:ext cx="7457834"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0" indent="0" algn="l" rtl="0" fontAlgn="base">
              <a:spcBef>
                <a:spcPct val="20000"/>
              </a:spcBef>
              <a:spcAft>
                <a:spcPct val="0"/>
              </a:spcAft>
              <a:buClr>
                <a:schemeClr val="accent1"/>
              </a:buClr>
              <a:buSzPct val="85000"/>
              <a:buFont typeface="Arial" panose="020B0604020202020204" pitchFamily="34" charset="0"/>
              <a:buNone/>
              <a:defRPr sz="2400" kern="1200">
                <a:solidFill>
                  <a:schemeClr val="tx1">
                    <a:lumMod val="75000"/>
                    <a:lumOff val="25000"/>
                  </a:schemeClr>
                </a:solidFill>
                <a:latin typeface="+mn-lt"/>
                <a:ea typeface="+mn-ea"/>
                <a:cs typeface="+mn-cs"/>
              </a:defRPr>
            </a:lvl1pPr>
            <a:lvl2pPr marL="457200" indent="0" algn="ctr" rtl="0" fontAlgn="base">
              <a:spcBef>
                <a:spcPct val="20000"/>
              </a:spcBef>
              <a:spcAft>
                <a:spcPct val="0"/>
              </a:spcAft>
              <a:buClr>
                <a:schemeClr val="accent1"/>
              </a:buClr>
              <a:buSzPct val="85000"/>
              <a:buFont typeface="Arial" panose="020B0604020202020204" pitchFamily="34" charset="0"/>
              <a:buNone/>
              <a:defRPr sz="2000" kern="1200">
                <a:solidFill>
                  <a:schemeClr val="tx1">
                    <a:tint val="75000"/>
                  </a:schemeClr>
                </a:solidFill>
                <a:latin typeface="+mn-lt"/>
                <a:ea typeface="+mn-ea"/>
                <a:cs typeface="+mn-cs"/>
              </a:defRPr>
            </a:lvl2pPr>
            <a:lvl3pPr marL="914400" indent="0" algn="ctr" rtl="0" fontAlgn="base">
              <a:spcBef>
                <a:spcPct val="20000"/>
              </a:spcBef>
              <a:spcAft>
                <a:spcPct val="0"/>
              </a:spcAft>
              <a:buClr>
                <a:schemeClr val="accent1"/>
              </a:buClr>
              <a:buSzPct val="90000"/>
              <a:buFont typeface="Arial" panose="020B0604020202020204" pitchFamily="34" charset="0"/>
              <a:buNone/>
              <a:defRPr kern="1200">
                <a:solidFill>
                  <a:schemeClr val="tx1">
                    <a:tint val="75000"/>
                  </a:schemeClr>
                </a:solidFill>
                <a:latin typeface="+mn-lt"/>
                <a:ea typeface="+mn-ea"/>
                <a:cs typeface="+mn-cs"/>
              </a:defRPr>
            </a:lvl3pPr>
            <a:lvl4pPr marL="1371600" indent="0" algn="ctr" rtl="0" fontAlgn="base">
              <a:spcBef>
                <a:spcPct val="20000"/>
              </a:spcBef>
              <a:spcAft>
                <a:spcPct val="0"/>
              </a:spcAft>
              <a:buClr>
                <a:schemeClr val="accent1"/>
              </a:buClr>
              <a:buFont typeface="Arial" panose="020B0604020202020204" pitchFamily="34" charset="0"/>
              <a:buNone/>
              <a:defRPr sz="1600" kern="1200">
                <a:solidFill>
                  <a:schemeClr val="tx1">
                    <a:tint val="75000"/>
                  </a:schemeClr>
                </a:solidFill>
                <a:latin typeface="+mn-lt"/>
                <a:ea typeface="+mn-ea"/>
                <a:cs typeface="+mn-cs"/>
              </a:defRPr>
            </a:lvl4pPr>
            <a:lvl5pPr marL="1828800" indent="0" algn="ctr" rtl="0" fontAlgn="base">
              <a:spcBef>
                <a:spcPct val="20000"/>
              </a:spcBef>
              <a:spcAft>
                <a:spcPct val="0"/>
              </a:spcAft>
              <a:buClr>
                <a:schemeClr val="accent1"/>
              </a:buClr>
              <a:buSzPct val="100000"/>
              <a:buFont typeface="Arial" panose="020B0604020202020204" pitchFamily="34" charset="0"/>
              <a:buNone/>
              <a:defRPr sz="14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9pPr>
          </a:lstStyle>
          <a:p>
            <a:pPr eaLnBrk="1" hangingPunct="1"/>
            <a:r>
              <a:rPr lang="en-US" sz="2800" dirty="0"/>
              <a:t>        Assembly Language for X86 Processors</a:t>
            </a:r>
          </a:p>
          <a:p>
            <a:pPr eaLnBrk="1" hangingPunct="1"/>
            <a:endParaRPr lang="en-US" sz="2800" dirty="0"/>
          </a:p>
          <a:p>
            <a:pPr eaLnBrk="1" hangingPunct="1"/>
            <a:r>
              <a:rPr lang="en-US" sz="2800" dirty="0"/>
              <a:t>Instructor: </a:t>
            </a:r>
            <a:r>
              <a:rPr lang="en-US" sz="2800" dirty="0" err="1"/>
              <a:t>Ruba</a:t>
            </a:r>
            <a:r>
              <a:rPr lang="en-US" sz="2800" dirty="0"/>
              <a:t> A. </a:t>
            </a:r>
            <a:r>
              <a:rPr lang="en-US" sz="2800" dirty="0" err="1"/>
              <a:t>Salamh</a:t>
            </a:r>
            <a:endParaRPr lang="en-US" sz="2800" dirty="0"/>
          </a:p>
          <a:p>
            <a:pPr eaLnBrk="1" hangingPunct="1"/>
            <a:r>
              <a:rPr lang="en-US" sz="2800" dirty="0"/>
              <a:t>Islamic University of Gaza</a:t>
            </a:r>
          </a:p>
        </p:txBody>
      </p:sp>
      <p:pic>
        <p:nvPicPr>
          <p:cNvPr id="6" name="صورة 4">
            <a:extLst>
              <a:ext uri="{FF2B5EF4-FFF2-40B4-BE49-F238E27FC236}">
                <a16:creationId xmlns:a16="http://schemas.microsoft.com/office/drawing/2014/main" id="{D0281F56-7BB8-487A-92E9-245600E8AC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8465" y="4581140"/>
            <a:ext cx="3751667" cy="2062984"/>
          </a:xfrm>
          <a:prstGeom prst="rect">
            <a:avLst/>
          </a:prstGeom>
          <a:effectLst>
            <a:glow rad="228600">
              <a:schemeClr val="accent6">
                <a:satMod val="175000"/>
                <a:alpha val="40000"/>
              </a:schemeClr>
            </a:glo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وان 3"/>
          <p:cNvSpPr>
            <a:spLocks noGrp="1"/>
          </p:cNvSpPr>
          <p:nvPr>
            <p:ph type="ctrTitle"/>
          </p:nvPr>
        </p:nvSpPr>
        <p:spPr>
          <a:xfrm>
            <a:off x="684684" y="3620617"/>
            <a:ext cx="7774632" cy="1063129"/>
          </a:xfrm>
        </p:spPr>
        <p:txBody>
          <a:bodyPr/>
          <a:lstStyle/>
          <a:p>
            <a:r>
              <a:rPr lang="en-US" altLang="ar-AE" sz="3600" dirty="0"/>
              <a:t>Basic Concepts</a:t>
            </a:r>
            <a:br>
              <a:rPr lang="ar-AE" sz="3600" dirty="0">
                <a:solidFill>
                  <a:srgbClr val="002060"/>
                </a:solidFill>
              </a:rPr>
            </a:br>
            <a:endParaRPr lang="ar-SA" sz="3600" dirty="0"/>
          </a:p>
        </p:txBody>
      </p:sp>
      <p:sp>
        <p:nvSpPr>
          <p:cNvPr id="5" name="عنوان فرعي 4"/>
          <p:cNvSpPr>
            <a:spLocks noGrp="1"/>
          </p:cNvSpPr>
          <p:nvPr>
            <p:ph type="subTitle" idx="1"/>
          </p:nvPr>
        </p:nvSpPr>
        <p:spPr>
          <a:xfrm>
            <a:off x="1115616" y="2420888"/>
            <a:ext cx="6400800" cy="816496"/>
          </a:xfrm>
        </p:spPr>
        <p:txBody>
          <a:bodyPr>
            <a:noAutofit/>
          </a:bodyPr>
          <a:lstStyle/>
          <a:p>
            <a:r>
              <a:rPr lang="en-US" sz="4800" dirty="0"/>
              <a:t>Chapter 1</a:t>
            </a:r>
            <a:endParaRPr lang="ar-SA" sz="4800" dirty="0"/>
          </a:p>
        </p:txBody>
      </p:sp>
      <p:sp>
        <p:nvSpPr>
          <p:cNvPr id="2" name="TextBox 1">
            <a:extLst>
              <a:ext uri="{FF2B5EF4-FFF2-40B4-BE49-F238E27FC236}">
                <a16:creationId xmlns:a16="http://schemas.microsoft.com/office/drawing/2014/main" id="{756F7BD1-6F95-4C3B-B6D0-323CDBDD6481}"/>
              </a:ext>
            </a:extLst>
          </p:cNvPr>
          <p:cNvSpPr txBox="1"/>
          <p:nvPr/>
        </p:nvSpPr>
        <p:spPr>
          <a:xfrm>
            <a:off x="510706" y="4452913"/>
            <a:ext cx="7229679" cy="461665"/>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r>
              <a:rPr lang="en-US" sz="2400" dirty="0"/>
              <a:t>Readings from the textbook are sections: 1.1 and 1.2</a:t>
            </a:r>
          </a:p>
        </p:txBody>
      </p:sp>
    </p:spTree>
    <p:extLst>
      <p:ext uri="{BB962C8B-B14F-4D97-AF65-F5344CB8AC3E}">
        <p14:creationId xmlns:p14="http://schemas.microsoft.com/office/powerpoint/2010/main" val="3281563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p:cNvSpPr>
            <a:spLocks noGrp="1"/>
          </p:cNvSpPr>
          <p:nvPr>
            <p:ph idx="1"/>
          </p:nvPr>
        </p:nvSpPr>
        <p:spPr>
          <a:xfrm>
            <a:off x="457200" y="1285634"/>
            <a:ext cx="8229600" cy="5715000"/>
          </a:xfrm>
        </p:spPr>
        <p:txBody>
          <a:bodyPr>
            <a:normAutofit lnSpcReduction="10000"/>
          </a:bodyPr>
          <a:lstStyle/>
          <a:p>
            <a:pPr algn="just"/>
            <a:r>
              <a:rPr lang="en-US" dirty="0"/>
              <a:t>Assembly language is a “low-level” language and provides the basic instructional interface to the computer processor. Programs written in a high-level language are translated into assembly language in order for the processor to execute the program.</a:t>
            </a:r>
          </a:p>
          <a:p>
            <a:pPr algn="just"/>
            <a:r>
              <a:rPr lang="en-US" dirty="0"/>
              <a:t>Assembly language gives you direct control of the system's resources. This involves setting processor registers, accessing memory locations, and interfacing with other hardware elements. This requires a significantly deeper understanding of exactly how the processor and memory work. </a:t>
            </a:r>
          </a:p>
          <a:p>
            <a:pPr algn="just"/>
            <a:r>
              <a:rPr lang="en-US" dirty="0"/>
              <a:t>Assembly language is machine specific. For example, code written for an x86-64 processor will not run on a different processor such as a RISC processor (popular in tablets and smart-phones). </a:t>
            </a:r>
            <a:endParaRPr lang="ar-SA" dirty="0"/>
          </a:p>
        </p:txBody>
      </p:sp>
      <p:sp>
        <p:nvSpPr>
          <p:cNvPr id="3" name="عنوان 2"/>
          <p:cNvSpPr>
            <a:spLocks noGrp="1"/>
          </p:cNvSpPr>
          <p:nvPr>
            <p:ph type="title"/>
          </p:nvPr>
        </p:nvSpPr>
        <p:spPr/>
        <p:txBody>
          <a:bodyPr/>
          <a:lstStyle/>
          <a:p>
            <a:r>
              <a:rPr lang="en-US" b="1" dirty="0">
                <a:solidFill>
                  <a:srgbClr val="C00000"/>
                </a:solidFill>
              </a:rPr>
              <a:t>Welcome to Assembly Language</a:t>
            </a:r>
            <a:endParaRPr lang="ar-SA" dirty="0">
              <a:solidFill>
                <a:srgbClr val="C00000"/>
              </a:solidFill>
            </a:endParaRPr>
          </a:p>
        </p:txBody>
      </p:sp>
    </p:spTree>
    <p:extLst>
      <p:ext uri="{BB962C8B-B14F-4D97-AF65-F5344CB8AC3E}">
        <p14:creationId xmlns:p14="http://schemas.microsoft.com/office/powerpoint/2010/main" val="1543410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p:cNvSpPr>
            <a:spLocks noGrp="1"/>
          </p:cNvSpPr>
          <p:nvPr>
            <p:ph idx="1"/>
          </p:nvPr>
        </p:nvSpPr>
        <p:spPr>
          <a:xfrm>
            <a:off x="457200" y="1281064"/>
            <a:ext cx="8229600" cy="5143500"/>
          </a:xfrm>
        </p:spPr>
        <p:txBody>
          <a:bodyPr>
            <a:normAutofit fontScale="92500"/>
          </a:bodyPr>
          <a:lstStyle/>
          <a:p>
            <a:r>
              <a:rPr lang="en-US" sz="2800" dirty="0">
                <a:solidFill>
                  <a:schemeClr val="accent2">
                    <a:lumMod val="60000"/>
                    <a:lumOff val="40000"/>
                  </a:schemeClr>
                </a:solidFill>
              </a:rPr>
              <a:t>Assembly Language for x86-64 Processors </a:t>
            </a:r>
            <a:r>
              <a:rPr lang="en-US" sz="2800" dirty="0"/>
              <a:t>focuses on programming microprocessors compatible with Intel and AMD processors running under 32-bit and 64-bit versions of Microsoft Windows</a:t>
            </a:r>
          </a:p>
          <a:p>
            <a:r>
              <a:rPr lang="en-US" sz="2800" dirty="0"/>
              <a:t>The x86-64 is a Complex Instruction Set Computing (CISC) CPU design. This refers to the internal processor design philosophy. CISC processors typically include a wide variety of instructions (sometimes overlapping), varying instructions sizes, and a wide range of addressing modes. The term was retroactively coined in contrast to Reduced Instruction Set Computer (RISC).</a:t>
            </a:r>
          </a:p>
        </p:txBody>
      </p:sp>
      <p:sp>
        <p:nvSpPr>
          <p:cNvPr id="3" name="عنوان 2"/>
          <p:cNvSpPr>
            <a:spLocks noGrp="1"/>
          </p:cNvSpPr>
          <p:nvPr>
            <p:ph type="title"/>
          </p:nvPr>
        </p:nvSpPr>
        <p:spPr/>
        <p:txBody>
          <a:bodyPr/>
          <a:lstStyle/>
          <a:p>
            <a:r>
              <a:rPr lang="en-US" b="1" dirty="0">
                <a:solidFill>
                  <a:srgbClr val="C00000"/>
                </a:solidFill>
              </a:rPr>
              <a:t>Welcome to Assembly Language</a:t>
            </a:r>
            <a:endParaRPr lang="ar-SA" dirty="0">
              <a:solidFill>
                <a:srgbClr val="C00000"/>
              </a:solidFill>
            </a:endParaRPr>
          </a:p>
        </p:txBody>
      </p:sp>
    </p:spTree>
    <p:extLst>
      <p:ext uri="{BB962C8B-B14F-4D97-AF65-F5344CB8AC3E}">
        <p14:creationId xmlns:p14="http://schemas.microsoft.com/office/powerpoint/2010/main" val="2416569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74638"/>
            <a:ext cx="8229600" cy="792162"/>
          </a:xfrm>
        </p:spPr>
        <p:txBody>
          <a:bodyPr/>
          <a:lstStyle/>
          <a:p>
            <a:pPr eaLnBrk="1" hangingPunct="1"/>
            <a:r>
              <a:rPr lang="en-US" altLang="ar-AE"/>
              <a:t>A Hierarchy of Languages</a:t>
            </a:r>
          </a:p>
        </p:txBody>
      </p:sp>
      <p:pic>
        <p:nvPicPr>
          <p:cNvPr id="12291" name="Picture 3" descr="programmers_view"/>
          <p:cNvPicPr>
            <a:picLocks noGrp="1" noChangeAspect="1" noChangeArrowheads="1"/>
          </p:cNvPicPr>
          <p:nvPr>
            <p:ph type="body" idx="1"/>
          </p:nvPr>
        </p:nvPicPr>
        <p:blipFill>
          <a:blip r:embed="rId2" cstate="print">
            <a:extLst>
              <a:ext uri="{28A0092B-C50C-407E-A947-70E740481C1C}">
                <a14:useLocalDpi xmlns:a14="http://schemas.microsoft.com/office/drawing/2010/main" val="0"/>
              </a:ext>
            </a:extLst>
          </a:blip>
          <a:srcRect/>
          <a:stretch>
            <a:fillRect/>
          </a:stretch>
        </p:blipFill>
        <p:spPr>
          <a:xfrm>
            <a:off x="941388" y="1143000"/>
            <a:ext cx="7342187" cy="5143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مستطيل 3"/>
          <p:cNvSpPr/>
          <p:nvPr/>
        </p:nvSpPr>
        <p:spPr bwMode="auto">
          <a:xfrm>
            <a:off x="473075" y="6286500"/>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792162"/>
          </a:xfrm>
        </p:spPr>
        <p:txBody>
          <a:bodyPr/>
          <a:lstStyle/>
          <a:p>
            <a:pPr eaLnBrk="1" hangingPunct="1"/>
            <a:r>
              <a:rPr lang="en-US" altLang="ar-AE"/>
              <a:t>Assembly and Machine Language</a:t>
            </a:r>
          </a:p>
        </p:txBody>
      </p:sp>
      <p:sp>
        <p:nvSpPr>
          <p:cNvPr id="13315" name="Rectangle 3"/>
          <p:cNvSpPr>
            <a:spLocks noGrp="1" noChangeArrowheads="1"/>
          </p:cNvSpPr>
          <p:nvPr>
            <p:ph type="body" idx="1"/>
          </p:nvPr>
        </p:nvSpPr>
        <p:spPr>
          <a:noFill/>
        </p:spPr>
        <p:txBody>
          <a:bodyPr rIns="0"/>
          <a:lstStyle/>
          <a:p>
            <a:pPr eaLnBrk="1" hangingPunct="1"/>
            <a:r>
              <a:rPr lang="en-US" altLang="ar-AE"/>
              <a:t>Machine language</a:t>
            </a:r>
          </a:p>
          <a:p>
            <a:pPr lvl="1" eaLnBrk="1" hangingPunct="1"/>
            <a:r>
              <a:rPr lang="en-US" altLang="ar-AE"/>
              <a:t>Native to a processor: executed directly by hardware</a:t>
            </a:r>
          </a:p>
          <a:p>
            <a:pPr lvl="1" eaLnBrk="1" hangingPunct="1"/>
            <a:r>
              <a:rPr lang="en-US" altLang="ar-AE"/>
              <a:t>Instructions consist of binary code: 1s and 0s</a:t>
            </a:r>
            <a:endParaRPr lang="en-US" altLang="ar-AE" sz="1800" b="1">
              <a:solidFill>
                <a:srgbClr val="FF0000"/>
              </a:solidFill>
              <a:latin typeface="Courier New" panose="02070309020205020404" pitchFamily="49" charset="0"/>
            </a:endParaRPr>
          </a:p>
          <a:p>
            <a:pPr eaLnBrk="1" hangingPunct="1"/>
            <a:r>
              <a:rPr lang="en-US" altLang="ar-AE"/>
              <a:t>Assembly language</a:t>
            </a:r>
          </a:p>
          <a:p>
            <a:pPr lvl="1" eaLnBrk="1" hangingPunct="1"/>
            <a:r>
              <a:rPr lang="en-US" altLang="ar-AE"/>
              <a:t>Slightly higher-level language</a:t>
            </a:r>
          </a:p>
          <a:p>
            <a:pPr lvl="1" eaLnBrk="1" hangingPunct="1"/>
            <a:r>
              <a:rPr lang="en-US" altLang="ar-AE"/>
              <a:t>Readability of instructions is better than machine language</a:t>
            </a:r>
          </a:p>
          <a:p>
            <a:pPr lvl="1" eaLnBrk="1" hangingPunct="1"/>
            <a:r>
              <a:rPr lang="en-US" altLang="ar-AE"/>
              <a:t>One-to-one correspondence with machine language instructions</a:t>
            </a:r>
          </a:p>
          <a:p>
            <a:pPr eaLnBrk="1" hangingPunct="1"/>
            <a:r>
              <a:rPr lang="en-US" altLang="ar-AE"/>
              <a:t>Assemblers translate assembly to machine code</a:t>
            </a:r>
          </a:p>
          <a:p>
            <a:pPr eaLnBrk="1" hangingPunct="1"/>
            <a:r>
              <a:rPr lang="en-US" altLang="ar-AE"/>
              <a:t>Compilers translate high-level programs to machine code</a:t>
            </a:r>
          </a:p>
          <a:p>
            <a:pPr lvl="1" eaLnBrk="1" hangingPunct="1"/>
            <a:r>
              <a:rPr lang="en-US" altLang="ar-AE"/>
              <a:t>Either directly, or</a:t>
            </a:r>
          </a:p>
          <a:p>
            <a:pPr lvl="1" eaLnBrk="1" hangingPunct="1"/>
            <a:r>
              <a:rPr lang="en-US" altLang="ar-AE"/>
              <a:t>Indirectly via an assembler</a:t>
            </a:r>
          </a:p>
        </p:txBody>
      </p:sp>
      <p:sp>
        <p:nvSpPr>
          <p:cNvPr id="4" name="مستطيل 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ar-AE"/>
              <a:t>Translating Languages</a:t>
            </a:r>
          </a:p>
        </p:txBody>
      </p:sp>
      <p:sp>
        <p:nvSpPr>
          <p:cNvPr id="15363" name="Text Box 3"/>
          <p:cNvSpPr txBox="1">
            <a:spLocks noChangeArrowheads="1"/>
          </p:cNvSpPr>
          <p:nvPr/>
        </p:nvSpPr>
        <p:spPr bwMode="auto">
          <a:xfrm>
            <a:off x="685800" y="1296988"/>
            <a:ext cx="6478588" cy="6032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100">
                <a:solidFill>
                  <a:schemeClr val="tx2"/>
                </a:solidFill>
              </a:rPr>
              <a:t>English:</a:t>
            </a:r>
            <a:r>
              <a:rPr lang="en-US" altLang="ar-AE" sz="2100"/>
              <a:t> D is assigned the sum of A times B plus 10.</a:t>
            </a:r>
          </a:p>
        </p:txBody>
      </p:sp>
      <p:sp>
        <p:nvSpPr>
          <p:cNvPr id="15364" name="Text Box 4"/>
          <p:cNvSpPr txBox="1">
            <a:spLocks noChangeArrowheads="1"/>
          </p:cNvSpPr>
          <p:nvPr/>
        </p:nvSpPr>
        <p:spPr bwMode="auto">
          <a:xfrm>
            <a:off x="685800" y="2439988"/>
            <a:ext cx="5181600" cy="6032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100">
                <a:solidFill>
                  <a:schemeClr val="tx2"/>
                </a:solidFill>
              </a:rPr>
              <a:t>High-Level Language:</a:t>
            </a:r>
            <a:r>
              <a:rPr lang="en-US" altLang="ar-AE" sz="2100"/>
              <a:t> D = A * B + 10</a:t>
            </a:r>
          </a:p>
        </p:txBody>
      </p:sp>
      <p:sp>
        <p:nvSpPr>
          <p:cNvPr id="15365" name="Text Box 5"/>
          <p:cNvSpPr txBox="1">
            <a:spLocks noChangeArrowheads="1"/>
          </p:cNvSpPr>
          <p:nvPr/>
        </p:nvSpPr>
        <p:spPr bwMode="auto">
          <a:xfrm>
            <a:off x="685800" y="3863975"/>
            <a:ext cx="3425825" cy="22733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tabLst>
                <a:tab pos="715963" algn="l"/>
              </a:tabLst>
              <a:defRPr>
                <a:solidFill>
                  <a:schemeClr val="tx1"/>
                </a:solidFill>
                <a:latin typeface="Arial" panose="020B0604020202020204" pitchFamily="34" charset="0"/>
                <a:cs typeface="Arial" panose="020B0604020202020204" pitchFamily="34" charset="0"/>
              </a:defRPr>
            </a:lvl1pPr>
            <a:lvl2pPr marL="742950" indent="-285750">
              <a:tabLst>
                <a:tab pos="715963" algn="l"/>
              </a:tabLst>
              <a:defRPr>
                <a:solidFill>
                  <a:schemeClr val="tx1"/>
                </a:solidFill>
                <a:latin typeface="Arial" panose="020B0604020202020204" pitchFamily="34" charset="0"/>
                <a:cs typeface="Arial" panose="020B0604020202020204" pitchFamily="34" charset="0"/>
              </a:defRPr>
            </a:lvl2pPr>
            <a:lvl3pPr marL="1143000" indent="-228600">
              <a:tabLst>
                <a:tab pos="715963" algn="l"/>
              </a:tabLst>
              <a:defRPr>
                <a:solidFill>
                  <a:schemeClr val="tx1"/>
                </a:solidFill>
                <a:latin typeface="Arial" panose="020B0604020202020204" pitchFamily="34" charset="0"/>
                <a:cs typeface="Arial" panose="020B0604020202020204" pitchFamily="34" charset="0"/>
              </a:defRPr>
            </a:lvl3pPr>
            <a:lvl4pPr marL="1600200" indent="-228600">
              <a:tabLst>
                <a:tab pos="715963" algn="l"/>
              </a:tabLst>
              <a:defRPr>
                <a:solidFill>
                  <a:schemeClr val="tx1"/>
                </a:solidFill>
                <a:latin typeface="Arial" panose="020B0604020202020204" pitchFamily="34" charset="0"/>
                <a:cs typeface="Arial" panose="020B0604020202020204" pitchFamily="34" charset="0"/>
              </a:defRPr>
            </a:lvl4pPr>
            <a:lvl5pPr marL="2057400" indent="-228600">
              <a:tabLst>
                <a:tab pos="715963" algn="l"/>
              </a:tabLst>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tabLst>
                <a:tab pos="715963" algn="l"/>
              </a:tabLs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tabLst>
                <a:tab pos="715963" algn="l"/>
              </a:tabLs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tabLst>
                <a:tab pos="715963" algn="l"/>
              </a:tabLs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tabLst>
                <a:tab pos="715963"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100">
                <a:solidFill>
                  <a:schemeClr val="tx2"/>
                </a:solidFill>
              </a:rPr>
              <a:t>Intel Assembly Language:</a:t>
            </a:r>
          </a:p>
          <a:p>
            <a:pPr eaLnBrk="1" hangingPunct="1">
              <a:spcBef>
                <a:spcPct val="30000"/>
              </a:spcBef>
            </a:pPr>
            <a:r>
              <a:rPr lang="en-US" altLang="ar-AE" sz="2100"/>
              <a:t>mov	eax, A</a:t>
            </a:r>
          </a:p>
          <a:p>
            <a:pPr eaLnBrk="1" hangingPunct="1">
              <a:spcBef>
                <a:spcPct val="30000"/>
              </a:spcBef>
            </a:pPr>
            <a:r>
              <a:rPr lang="en-US" altLang="ar-AE" sz="2100"/>
              <a:t>mul	B</a:t>
            </a:r>
          </a:p>
          <a:p>
            <a:pPr eaLnBrk="1" hangingPunct="1">
              <a:spcBef>
                <a:spcPct val="30000"/>
              </a:spcBef>
            </a:pPr>
            <a:r>
              <a:rPr lang="en-US" altLang="ar-AE" sz="2100"/>
              <a:t>add	eax, 10</a:t>
            </a:r>
          </a:p>
          <a:p>
            <a:pPr eaLnBrk="1" hangingPunct="1">
              <a:spcBef>
                <a:spcPct val="30000"/>
              </a:spcBef>
            </a:pPr>
            <a:r>
              <a:rPr lang="en-US" altLang="ar-AE" sz="2100"/>
              <a:t>mov	D, eax</a:t>
            </a:r>
          </a:p>
        </p:txBody>
      </p:sp>
      <p:sp>
        <p:nvSpPr>
          <p:cNvPr id="15366" name="Text Box 6"/>
          <p:cNvSpPr txBox="1">
            <a:spLocks noChangeArrowheads="1"/>
          </p:cNvSpPr>
          <p:nvPr/>
        </p:nvSpPr>
        <p:spPr bwMode="auto">
          <a:xfrm>
            <a:off x="5262563" y="3863975"/>
            <a:ext cx="3271837" cy="22733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100" dirty="0">
                <a:solidFill>
                  <a:schemeClr val="tx2"/>
                </a:solidFill>
              </a:rPr>
              <a:t>Intel Machine Language:</a:t>
            </a:r>
          </a:p>
          <a:p>
            <a:pPr eaLnBrk="1" hangingPunct="1">
              <a:spcBef>
                <a:spcPct val="30000"/>
              </a:spcBef>
            </a:pPr>
            <a:r>
              <a:rPr lang="en-US" altLang="ar-AE" sz="2100" dirty="0"/>
              <a:t>A1 00404000</a:t>
            </a:r>
          </a:p>
          <a:p>
            <a:pPr eaLnBrk="1" hangingPunct="1">
              <a:spcBef>
                <a:spcPct val="30000"/>
              </a:spcBef>
            </a:pPr>
            <a:r>
              <a:rPr lang="en-US" altLang="ar-AE" sz="2100" dirty="0"/>
              <a:t>F7 25 00404004</a:t>
            </a:r>
          </a:p>
          <a:p>
            <a:pPr eaLnBrk="1" hangingPunct="1">
              <a:spcBef>
                <a:spcPct val="30000"/>
              </a:spcBef>
            </a:pPr>
            <a:r>
              <a:rPr lang="en-US" altLang="ar-AE" sz="2100" dirty="0"/>
              <a:t>83 C0 0A</a:t>
            </a:r>
          </a:p>
          <a:p>
            <a:pPr eaLnBrk="1" hangingPunct="1">
              <a:spcBef>
                <a:spcPct val="30000"/>
              </a:spcBef>
            </a:pPr>
            <a:r>
              <a:rPr lang="en-US" altLang="ar-AE" sz="2100" dirty="0"/>
              <a:t>A3 00404008</a:t>
            </a:r>
          </a:p>
        </p:txBody>
      </p:sp>
      <p:sp>
        <p:nvSpPr>
          <p:cNvPr id="15367" name="AutoShape 10"/>
          <p:cNvSpPr>
            <a:spLocks noChangeArrowheads="1"/>
          </p:cNvSpPr>
          <p:nvPr/>
        </p:nvSpPr>
        <p:spPr bwMode="auto">
          <a:xfrm>
            <a:off x="2728913" y="1989138"/>
            <a:ext cx="346075" cy="346075"/>
          </a:xfrm>
          <a:prstGeom prst="downArrow">
            <a:avLst>
              <a:gd name="adj1" fmla="val 49537"/>
              <a:gd name="adj2" fmla="val 5469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15368" name="AutoShape 11"/>
          <p:cNvSpPr>
            <a:spLocks noChangeArrowheads="1"/>
          </p:cNvSpPr>
          <p:nvPr/>
        </p:nvSpPr>
        <p:spPr bwMode="auto">
          <a:xfrm>
            <a:off x="2728913" y="3198813"/>
            <a:ext cx="346075" cy="576262"/>
          </a:xfrm>
          <a:prstGeom prst="downArrow">
            <a:avLst>
              <a:gd name="adj1" fmla="val 49537"/>
              <a:gd name="adj2" fmla="val 5825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15369" name="AutoShape 12"/>
          <p:cNvSpPr>
            <a:spLocks noChangeArrowheads="1"/>
          </p:cNvSpPr>
          <p:nvPr/>
        </p:nvSpPr>
        <p:spPr bwMode="auto">
          <a:xfrm rot="-5400000">
            <a:off x="4572000" y="4843463"/>
            <a:ext cx="346075" cy="346075"/>
          </a:xfrm>
          <a:prstGeom prst="downArrow">
            <a:avLst>
              <a:gd name="adj1" fmla="val 49537"/>
              <a:gd name="adj2" fmla="val 5469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15370" name="Rectangle 13"/>
          <p:cNvSpPr>
            <a:spLocks noChangeArrowheads="1"/>
          </p:cNvSpPr>
          <p:nvPr/>
        </p:nvSpPr>
        <p:spPr bwMode="auto">
          <a:xfrm>
            <a:off x="3535363" y="3141663"/>
            <a:ext cx="49545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600">
                <a:solidFill>
                  <a:srgbClr val="FF0000"/>
                </a:solidFill>
              </a:rPr>
              <a:t>A statement in a high-level language is translated typically into several machine-level instructions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74638"/>
            <a:ext cx="8229600" cy="792162"/>
          </a:xfrm>
        </p:spPr>
        <p:txBody>
          <a:bodyPr/>
          <a:lstStyle/>
          <a:p>
            <a:pPr eaLnBrk="1" hangingPunct="1"/>
            <a:r>
              <a:rPr lang="en-US" altLang="ar-AE"/>
              <a:t>Advantages of High-Level Languages</a:t>
            </a:r>
          </a:p>
        </p:txBody>
      </p:sp>
      <p:sp>
        <p:nvSpPr>
          <p:cNvPr id="16387" name="Rectangle 3"/>
          <p:cNvSpPr>
            <a:spLocks noGrp="1" noChangeArrowheads="1"/>
          </p:cNvSpPr>
          <p:nvPr>
            <p:ph type="body" idx="1"/>
          </p:nvPr>
        </p:nvSpPr>
        <p:spPr>
          <a:xfrm>
            <a:off x="457200" y="1412875"/>
            <a:ext cx="8229600" cy="4873625"/>
          </a:xfrm>
        </p:spPr>
        <p:txBody>
          <a:bodyPr/>
          <a:lstStyle/>
          <a:p>
            <a:pPr eaLnBrk="1" hangingPunct="1"/>
            <a:r>
              <a:rPr lang="en-US" altLang="ar-AE"/>
              <a:t>Program development is faster</a:t>
            </a:r>
          </a:p>
          <a:p>
            <a:pPr lvl="1" eaLnBrk="1" hangingPunct="1"/>
            <a:r>
              <a:rPr lang="en-US" altLang="ar-AE"/>
              <a:t>High-level statements: fewer instructions to code</a:t>
            </a:r>
          </a:p>
          <a:p>
            <a:pPr eaLnBrk="1" hangingPunct="1"/>
            <a:r>
              <a:rPr lang="en-US" altLang="ar-AE"/>
              <a:t>Program maintenance is easier</a:t>
            </a:r>
          </a:p>
          <a:p>
            <a:pPr lvl="1" eaLnBrk="1" hangingPunct="1"/>
            <a:r>
              <a:rPr lang="en-US" altLang="ar-AE"/>
              <a:t>For the same above reasons</a:t>
            </a:r>
          </a:p>
          <a:p>
            <a:pPr eaLnBrk="1" hangingPunct="1"/>
            <a:r>
              <a:rPr lang="en-US" altLang="ar-AE"/>
              <a:t>Programs are portable</a:t>
            </a:r>
          </a:p>
          <a:p>
            <a:pPr lvl="1" eaLnBrk="1" hangingPunct="1"/>
            <a:r>
              <a:rPr lang="en-US" altLang="ar-AE"/>
              <a:t>Contain few machine-dependent details</a:t>
            </a:r>
          </a:p>
          <a:p>
            <a:pPr lvl="2" eaLnBrk="1" hangingPunct="1"/>
            <a:r>
              <a:rPr lang="en-US" altLang="ar-AE"/>
              <a:t>Can be used with little or no modifications on different machines</a:t>
            </a:r>
          </a:p>
          <a:p>
            <a:pPr lvl="1" eaLnBrk="1" hangingPunct="1"/>
            <a:r>
              <a:rPr lang="en-US" altLang="ar-AE"/>
              <a:t>Compiler translates to the target machine language</a:t>
            </a:r>
          </a:p>
          <a:p>
            <a:pPr lvl="1" eaLnBrk="1" hangingPunct="1"/>
            <a:r>
              <a:rPr lang="en-US" altLang="ar-AE"/>
              <a:t>However, Assembly language programs are not portable</a:t>
            </a:r>
          </a:p>
        </p:txBody>
      </p:sp>
      <p:sp>
        <p:nvSpPr>
          <p:cNvPr id="4" name="مستطيل 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74638"/>
            <a:ext cx="8229600" cy="792162"/>
          </a:xfrm>
        </p:spPr>
        <p:txBody>
          <a:bodyPr/>
          <a:lstStyle/>
          <a:p>
            <a:pPr eaLnBrk="1" hangingPunct="1"/>
            <a:r>
              <a:rPr lang="en-US" altLang="ar-AE"/>
              <a:t>Why Learn Assembly Language?</a:t>
            </a:r>
          </a:p>
        </p:txBody>
      </p:sp>
      <p:sp>
        <p:nvSpPr>
          <p:cNvPr id="17411" name="Rectangle 3"/>
          <p:cNvSpPr>
            <a:spLocks noGrp="1" noChangeArrowheads="1"/>
          </p:cNvSpPr>
          <p:nvPr>
            <p:ph type="body" idx="1"/>
          </p:nvPr>
        </p:nvSpPr>
        <p:spPr>
          <a:xfrm>
            <a:off x="457200" y="1143000"/>
            <a:ext cx="8229600" cy="5715000"/>
          </a:xfrm>
        </p:spPr>
        <p:txBody>
          <a:bodyPr>
            <a:normAutofit lnSpcReduction="10000"/>
          </a:bodyPr>
          <a:lstStyle/>
          <a:p>
            <a:r>
              <a:rPr lang="en-US" dirty="0"/>
              <a:t>The reasons for learning assembly language are more about understanding how a computer works instead of developing large programs. Since assembly language is machine specific, the lack of portability is very limiting for programming projects. </a:t>
            </a:r>
          </a:p>
          <a:p>
            <a:r>
              <a:rPr lang="en-US" dirty="0"/>
              <a:t>The process of actually learning assembly language involves writing non-trivial programs to perform specific low-level actions including arithmetic operations, function calls, using stack-dynamic local variables, and operating system interaction for activities such as input/output. </a:t>
            </a:r>
          </a:p>
          <a:p>
            <a:r>
              <a:rPr lang="en-US" dirty="0"/>
              <a:t>Assembly language helps you to gain an overall understanding of the interaction between computer hardware, operating systems, and application programs. Using assembly language, you can apply and test theoretical information you are given in computer architecture and operating systems courses.</a:t>
            </a:r>
          </a:p>
        </p:txBody>
      </p:sp>
    </p:spTree>
    <p:extLst>
      <p:ext uri="{BB962C8B-B14F-4D97-AF65-F5344CB8AC3E}">
        <p14:creationId xmlns:p14="http://schemas.microsoft.com/office/powerpoint/2010/main" val="851696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74638"/>
            <a:ext cx="8229600" cy="792162"/>
          </a:xfrm>
        </p:spPr>
        <p:txBody>
          <a:bodyPr/>
          <a:lstStyle/>
          <a:p>
            <a:pPr eaLnBrk="1" hangingPunct="1"/>
            <a:r>
              <a:rPr lang="en-US" altLang="ar-AE"/>
              <a:t>Why Learn Assembly Language?</a:t>
            </a:r>
          </a:p>
        </p:txBody>
      </p:sp>
      <p:sp>
        <p:nvSpPr>
          <p:cNvPr id="17411" name="Rectangle 3"/>
          <p:cNvSpPr>
            <a:spLocks noGrp="1" noChangeArrowheads="1"/>
          </p:cNvSpPr>
          <p:nvPr>
            <p:ph type="body" idx="1"/>
          </p:nvPr>
        </p:nvSpPr>
        <p:spPr/>
        <p:txBody>
          <a:bodyPr/>
          <a:lstStyle/>
          <a:p>
            <a:r>
              <a:rPr lang="en-US" b="1" dirty="0"/>
              <a:t>Gain a Better Understanding of Architecture Issues</a:t>
            </a:r>
            <a:endParaRPr lang="en-US" dirty="0"/>
          </a:p>
          <a:p>
            <a:pPr marL="450850" lvl="1" indent="0">
              <a:buNone/>
            </a:pPr>
            <a:r>
              <a:rPr lang="en-US" dirty="0"/>
              <a:t>Learning and spending some time working at the assembly language level provides a richer understanding of the underlying computer architecture. This includes the basic instruction set, processor registers, memory addressing, hardware interfacing, and Input/ Output. Since ultimately all programs execute at this level, knowing the capabilities of assembly language provides useful insights into what is possible, what is easy, and what might be more difficult or slower.</a:t>
            </a:r>
          </a:p>
          <a:p>
            <a:r>
              <a:rPr lang="en-US" b="1" dirty="0"/>
              <a:t>Understanding the Tool Chain</a:t>
            </a:r>
            <a:endParaRPr lang="en-US" sz="1800" dirty="0"/>
          </a:p>
          <a:p>
            <a:pPr marL="450850" lvl="1" indent="0">
              <a:buNone/>
            </a:pPr>
            <a:r>
              <a:rPr lang="en-US" dirty="0"/>
              <a:t>The tool chain is the name for the process of taking code written by a human and converting it into something that the computer can directly execute. This includes the compiler, or assembler in our case, the linker, the loader, and the debugger.</a:t>
            </a:r>
          </a:p>
          <a:p>
            <a:pPr marL="450850" lvl="1" indent="0">
              <a:buNone/>
            </a:pPr>
            <a:endParaRPr lang="en-US" dirty="0"/>
          </a:p>
        </p:txBody>
      </p:sp>
      <p:sp>
        <p:nvSpPr>
          <p:cNvPr id="4" name="مستطيل 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74638"/>
            <a:ext cx="8229600" cy="792162"/>
          </a:xfrm>
        </p:spPr>
        <p:txBody>
          <a:bodyPr/>
          <a:lstStyle/>
          <a:p>
            <a:pPr eaLnBrk="1" hangingPunct="1"/>
            <a:r>
              <a:rPr lang="en-US" altLang="ar-AE"/>
              <a:t>Why Learn Assembly Language?</a:t>
            </a:r>
          </a:p>
        </p:txBody>
      </p:sp>
      <p:sp>
        <p:nvSpPr>
          <p:cNvPr id="17411" name="Rectangle 3"/>
          <p:cNvSpPr>
            <a:spLocks noGrp="1" noChangeArrowheads="1"/>
          </p:cNvSpPr>
          <p:nvPr>
            <p:ph type="body" idx="1"/>
          </p:nvPr>
        </p:nvSpPr>
        <p:spPr/>
        <p:txBody>
          <a:bodyPr/>
          <a:lstStyle/>
          <a:p>
            <a:r>
              <a:rPr lang="en-US" b="1" dirty="0"/>
              <a:t>Improve Algorithm Development Skills</a:t>
            </a:r>
            <a:endParaRPr lang="en-US" dirty="0"/>
          </a:p>
          <a:p>
            <a:pPr marL="450850" lvl="1" indent="0">
              <a:buNone/>
            </a:pPr>
            <a:r>
              <a:rPr lang="en-US" dirty="0"/>
              <a:t>Working with assembly language and writing low-level programs helps programmers improve algorithm development skills by practicing with a language that requires more thought and more attention to detail. </a:t>
            </a:r>
          </a:p>
          <a:p>
            <a:r>
              <a:rPr lang="en-US" b="1" dirty="0"/>
              <a:t>Improve Understanding of Functions/Procedures</a:t>
            </a:r>
            <a:endParaRPr lang="en-US" dirty="0"/>
          </a:p>
          <a:p>
            <a:pPr marL="450850" lvl="1" indent="0">
              <a:buNone/>
            </a:pPr>
            <a:r>
              <a:rPr lang="en-US" dirty="0"/>
              <a:t>Working with assembly language provides a greatly improved understanding of how function/procedure calls work. This includes the contents and structure of the function call frame, also referred to as the activation record. </a:t>
            </a:r>
          </a:p>
        </p:txBody>
      </p:sp>
    </p:spTree>
    <p:extLst>
      <p:ext uri="{BB962C8B-B14F-4D97-AF65-F5344CB8AC3E}">
        <p14:creationId xmlns:p14="http://schemas.microsoft.com/office/powerpoint/2010/main" val="876936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74638"/>
            <a:ext cx="8229600" cy="792162"/>
          </a:xfrm>
        </p:spPr>
        <p:txBody>
          <a:bodyPr/>
          <a:lstStyle/>
          <a:p>
            <a:pPr eaLnBrk="1" hangingPunct="1"/>
            <a:r>
              <a:rPr lang="en-US" altLang="ar-AE"/>
              <a:t>Why Learn Assembly Language?</a:t>
            </a:r>
          </a:p>
        </p:txBody>
      </p:sp>
      <p:sp>
        <p:nvSpPr>
          <p:cNvPr id="17411" name="Rectangle 3"/>
          <p:cNvSpPr>
            <a:spLocks noGrp="1" noChangeArrowheads="1"/>
          </p:cNvSpPr>
          <p:nvPr>
            <p:ph type="body" idx="1"/>
          </p:nvPr>
        </p:nvSpPr>
        <p:spPr/>
        <p:txBody>
          <a:bodyPr/>
          <a:lstStyle/>
          <a:p>
            <a:r>
              <a:rPr lang="en-US" dirty="0"/>
              <a:t>Some high-level languages abstract their data representation to the point that it becomes awkward to perform low-level tasks such as bit manipulation. In such an environment, programmers will often call subroutines written in assembly language to accomplish their goal.</a:t>
            </a:r>
          </a:p>
          <a:p>
            <a:r>
              <a:rPr lang="en-US" dirty="0"/>
              <a:t>Hardware manufacturers create device drivers for the equipment they sell. </a:t>
            </a:r>
            <a:r>
              <a:rPr lang="en-US" i="1" dirty="0"/>
              <a:t>Device drivers </a:t>
            </a:r>
            <a:r>
              <a:rPr lang="en-US" dirty="0"/>
              <a:t>are programs that translate general operating system commands into specific references to hardware details. Printer manufacturers, for example, create a different MS-Windows device driver for each model they sell. Often these device drivers contain significant amounts of assembly language code.</a:t>
            </a:r>
            <a:endParaRPr lang="en-US" altLang="ar-AE" dirty="0"/>
          </a:p>
        </p:txBody>
      </p:sp>
    </p:spTree>
    <p:extLst>
      <p:ext uri="{BB962C8B-B14F-4D97-AF65-F5344CB8AC3E}">
        <p14:creationId xmlns:p14="http://schemas.microsoft.com/office/powerpoint/2010/main" val="3814705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p:cNvSpPr>
            <a:spLocks noGrp="1"/>
          </p:cNvSpPr>
          <p:nvPr>
            <p:ph idx="1"/>
          </p:nvPr>
        </p:nvSpPr>
        <p:spPr/>
        <p:txBody>
          <a:bodyPr/>
          <a:lstStyle/>
          <a:p>
            <a:r>
              <a:rPr lang="en-US" dirty="0"/>
              <a:t>A language whose source programs can be compiled and run on a wide variety of computer systems is said to be </a:t>
            </a:r>
            <a:r>
              <a:rPr lang="en-US" i="1" dirty="0"/>
              <a:t>portable</a:t>
            </a:r>
            <a:r>
              <a:rPr lang="en-US" dirty="0"/>
              <a:t>.</a:t>
            </a:r>
          </a:p>
          <a:p>
            <a:r>
              <a:rPr lang="en-US" dirty="0"/>
              <a:t> A C++ program, for example, will compile and run on just about any computer, unless it makes specific references to library functions that exist under a single operating system. </a:t>
            </a:r>
          </a:p>
          <a:p>
            <a:r>
              <a:rPr lang="en-US" dirty="0"/>
              <a:t>A major feature of the Java language is that compiled programs run on nearly any computer system.</a:t>
            </a:r>
          </a:p>
          <a:p>
            <a:r>
              <a:rPr lang="en-US" dirty="0"/>
              <a:t>Assembly language is not portable, because it is designed for a specific processor family. There are a number of different assembly languages widely used today, each based on a processor family</a:t>
            </a:r>
            <a:endParaRPr lang="ar-SA" dirty="0"/>
          </a:p>
        </p:txBody>
      </p:sp>
      <p:sp>
        <p:nvSpPr>
          <p:cNvPr id="3" name="عنوان 2"/>
          <p:cNvSpPr>
            <a:spLocks noGrp="1"/>
          </p:cNvSpPr>
          <p:nvPr>
            <p:ph type="title"/>
          </p:nvPr>
        </p:nvSpPr>
        <p:spPr/>
        <p:txBody>
          <a:bodyPr/>
          <a:lstStyle/>
          <a:p>
            <a:r>
              <a:rPr lang="en-US" i="1" dirty="0"/>
              <a:t>Is Assembly Language Portable?</a:t>
            </a:r>
            <a:endParaRPr lang="ar-SA" dirty="0"/>
          </a:p>
        </p:txBody>
      </p:sp>
    </p:spTree>
    <p:extLst>
      <p:ext uri="{BB962C8B-B14F-4D97-AF65-F5344CB8AC3E}">
        <p14:creationId xmlns:p14="http://schemas.microsoft.com/office/powerpoint/2010/main" val="794834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274638"/>
            <a:ext cx="8229600" cy="792162"/>
          </a:xfrm>
        </p:spPr>
        <p:txBody>
          <a:bodyPr/>
          <a:lstStyle/>
          <a:p>
            <a:pPr eaLnBrk="1" hangingPunct="1"/>
            <a:r>
              <a:rPr lang="en-US" altLang="ar-AE"/>
              <a:t>Assembler</a:t>
            </a:r>
          </a:p>
        </p:txBody>
      </p:sp>
      <p:sp>
        <p:nvSpPr>
          <p:cNvPr id="19459" name="Rectangle 3"/>
          <p:cNvSpPr>
            <a:spLocks noGrp="1" noChangeArrowheads="1"/>
          </p:cNvSpPr>
          <p:nvPr>
            <p:ph type="body" idx="1"/>
          </p:nvPr>
        </p:nvSpPr>
        <p:spPr/>
        <p:txBody>
          <a:bodyPr/>
          <a:lstStyle/>
          <a:p>
            <a:pPr eaLnBrk="1" hangingPunct="1">
              <a:spcBef>
                <a:spcPct val="50000"/>
              </a:spcBef>
            </a:pPr>
            <a:r>
              <a:rPr lang="en-US" altLang="ar-AE"/>
              <a:t>Software tools are needed for editing, assembling, linking, and debugging assembly language programs</a:t>
            </a:r>
          </a:p>
          <a:p>
            <a:pPr eaLnBrk="1" hangingPunct="1">
              <a:spcBef>
                <a:spcPct val="50000"/>
              </a:spcBef>
            </a:pPr>
            <a:r>
              <a:rPr lang="en-US" altLang="ar-AE"/>
              <a:t>An </a:t>
            </a:r>
            <a:r>
              <a:rPr lang="en-US" altLang="ar-AE">
                <a:solidFill>
                  <a:srgbClr val="FF0000"/>
                </a:solidFill>
              </a:rPr>
              <a:t>assembler</a:t>
            </a:r>
            <a:r>
              <a:rPr lang="en-US" altLang="ar-AE"/>
              <a:t> is a program that converts </a:t>
            </a:r>
            <a:r>
              <a:rPr lang="en-US" altLang="ar-AE">
                <a:solidFill>
                  <a:srgbClr val="FF0000"/>
                </a:solidFill>
              </a:rPr>
              <a:t>source-code</a:t>
            </a:r>
            <a:r>
              <a:rPr lang="en-US" altLang="ar-AE"/>
              <a:t> programs written in </a:t>
            </a:r>
            <a:r>
              <a:rPr lang="en-US" altLang="ar-AE">
                <a:solidFill>
                  <a:srgbClr val="FF0000"/>
                </a:solidFill>
              </a:rPr>
              <a:t>assembly language</a:t>
            </a:r>
            <a:r>
              <a:rPr lang="en-US" altLang="ar-AE"/>
              <a:t> into </a:t>
            </a:r>
            <a:r>
              <a:rPr lang="en-US" altLang="ar-AE">
                <a:solidFill>
                  <a:srgbClr val="FF0000"/>
                </a:solidFill>
              </a:rPr>
              <a:t>object files</a:t>
            </a:r>
            <a:r>
              <a:rPr lang="en-US" altLang="ar-AE"/>
              <a:t> in </a:t>
            </a:r>
            <a:r>
              <a:rPr lang="en-US" altLang="ar-AE">
                <a:solidFill>
                  <a:srgbClr val="FF0000"/>
                </a:solidFill>
              </a:rPr>
              <a:t>machine language</a:t>
            </a:r>
          </a:p>
          <a:p>
            <a:pPr eaLnBrk="1" hangingPunct="1">
              <a:spcBef>
                <a:spcPct val="50000"/>
              </a:spcBef>
            </a:pPr>
            <a:r>
              <a:rPr lang="en-US" altLang="ar-AE"/>
              <a:t>Popular assemblers have emerged over the years for the Intel family of processors. These include …</a:t>
            </a:r>
          </a:p>
          <a:p>
            <a:pPr lvl="1" eaLnBrk="1" hangingPunct="1">
              <a:spcBef>
                <a:spcPct val="50000"/>
              </a:spcBef>
            </a:pPr>
            <a:r>
              <a:rPr lang="en-US" altLang="ar-AE"/>
              <a:t>TASM (Turbo Assembler from Borland)</a:t>
            </a:r>
          </a:p>
          <a:p>
            <a:pPr lvl="1" eaLnBrk="1" hangingPunct="1">
              <a:spcBef>
                <a:spcPct val="50000"/>
              </a:spcBef>
            </a:pPr>
            <a:r>
              <a:rPr lang="en-US" altLang="ar-AE"/>
              <a:t>NASM (Netwide Assembler for both Windows and Linux), and</a:t>
            </a:r>
          </a:p>
          <a:p>
            <a:pPr lvl="1" eaLnBrk="1" hangingPunct="1">
              <a:spcBef>
                <a:spcPct val="50000"/>
              </a:spcBef>
            </a:pPr>
            <a:r>
              <a:rPr lang="en-US" altLang="ar-AE"/>
              <a:t>GNU assembler distributed by the free software foundation</a:t>
            </a:r>
          </a:p>
          <a:p>
            <a:pPr eaLnBrk="1" hangingPunct="1">
              <a:spcBef>
                <a:spcPct val="50000"/>
              </a:spcBef>
            </a:pPr>
            <a:r>
              <a:rPr lang="en-US" altLang="ar-AE"/>
              <a:t>You will use </a:t>
            </a:r>
            <a:r>
              <a:rPr lang="en-US" altLang="ar-AE">
                <a:solidFill>
                  <a:srgbClr val="FF0000"/>
                </a:solidFill>
              </a:rPr>
              <a:t>MASM</a:t>
            </a:r>
            <a:r>
              <a:rPr lang="en-US" altLang="ar-AE"/>
              <a:t> (Macro Assembler from Microsoft)</a:t>
            </a:r>
          </a:p>
        </p:txBody>
      </p:sp>
      <p:sp>
        <p:nvSpPr>
          <p:cNvPr id="4" name="مستطيل 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274638"/>
            <a:ext cx="8229600" cy="792162"/>
          </a:xfrm>
        </p:spPr>
        <p:txBody>
          <a:bodyPr/>
          <a:lstStyle/>
          <a:p>
            <a:pPr eaLnBrk="1" hangingPunct="1"/>
            <a:r>
              <a:rPr lang="en-US" altLang="ar-AE"/>
              <a:t>Linker and Link Libraries</a:t>
            </a:r>
          </a:p>
        </p:txBody>
      </p:sp>
      <p:sp>
        <p:nvSpPr>
          <p:cNvPr id="20483" name="Rectangle 3"/>
          <p:cNvSpPr>
            <a:spLocks noGrp="1" noChangeArrowheads="1"/>
          </p:cNvSpPr>
          <p:nvPr>
            <p:ph type="body" idx="1"/>
          </p:nvPr>
        </p:nvSpPr>
        <p:spPr>
          <a:xfrm>
            <a:off x="457200" y="1239838"/>
            <a:ext cx="8229600" cy="5046662"/>
          </a:xfrm>
        </p:spPr>
        <p:txBody>
          <a:bodyPr/>
          <a:lstStyle/>
          <a:p>
            <a:pPr eaLnBrk="1" hangingPunct="1">
              <a:spcBef>
                <a:spcPct val="70000"/>
              </a:spcBef>
            </a:pPr>
            <a:r>
              <a:rPr lang="en-US" altLang="ar-AE" dirty="0"/>
              <a:t>You need a linker program to produce executable files</a:t>
            </a:r>
          </a:p>
          <a:p>
            <a:pPr eaLnBrk="1" hangingPunct="1">
              <a:spcBef>
                <a:spcPct val="70000"/>
              </a:spcBef>
            </a:pPr>
            <a:r>
              <a:rPr lang="en-US" altLang="ar-AE" dirty="0"/>
              <a:t>It combines your program's </a:t>
            </a:r>
            <a:r>
              <a:rPr lang="en-US" altLang="ar-AE" dirty="0">
                <a:solidFill>
                  <a:srgbClr val="FF0000"/>
                </a:solidFill>
              </a:rPr>
              <a:t>object file</a:t>
            </a:r>
            <a:r>
              <a:rPr lang="en-US" altLang="ar-AE" b="1" dirty="0"/>
              <a:t> </a:t>
            </a:r>
            <a:r>
              <a:rPr lang="en-US" altLang="ar-AE" dirty="0"/>
              <a:t>created by the assembler with other object files and </a:t>
            </a:r>
            <a:r>
              <a:rPr lang="en-US" altLang="ar-AE" dirty="0">
                <a:solidFill>
                  <a:srgbClr val="FF0000"/>
                </a:solidFill>
              </a:rPr>
              <a:t>link libraries</a:t>
            </a:r>
            <a:r>
              <a:rPr lang="en-US" altLang="ar-AE" dirty="0"/>
              <a:t>, and produces a single </a:t>
            </a:r>
            <a:r>
              <a:rPr lang="en-US" altLang="ar-AE" dirty="0">
                <a:solidFill>
                  <a:srgbClr val="FF0000"/>
                </a:solidFill>
              </a:rPr>
              <a:t>executable program</a:t>
            </a:r>
          </a:p>
        </p:txBody>
      </p:sp>
      <p:sp>
        <p:nvSpPr>
          <p:cNvPr id="4" name="مستطيل 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74638"/>
            <a:ext cx="8229600" cy="792162"/>
          </a:xfrm>
        </p:spPr>
        <p:txBody>
          <a:bodyPr/>
          <a:lstStyle/>
          <a:p>
            <a:pPr eaLnBrk="1" hangingPunct="1"/>
            <a:r>
              <a:rPr lang="en-US" altLang="ar-AE"/>
              <a:t>Debugger</a:t>
            </a:r>
          </a:p>
        </p:txBody>
      </p:sp>
      <p:sp>
        <p:nvSpPr>
          <p:cNvPr id="21507" name="Rectangle 3"/>
          <p:cNvSpPr>
            <a:spLocks noGrp="1" noChangeArrowheads="1"/>
          </p:cNvSpPr>
          <p:nvPr>
            <p:ph type="body" idx="1"/>
          </p:nvPr>
        </p:nvSpPr>
        <p:spPr>
          <a:xfrm>
            <a:off x="457200" y="1182688"/>
            <a:ext cx="8204200" cy="5103812"/>
          </a:xfrm>
        </p:spPr>
        <p:txBody>
          <a:bodyPr/>
          <a:lstStyle/>
          <a:p>
            <a:pPr eaLnBrk="1" hangingPunct="1">
              <a:spcBef>
                <a:spcPct val="60000"/>
              </a:spcBef>
            </a:pPr>
            <a:r>
              <a:rPr lang="en-US" altLang="ar-AE" dirty="0"/>
              <a:t>Allows you to trace the execution of a program</a:t>
            </a:r>
          </a:p>
          <a:p>
            <a:pPr eaLnBrk="1" hangingPunct="1">
              <a:spcBef>
                <a:spcPct val="60000"/>
              </a:spcBef>
            </a:pPr>
            <a:r>
              <a:rPr lang="en-US" altLang="ar-AE" dirty="0"/>
              <a:t>Allows you to view code, memory, registers, etc.</a:t>
            </a:r>
          </a:p>
        </p:txBody>
      </p:sp>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 y="3108325"/>
            <a:ext cx="2819400"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5175" y="3108325"/>
            <a:ext cx="1828800"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Rectangle 6"/>
          <p:cNvSpPr>
            <a:spLocks noChangeArrowheads="1"/>
          </p:cNvSpPr>
          <p:nvPr/>
        </p:nvSpPr>
        <p:spPr bwMode="auto">
          <a:xfrm>
            <a:off x="0" y="263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21511" name="Rectangle 7"/>
          <p:cNvSpPr>
            <a:spLocks noChangeArrowheads="1"/>
          </p:cNvSpPr>
          <p:nvPr/>
        </p:nvSpPr>
        <p:spPr bwMode="auto">
          <a:xfrm>
            <a:off x="4457700" y="3368675"/>
            <a:ext cx="2270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200">
                <a:cs typeface="Times New Roman" panose="02020603050405020304" pitchFamily="18" charset="0"/>
              </a:rPr>
              <a:t> </a:t>
            </a:r>
            <a:endParaRPr lang="en-US" altLang="ar-AE"/>
          </a:p>
        </p:txBody>
      </p:sp>
      <p:pic>
        <p:nvPicPr>
          <p:cNvPr id="2151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1113" y="4270375"/>
            <a:ext cx="3571875"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مستطيل 8"/>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74638"/>
            <a:ext cx="8229600" cy="792162"/>
          </a:xfrm>
        </p:spPr>
        <p:txBody>
          <a:bodyPr/>
          <a:lstStyle/>
          <a:p>
            <a:pPr eaLnBrk="1" hangingPunct="1"/>
            <a:r>
              <a:rPr lang="en-US" altLang="ar-AE"/>
              <a:t>Data Representation</a:t>
            </a:r>
          </a:p>
        </p:txBody>
      </p:sp>
      <p:sp>
        <p:nvSpPr>
          <p:cNvPr id="27651" name="Rectangle 3"/>
          <p:cNvSpPr>
            <a:spLocks noGrp="1" noChangeArrowheads="1"/>
          </p:cNvSpPr>
          <p:nvPr>
            <p:ph type="body" idx="1"/>
          </p:nvPr>
        </p:nvSpPr>
        <p:spPr>
          <a:xfrm>
            <a:off x="1022350" y="1239838"/>
            <a:ext cx="7408863" cy="5046662"/>
          </a:xfrm>
        </p:spPr>
        <p:txBody>
          <a:bodyPr/>
          <a:lstStyle/>
          <a:p>
            <a:pPr eaLnBrk="1" hangingPunct="1"/>
            <a:r>
              <a:rPr lang="en-US" altLang="ar-AE"/>
              <a:t>Binary Numbers</a:t>
            </a:r>
          </a:p>
          <a:p>
            <a:pPr eaLnBrk="1" hangingPunct="1"/>
            <a:r>
              <a:rPr lang="en-US" altLang="ar-AE"/>
              <a:t>Hexadecimal Numbers</a:t>
            </a:r>
          </a:p>
          <a:p>
            <a:pPr eaLnBrk="1" hangingPunct="1"/>
            <a:r>
              <a:rPr lang="en-US" altLang="ar-AE"/>
              <a:t>Base Conversions</a:t>
            </a:r>
          </a:p>
          <a:p>
            <a:pPr eaLnBrk="1" hangingPunct="1"/>
            <a:r>
              <a:rPr lang="en-US" altLang="ar-AE"/>
              <a:t>Integer Storage Sizes</a:t>
            </a:r>
          </a:p>
          <a:p>
            <a:pPr eaLnBrk="1" hangingPunct="1"/>
            <a:r>
              <a:rPr lang="en-US" altLang="ar-AE"/>
              <a:t>Binary and Hexadecimal Addition</a:t>
            </a:r>
          </a:p>
          <a:p>
            <a:pPr eaLnBrk="1" hangingPunct="1"/>
            <a:r>
              <a:rPr lang="en-US" altLang="ar-AE"/>
              <a:t>Signed Integers and 2's Complement Notation</a:t>
            </a:r>
          </a:p>
          <a:p>
            <a:pPr eaLnBrk="1" hangingPunct="1"/>
            <a:r>
              <a:rPr lang="en-US" altLang="ar-AE"/>
              <a:t>Binary and Hexadecimal subtraction</a:t>
            </a:r>
          </a:p>
          <a:p>
            <a:pPr eaLnBrk="1" hangingPunct="1"/>
            <a:r>
              <a:rPr lang="en-US" altLang="ar-AE"/>
              <a:t>Carry and Overflow</a:t>
            </a:r>
          </a:p>
          <a:p>
            <a:pPr eaLnBrk="1" hangingPunct="1"/>
            <a:r>
              <a:rPr lang="en-US" altLang="ar-AE"/>
              <a:t>Character Storage</a:t>
            </a:r>
          </a:p>
        </p:txBody>
      </p:sp>
      <p:sp>
        <p:nvSpPr>
          <p:cNvPr id="4" name="مستطيل 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274638"/>
            <a:ext cx="8229600" cy="792162"/>
          </a:xfrm>
        </p:spPr>
        <p:txBody>
          <a:bodyPr/>
          <a:lstStyle/>
          <a:p>
            <a:pPr eaLnBrk="1" hangingPunct="1"/>
            <a:r>
              <a:rPr lang="en-US" altLang="ar-AE"/>
              <a:t>Binary Numbers</a:t>
            </a:r>
          </a:p>
        </p:txBody>
      </p:sp>
      <p:sp>
        <p:nvSpPr>
          <p:cNvPr id="28675" name="Rectangle 3"/>
          <p:cNvSpPr>
            <a:spLocks noGrp="1" noChangeArrowheads="1"/>
          </p:cNvSpPr>
          <p:nvPr>
            <p:ph type="body" idx="1"/>
          </p:nvPr>
        </p:nvSpPr>
        <p:spPr>
          <a:xfrm>
            <a:off x="1666875" y="1665288"/>
            <a:ext cx="5326063" cy="3836987"/>
          </a:xfrm>
        </p:spPr>
        <p:txBody>
          <a:bodyPr/>
          <a:lstStyle/>
          <a:p>
            <a:pPr eaLnBrk="1" hangingPunct="1"/>
            <a:r>
              <a:rPr lang="en-US" altLang="ar-AE"/>
              <a:t>Digits are 1 and 0</a:t>
            </a:r>
          </a:p>
          <a:p>
            <a:pPr lvl="1" eaLnBrk="1" hangingPunct="1"/>
            <a:r>
              <a:rPr lang="en-US" altLang="ar-AE"/>
              <a:t>1 = true</a:t>
            </a:r>
          </a:p>
          <a:p>
            <a:pPr lvl="1" eaLnBrk="1" hangingPunct="1"/>
            <a:r>
              <a:rPr lang="en-US" altLang="ar-AE"/>
              <a:t>0 = false</a:t>
            </a:r>
          </a:p>
          <a:p>
            <a:pPr eaLnBrk="1" hangingPunct="1"/>
            <a:r>
              <a:rPr lang="en-US" altLang="ar-AE"/>
              <a:t>MSB – most significant bit</a:t>
            </a:r>
          </a:p>
          <a:p>
            <a:pPr eaLnBrk="1" hangingPunct="1"/>
            <a:r>
              <a:rPr lang="en-US" altLang="ar-AE"/>
              <a:t>LSB – least significant bit</a:t>
            </a:r>
          </a:p>
          <a:p>
            <a:pPr eaLnBrk="1" hangingPunct="1"/>
            <a:r>
              <a:rPr lang="en-US" altLang="ar-AE"/>
              <a:t>Bit numbering:</a:t>
            </a:r>
          </a:p>
        </p:txBody>
      </p:sp>
      <p:graphicFrame>
        <p:nvGraphicFramePr>
          <p:cNvPr id="28676" name="Object 4"/>
          <p:cNvGraphicFramePr>
            <a:graphicFrameLocks noChangeAspect="1"/>
          </p:cNvGraphicFramePr>
          <p:nvPr/>
        </p:nvGraphicFramePr>
        <p:xfrm>
          <a:off x="2843213" y="4868863"/>
          <a:ext cx="3200400" cy="923925"/>
        </p:xfrm>
        <a:graphic>
          <a:graphicData uri="http://schemas.openxmlformats.org/presentationml/2006/ole">
            <mc:AlternateContent xmlns:mc="http://schemas.openxmlformats.org/markup-compatibility/2006">
              <mc:Choice xmlns:v="urn:schemas-microsoft-com:vml" Requires="v">
                <p:oleObj spid="_x0000_s28694" name="VISIO" r:id="rId3" imgW="1929384" imgH="556260" progId="Visio.Drawing.6">
                  <p:embed/>
                </p:oleObj>
              </mc:Choice>
              <mc:Fallback>
                <p:oleObj name="VISIO" r:id="rId3" imgW="1929384" imgH="55626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4868863"/>
                        <a:ext cx="3200400" cy="9239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مستطيل 4"/>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274638"/>
            <a:ext cx="8229600" cy="792162"/>
          </a:xfrm>
        </p:spPr>
        <p:txBody>
          <a:bodyPr/>
          <a:lstStyle/>
          <a:p>
            <a:pPr eaLnBrk="1" hangingPunct="1"/>
            <a:r>
              <a:rPr lang="en-US" altLang="ar-AE"/>
              <a:t>Binary Numbers</a:t>
            </a:r>
          </a:p>
        </p:txBody>
      </p:sp>
      <p:sp>
        <p:nvSpPr>
          <p:cNvPr id="29699" name="Rectangle 3"/>
          <p:cNvSpPr>
            <a:spLocks noGrp="1" noChangeArrowheads="1"/>
          </p:cNvSpPr>
          <p:nvPr>
            <p:ph type="body" idx="1"/>
          </p:nvPr>
        </p:nvSpPr>
        <p:spPr>
          <a:xfrm>
            <a:off x="457200" y="1404938"/>
            <a:ext cx="5567363" cy="958850"/>
          </a:xfrm>
        </p:spPr>
        <p:txBody>
          <a:bodyPr/>
          <a:lstStyle/>
          <a:p>
            <a:pPr eaLnBrk="1" hangingPunct="1"/>
            <a:r>
              <a:rPr lang="en-US" altLang="ar-AE" sz="2000"/>
              <a:t>Each digit (bit) is either 1 or 0</a:t>
            </a:r>
          </a:p>
          <a:p>
            <a:pPr eaLnBrk="1" hangingPunct="1"/>
            <a:r>
              <a:rPr lang="en-US" altLang="ar-AE" sz="2000"/>
              <a:t>Each bit represents a power of 2:</a:t>
            </a:r>
          </a:p>
        </p:txBody>
      </p:sp>
      <p:graphicFrame>
        <p:nvGraphicFramePr>
          <p:cNvPr id="29700" name="Object 4"/>
          <p:cNvGraphicFramePr>
            <a:graphicFrameLocks noChangeAspect="1"/>
          </p:cNvGraphicFramePr>
          <p:nvPr/>
        </p:nvGraphicFramePr>
        <p:xfrm>
          <a:off x="5181600" y="1371600"/>
          <a:ext cx="2895600" cy="766763"/>
        </p:xfrm>
        <a:graphic>
          <a:graphicData uri="http://schemas.openxmlformats.org/presentationml/2006/ole">
            <mc:AlternateContent xmlns:mc="http://schemas.openxmlformats.org/markup-compatibility/2006">
              <mc:Choice xmlns:v="urn:schemas-microsoft-com:vml" Requires="v">
                <p:oleObj spid="_x0000_s29721" name="VISIO" r:id="rId3" imgW="1792224" imgH="449580" progId="Visio.Drawing.6">
                  <p:embed/>
                </p:oleObj>
              </mc:Choice>
              <mc:Fallback>
                <p:oleObj name="VISIO" r:id="rId3" imgW="1792224" imgH="44958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2777" t="-11035" r="-2777"/>
                      <a:stretch>
                        <a:fillRect/>
                      </a:stretch>
                    </p:blipFill>
                    <p:spPr bwMode="auto">
                      <a:xfrm>
                        <a:off x="5181600" y="1371600"/>
                        <a:ext cx="2895600" cy="76676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97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0688" y="2461280"/>
            <a:ext cx="6127750" cy="36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2" name="Text Box 6"/>
          <p:cNvSpPr txBox="1">
            <a:spLocks noChangeArrowheads="1"/>
          </p:cNvSpPr>
          <p:nvPr/>
        </p:nvSpPr>
        <p:spPr bwMode="auto">
          <a:xfrm>
            <a:off x="827088" y="3313113"/>
            <a:ext cx="21336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100"/>
              <a:t>Every binary number is a sum of powers of 2</a:t>
            </a:r>
          </a:p>
        </p:txBody>
      </p:sp>
      <p:sp>
        <p:nvSpPr>
          <p:cNvPr id="2" name="TextBox 1">
            <a:extLst>
              <a:ext uri="{FF2B5EF4-FFF2-40B4-BE49-F238E27FC236}">
                <a16:creationId xmlns:a16="http://schemas.microsoft.com/office/drawing/2014/main" id="{1BEC471C-99D1-43E8-A169-594FEEB4C3A6}"/>
              </a:ext>
            </a:extLst>
          </p:cNvPr>
          <p:cNvSpPr txBox="1"/>
          <p:nvPr/>
        </p:nvSpPr>
        <p:spPr>
          <a:xfrm>
            <a:off x="668446" y="6291917"/>
            <a:ext cx="4584483" cy="52322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2800" dirty="0"/>
              <a:t>You have to be quick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274638"/>
            <a:ext cx="8229600" cy="792162"/>
          </a:xfrm>
        </p:spPr>
        <p:txBody>
          <a:bodyPr/>
          <a:lstStyle/>
          <a:p>
            <a:pPr eaLnBrk="1" hangingPunct="1"/>
            <a:r>
              <a:rPr lang="en-US" altLang="ar-AE"/>
              <a:t>Converting Binary to Decimal</a:t>
            </a:r>
          </a:p>
        </p:txBody>
      </p:sp>
      <p:sp>
        <p:nvSpPr>
          <p:cNvPr id="30723" name="Rectangle 3"/>
          <p:cNvSpPr>
            <a:spLocks noGrp="1" noChangeArrowheads="1"/>
          </p:cNvSpPr>
          <p:nvPr>
            <p:ph type="body" idx="1"/>
          </p:nvPr>
        </p:nvSpPr>
        <p:spPr>
          <a:xfrm>
            <a:off x="482600" y="1371600"/>
            <a:ext cx="8153400" cy="4114800"/>
          </a:xfrm>
        </p:spPr>
        <p:txBody>
          <a:bodyPr/>
          <a:lstStyle/>
          <a:p>
            <a:pPr marL="114300" indent="0" eaLnBrk="1" hangingPunct="1">
              <a:spcBef>
                <a:spcPts val="600"/>
              </a:spcBef>
              <a:spcAft>
                <a:spcPts val="600"/>
              </a:spcAft>
              <a:buFont typeface="Wingdings" panose="05000000000000000000" pitchFamily="2" charset="2"/>
              <a:buNone/>
            </a:pPr>
            <a:r>
              <a:rPr lang="en-US" altLang="ar-AE"/>
              <a:t>Weighted positional notation shows how to calculate the decimal value of each binary bit:</a:t>
            </a:r>
            <a:endParaRPr lang="en-US" altLang="ar-AE" i="1"/>
          </a:p>
          <a:p>
            <a:pPr marL="114300" indent="0" eaLnBrk="1" hangingPunct="1">
              <a:spcBef>
                <a:spcPts val="600"/>
              </a:spcBef>
              <a:spcAft>
                <a:spcPts val="600"/>
              </a:spcAft>
              <a:buFont typeface="Wingdings" panose="05000000000000000000" pitchFamily="2" charset="2"/>
              <a:buNone/>
            </a:pPr>
            <a:r>
              <a:rPr lang="en-US" altLang="ar-AE" i="1">
                <a:solidFill>
                  <a:schemeClr val="tx2"/>
                </a:solidFill>
                <a:latin typeface="Times New Roman" panose="02020603050405020304" pitchFamily="18" charset="0"/>
              </a:rPr>
              <a:t>Decimal</a:t>
            </a:r>
            <a:r>
              <a:rPr lang="en-US" altLang="ar-AE">
                <a:solidFill>
                  <a:schemeClr val="tx2"/>
                </a:solidFill>
                <a:latin typeface="Times New Roman" panose="02020603050405020304" pitchFamily="18" charset="0"/>
              </a:rPr>
              <a:t> = (</a:t>
            </a:r>
            <a:r>
              <a:rPr lang="en-US" altLang="ar-AE" i="1">
                <a:solidFill>
                  <a:schemeClr val="tx2"/>
                </a:solidFill>
                <a:latin typeface="Times New Roman" panose="02020603050405020304" pitchFamily="18" charset="0"/>
              </a:rPr>
              <a:t>d</a:t>
            </a:r>
            <a:r>
              <a:rPr lang="en-US" altLang="ar-AE" i="1" baseline="-25000">
                <a:solidFill>
                  <a:schemeClr val="tx2"/>
                </a:solidFill>
                <a:latin typeface="Times New Roman" panose="02020603050405020304" pitchFamily="18" charset="0"/>
              </a:rPr>
              <a:t>n-1</a:t>
            </a:r>
            <a:r>
              <a:rPr lang="en-US" altLang="ar-AE">
                <a:solidFill>
                  <a:schemeClr val="tx2"/>
                </a:solidFill>
                <a:latin typeface="Times New Roman" panose="02020603050405020304" pitchFamily="18" charset="0"/>
              </a:rPr>
              <a:t> </a:t>
            </a:r>
            <a:r>
              <a:rPr lang="en-US" altLang="ar-AE">
                <a:solidFill>
                  <a:schemeClr val="tx2"/>
                </a:solidFill>
                <a:latin typeface="Symbol" panose="05050102010706020507" pitchFamily="18" charset="2"/>
                <a:sym typeface="Symbol" panose="05050102010706020507" pitchFamily="18" charset="2"/>
              </a:rPr>
              <a:t></a:t>
            </a:r>
            <a:r>
              <a:rPr lang="en-US" altLang="ar-AE">
                <a:solidFill>
                  <a:schemeClr val="tx2"/>
                </a:solidFill>
                <a:latin typeface="Symbol" panose="05050102010706020507" pitchFamily="18" charset="2"/>
              </a:rPr>
              <a:t> </a:t>
            </a:r>
            <a:r>
              <a:rPr lang="en-US" altLang="ar-AE">
                <a:solidFill>
                  <a:schemeClr val="tx2"/>
                </a:solidFill>
                <a:latin typeface="Times New Roman" panose="02020603050405020304" pitchFamily="18" charset="0"/>
              </a:rPr>
              <a:t>2</a:t>
            </a:r>
            <a:r>
              <a:rPr lang="en-US" altLang="ar-AE" i="1" baseline="30000">
                <a:solidFill>
                  <a:schemeClr val="tx2"/>
                </a:solidFill>
                <a:latin typeface="Times New Roman" panose="02020603050405020304" pitchFamily="18" charset="0"/>
              </a:rPr>
              <a:t>n</a:t>
            </a:r>
            <a:r>
              <a:rPr lang="en-US" altLang="ar-AE" baseline="30000">
                <a:solidFill>
                  <a:schemeClr val="tx2"/>
                </a:solidFill>
                <a:latin typeface="Times New Roman" panose="02020603050405020304" pitchFamily="18" charset="0"/>
              </a:rPr>
              <a:t>-1</a:t>
            </a:r>
            <a:r>
              <a:rPr lang="en-US" altLang="ar-AE">
                <a:solidFill>
                  <a:schemeClr val="tx2"/>
                </a:solidFill>
                <a:latin typeface="Times New Roman" panose="02020603050405020304" pitchFamily="18" charset="0"/>
              </a:rPr>
              <a:t>) </a:t>
            </a:r>
            <a:r>
              <a:rPr lang="en-US" altLang="ar-AE">
                <a:solidFill>
                  <a:schemeClr val="tx2"/>
                </a:solidFill>
                <a:latin typeface="Symbol" panose="05050102010706020507" pitchFamily="18" charset="2"/>
              </a:rPr>
              <a:t>+</a:t>
            </a:r>
            <a:r>
              <a:rPr lang="en-US" altLang="ar-AE">
                <a:solidFill>
                  <a:schemeClr val="tx2"/>
                </a:solidFill>
                <a:latin typeface="Times New Roman" panose="02020603050405020304" pitchFamily="18" charset="0"/>
              </a:rPr>
              <a:t> (</a:t>
            </a:r>
            <a:r>
              <a:rPr lang="en-US" altLang="ar-AE" i="1">
                <a:solidFill>
                  <a:schemeClr val="tx2"/>
                </a:solidFill>
                <a:latin typeface="Times New Roman" panose="02020603050405020304" pitchFamily="18" charset="0"/>
              </a:rPr>
              <a:t>d</a:t>
            </a:r>
            <a:r>
              <a:rPr lang="en-US" altLang="ar-AE" i="1" baseline="-25000">
                <a:solidFill>
                  <a:schemeClr val="tx2"/>
                </a:solidFill>
                <a:latin typeface="Times New Roman" panose="02020603050405020304" pitchFamily="18" charset="0"/>
              </a:rPr>
              <a:t>n-2</a:t>
            </a:r>
            <a:r>
              <a:rPr lang="en-US" altLang="ar-AE">
                <a:solidFill>
                  <a:schemeClr val="tx2"/>
                </a:solidFill>
                <a:latin typeface="Times New Roman" panose="02020603050405020304" pitchFamily="18" charset="0"/>
              </a:rPr>
              <a:t> </a:t>
            </a:r>
            <a:r>
              <a:rPr lang="en-US" altLang="ar-AE">
                <a:solidFill>
                  <a:schemeClr val="tx2"/>
                </a:solidFill>
                <a:latin typeface="Symbol" panose="05050102010706020507" pitchFamily="18" charset="2"/>
                <a:sym typeface="Symbol" panose="05050102010706020507" pitchFamily="18" charset="2"/>
              </a:rPr>
              <a:t></a:t>
            </a:r>
            <a:r>
              <a:rPr lang="en-US" altLang="ar-AE">
                <a:solidFill>
                  <a:schemeClr val="tx2"/>
                </a:solidFill>
                <a:latin typeface="Times New Roman" panose="02020603050405020304" pitchFamily="18" charset="0"/>
              </a:rPr>
              <a:t> 2</a:t>
            </a:r>
            <a:r>
              <a:rPr lang="en-US" altLang="ar-AE" i="1" baseline="30000">
                <a:solidFill>
                  <a:schemeClr val="tx2"/>
                </a:solidFill>
                <a:latin typeface="Times New Roman" panose="02020603050405020304" pitchFamily="18" charset="0"/>
              </a:rPr>
              <a:t>n</a:t>
            </a:r>
            <a:r>
              <a:rPr lang="en-US" altLang="ar-AE" baseline="30000">
                <a:solidFill>
                  <a:schemeClr val="tx2"/>
                </a:solidFill>
                <a:latin typeface="Times New Roman" panose="02020603050405020304" pitchFamily="18" charset="0"/>
              </a:rPr>
              <a:t>-2</a:t>
            </a:r>
            <a:r>
              <a:rPr lang="en-US" altLang="ar-AE">
                <a:solidFill>
                  <a:schemeClr val="tx2"/>
                </a:solidFill>
                <a:latin typeface="Times New Roman" panose="02020603050405020304" pitchFamily="18" charset="0"/>
              </a:rPr>
              <a:t>) </a:t>
            </a:r>
            <a:r>
              <a:rPr lang="en-US" altLang="ar-AE">
                <a:solidFill>
                  <a:schemeClr val="tx2"/>
                </a:solidFill>
                <a:latin typeface="Symbol" panose="05050102010706020507" pitchFamily="18" charset="2"/>
              </a:rPr>
              <a:t>+</a:t>
            </a:r>
            <a:r>
              <a:rPr lang="en-US" altLang="ar-AE">
                <a:solidFill>
                  <a:schemeClr val="tx2"/>
                </a:solidFill>
                <a:latin typeface="Times New Roman" panose="02020603050405020304" pitchFamily="18" charset="0"/>
              </a:rPr>
              <a:t> ... </a:t>
            </a:r>
            <a:r>
              <a:rPr lang="en-US" altLang="ar-AE">
                <a:solidFill>
                  <a:schemeClr val="tx2"/>
                </a:solidFill>
                <a:latin typeface="Symbol" panose="05050102010706020507" pitchFamily="18" charset="2"/>
              </a:rPr>
              <a:t>+</a:t>
            </a:r>
            <a:r>
              <a:rPr lang="en-US" altLang="ar-AE">
                <a:solidFill>
                  <a:schemeClr val="tx2"/>
                </a:solidFill>
                <a:latin typeface="Times New Roman" panose="02020603050405020304" pitchFamily="18" charset="0"/>
              </a:rPr>
              <a:t> (</a:t>
            </a:r>
            <a:r>
              <a:rPr lang="en-US" altLang="ar-AE" i="1">
                <a:solidFill>
                  <a:schemeClr val="tx2"/>
                </a:solidFill>
                <a:latin typeface="Times New Roman" panose="02020603050405020304" pitchFamily="18" charset="0"/>
              </a:rPr>
              <a:t>d</a:t>
            </a:r>
            <a:r>
              <a:rPr lang="en-US" altLang="ar-AE" i="1" baseline="-25000">
                <a:solidFill>
                  <a:schemeClr val="tx2"/>
                </a:solidFill>
                <a:latin typeface="Times New Roman" panose="02020603050405020304" pitchFamily="18" charset="0"/>
              </a:rPr>
              <a:t>1</a:t>
            </a:r>
            <a:r>
              <a:rPr lang="en-US" altLang="ar-AE">
                <a:solidFill>
                  <a:schemeClr val="tx2"/>
                </a:solidFill>
                <a:latin typeface="Times New Roman" panose="02020603050405020304" pitchFamily="18" charset="0"/>
              </a:rPr>
              <a:t> </a:t>
            </a:r>
            <a:r>
              <a:rPr lang="en-US" altLang="ar-AE">
                <a:solidFill>
                  <a:schemeClr val="tx2"/>
                </a:solidFill>
                <a:latin typeface="Times New Roman" panose="02020603050405020304" pitchFamily="18" charset="0"/>
                <a:sym typeface="Symbol" panose="05050102010706020507" pitchFamily="18" charset="2"/>
              </a:rPr>
              <a:t></a:t>
            </a:r>
            <a:r>
              <a:rPr lang="en-US" altLang="ar-AE">
                <a:solidFill>
                  <a:schemeClr val="tx2"/>
                </a:solidFill>
                <a:latin typeface="Times New Roman" panose="02020603050405020304" pitchFamily="18" charset="0"/>
              </a:rPr>
              <a:t> 2</a:t>
            </a:r>
            <a:r>
              <a:rPr lang="en-US" altLang="ar-AE" baseline="30000">
                <a:solidFill>
                  <a:schemeClr val="tx2"/>
                </a:solidFill>
                <a:latin typeface="Times New Roman" panose="02020603050405020304" pitchFamily="18" charset="0"/>
              </a:rPr>
              <a:t>1</a:t>
            </a:r>
            <a:r>
              <a:rPr lang="en-US" altLang="ar-AE">
                <a:solidFill>
                  <a:schemeClr val="tx2"/>
                </a:solidFill>
                <a:latin typeface="Times New Roman" panose="02020603050405020304" pitchFamily="18" charset="0"/>
              </a:rPr>
              <a:t>) </a:t>
            </a:r>
            <a:r>
              <a:rPr lang="en-US" altLang="ar-AE">
                <a:solidFill>
                  <a:schemeClr val="tx2"/>
                </a:solidFill>
                <a:latin typeface="Symbol" panose="05050102010706020507" pitchFamily="18" charset="2"/>
              </a:rPr>
              <a:t>+</a:t>
            </a:r>
            <a:r>
              <a:rPr lang="en-US" altLang="ar-AE">
                <a:solidFill>
                  <a:schemeClr val="tx2"/>
                </a:solidFill>
                <a:latin typeface="Times New Roman" panose="02020603050405020304" pitchFamily="18" charset="0"/>
              </a:rPr>
              <a:t> (</a:t>
            </a:r>
            <a:r>
              <a:rPr lang="en-US" altLang="ar-AE" i="1">
                <a:solidFill>
                  <a:schemeClr val="tx2"/>
                </a:solidFill>
                <a:latin typeface="Times New Roman" panose="02020603050405020304" pitchFamily="18" charset="0"/>
              </a:rPr>
              <a:t>d</a:t>
            </a:r>
            <a:r>
              <a:rPr lang="en-US" altLang="ar-AE" i="1" baseline="-25000">
                <a:solidFill>
                  <a:schemeClr val="tx2"/>
                </a:solidFill>
                <a:latin typeface="Times New Roman" panose="02020603050405020304" pitchFamily="18" charset="0"/>
              </a:rPr>
              <a:t>0</a:t>
            </a:r>
            <a:r>
              <a:rPr lang="en-US" altLang="ar-AE">
                <a:solidFill>
                  <a:schemeClr val="tx2"/>
                </a:solidFill>
                <a:latin typeface="Times New Roman" panose="02020603050405020304" pitchFamily="18" charset="0"/>
              </a:rPr>
              <a:t> </a:t>
            </a:r>
            <a:r>
              <a:rPr lang="en-US" altLang="ar-AE">
                <a:solidFill>
                  <a:schemeClr val="tx2"/>
                </a:solidFill>
                <a:latin typeface="Times New Roman" panose="02020603050405020304" pitchFamily="18" charset="0"/>
                <a:sym typeface="Symbol" panose="05050102010706020507" pitchFamily="18" charset="2"/>
              </a:rPr>
              <a:t></a:t>
            </a:r>
            <a:r>
              <a:rPr lang="en-US" altLang="ar-AE">
                <a:solidFill>
                  <a:schemeClr val="tx2"/>
                </a:solidFill>
                <a:latin typeface="Times New Roman" panose="02020603050405020304" pitchFamily="18" charset="0"/>
              </a:rPr>
              <a:t> 2</a:t>
            </a:r>
            <a:r>
              <a:rPr lang="en-US" altLang="ar-AE" baseline="30000">
                <a:solidFill>
                  <a:schemeClr val="tx2"/>
                </a:solidFill>
                <a:latin typeface="Times New Roman" panose="02020603050405020304" pitchFamily="18" charset="0"/>
              </a:rPr>
              <a:t>0</a:t>
            </a:r>
            <a:r>
              <a:rPr lang="en-US" altLang="ar-AE">
                <a:solidFill>
                  <a:schemeClr val="tx2"/>
                </a:solidFill>
                <a:latin typeface="Times New Roman" panose="02020603050405020304" pitchFamily="18" charset="0"/>
              </a:rPr>
              <a:t>)</a:t>
            </a:r>
          </a:p>
          <a:p>
            <a:pPr marL="114300" indent="0" eaLnBrk="1" hangingPunct="1">
              <a:spcBef>
                <a:spcPts val="600"/>
              </a:spcBef>
              <a:spcAft>
                <a:spcPts val="600"/>
              </a:spcAft>
              <a:buFont typeface="Wingdings" panose="05000000000000000000" pitchFamily="2" charset="2"/>
              <a:buNone/>
            </a:pPr>
            <a:r>
              <a:rPr lang="en-US" altLang="ar-AE" i="1">
                <a:latin typeface="Times New Roman" panose="02020603050405020304" pitchFamily="18" charset="0"/>
                <a:cs typeface="Times New Roman" panose="02020603050405020304" pitchFamily="18" charset="0"/>
              </a:rPr>
              <a:t>d</a:t>
            </a:r>
            <a:r>
              <a:rPr lang="en-US" altLang="ar-AE">
                <a:latin typeface="Times New Roman" panose="02020603050405020304" pitchFamily="18" charset="0"/>
                <a:cs typeface="Times New Roman" panose="02020603050405020304" pitchFamily="18" charset="0"/>
              </a:rPr>
              <a:t> = binary digit</a:t>
            </a:r>
          </a:p>
          <a:p>
            <a:pPr marL="114300" indent="0" eaLnBrk="1" hangingPunct="1">
              <a:spcBef>
                <a:spcPts val="600"/>
              </a:spcBef>
              <a:spcAft>
                <a:spcPts val="600"/>
              </a:spcAft>
              <a:buFont typeface="Wingdings" panose="05000000000000000000" pitchFamily="2" charset="2"/>
              <a:buNone/>
            </a:pPr>
            <a:endParaRPr lang="en-US" altLang="ar-AE">
              <a:latin typeface="Times New Roman" panose="02020603050405020304" pitchFamily="18" charset="0"/>
              <a:cs typeface="Times New Roman" panose="02020603050405020304" pitchFamily="18" charset="0"/>
            </a:endParaRPr>
          </a:p>
          <a:p>
            <a:pPr marL="114300" indent="0" eaLnBrk="1" hangingPunct="1">
              <a:spcBef>
                <a:spcPts val="600"/>
              </a:spcBef>
              <a:spcAft>
                <a:spcPts val="600"/>
              </a:spcAft>
              <a:buFont typeface="Wingdings" panose="05000000000000000000" pitchFamily="2" charset="2"/>
              <a:buNone/>
            </a:pPr>
            <a:r>
              <a:rPr lang="en-US" altLang="ar-AE"/>
              <a:t>binary 00001001 = decimal 9:</a:t>
            </a:r>
          </a:p>
          <a:p>
            <a:pPr marL="114300" indent="0" eaLnBrk="1" hangingPunct="1">
              <a:spcBef>
                <a:spcPts val="600"/>
              </a:spcBef>
              <a:spcAft>
                <a:spcPts val="600"/>
              </a:spcAft>
              <a:buFont typeface="Wingdings" panose="05000000000000000000" pitchFamily="2" charset="2"/>
              <a:buNone/>
            </a:pPr>
            <a:r>
              <a:rPr lang="en-US" altLang="ar-AE">
                <a:latin typeface="Times New Roman" panose="02020603050405020304" pitchFamily="18" charset="0"/>
              </a:rPr>
              <a:t>	</a:t>
            </a:r>
            <a:r>
              <a:rPr lang="en-US" altLang="ar-AE"/>
              <a:t>(1 </a:t>
            </a:r>
            <a:r>
              <a:rPr lang="en-US" altLang="ar-AE">
                <a:sym typeface="Symbol" panose="05050102010706020507" pitchFamily="18" charset="2"/>
              </a:rPr>
              <a:t></a:t>
            </a:r>
            <a:r>
              <a:rPr lang="en-US" altLang="ar-AE"/>
              <a:t> 2</a:t>
            </a:r>
            <a:r>
              <a:rPr lang="en-US" altLang="ar-AE" baseline="30000"/>
              <a:t>3</a:t>
            </a:r>
            <a:r>
              <a:rPr lang="en-US" altLang="ar-AE"/>
              <a:t>) + (1 </a:t>
            </a:r>
            <a:r>
              <a:rPr lang="en-US" altLang="ar-AE">
                <a:sym typeface="Symbol" panose="05050102010706020507" pitchFamily="18" charset="2"/>
              </a:rPr>
              <a:t></a:t>
            </a:r>
            <a:r>
              <a:rPr lang="en-US" altLang="ar-AE"/>
              <a:t> 2</a:t>
            </a:r>
            <a:r>
              <a:rPr lang="en-US" altLang="ar-AE" baseline="30000"/>
              <a:t>0</a:t>
            </a:r>
            <a:r>
              <a:rPr lang="en-US" altLang="ar-AE"/>
              <a:t>) = 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74638"/>
            <a:ext cx="8229600" cy="792162"/>
          </a:xfrm>
        </p:spPr>
        <p:txBody>
          <a:bodyPr/>
          <a:lstStyle/>
          <a:p>
            <a:pPr eaLnBrk="1" hangingPunct="1"/>
            <a:r>
              <a:rPr lang="en-US" altLang="ar-AE"/>
              <a:t>Convert Unsigned Decimal to Binary</a:t>
            </a:r>
          </a:p>
        </p:txBody>
      </p:sp>
      <p:sp>
        <p:nvSpPr>
          <p:cNvPr id="31747" name="Rectangle 3"/>
          <p:cNvSpPr>
            <a:spLocks noGrp="1" noChangeArrowheads="1"/>
          </p:cNvSpPr>
          <p:nvPr>
            <p:ph type="body" idx="1"/>
          </p:nvPr>
        </p:nvSpPr>
        <p:spPr>
          <a:xfrm>
            <a:off x="457200" y="1143000"/>
            <a:ext cx="8229600" cy="1133475"/>
          </a:xfrm>
        </p:spPr>
        <p:txBody>
          <a:bodyPr/>
          <a:lstStyle/>
          <a:p>
            <a:pPr eaLnBrk="1" hangingPunct="1"/>
            <a:r>
              <a:rPr lang="en-US" altLang="ar-AE"/>
              <a:t>Repeatedly divide the decimal integer by 2. Each remainder is a binary digit in the translated value:</a:t>
            </a:r>
          </a:p>
        </p:txBody>
      </p:sp>
      <p:grpSp>
        <p:nvGrpSpPr>
          <p:cNvPr id="31748" name="Group 8"/>
          <p:cNvGrpSpPr>
            <a:grpSpLocks/>
          </p:cNvGrpSpPr>
          <p:nvPr/>
        </p:nvGrpSpPr>
        <p:grpSpPr bwMode="auto">
          <a:xfrm>
            <a:off x="850900" y="2133600"/>
            <a:ext cx="5257800" cy="3257550"/>
            <a:chOff x="1008" y="1344"/>
            <a:chExt cx="3312" cy="2052"/>
          </a:xfrm>
        </p:grpSpPr>
        <p:pic>
          <p:nvPicPr>
            <p:cNvPr id="317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 y="2208"/>
              <a:ext cx="3312" cy="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6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 y="1344"/>
              <a:ext cx="3312" cy="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24934" name="Text Box 6"/>
          <p:cNvSpPr txBox="1">
            <a:spLocks noChangeArrowheads="1"/>
          </p:cNvSpPr>
          <p:nvPr/>
        </p:nvSpPr>
        <p:spPr bwMode="auto">
          <a:xfrm>
            <a:off x="1541463" y="5562600"/>
            <a:ext cx="22098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sz="2100"/>
              <a:t>37 = 100101</a:t>
            </a:r>
          </a:p>
        </p:txBody>
      </p:sp>
      <p:grpSp>
        <p:nvGrpSpPr>
          <p:cNvPr id="124947" name="Group 19"/>
          <p:cNvGrpSpPr>
            <a:grpSpLocks/>
          </p:cNvGrpSpPr>
          <p:nvPr/>
        </p:nvGrpSpPr>
        <p:grpSpPr bwMode="auto">
          <a:xfrm>
            <a:off x="3765550" y="5099050"/>
            <a:ext cx="2706688" cy="1044575"/>
            <a:chOff x="2372" y="3212"/>
            <a:chExt cx="1705" cy="658"/>
          </a:xfrm>
        </p:grpSpPr>
        <p:sp>
          <p:nvSpPr>
            <p:cNvPr id="31758" name="Text Box 9"/>
            <p:cNvSpPr txBox="1">
              <a:spLocks noChangeArrowheads="1"/>
            </p:cNvSpPr>
            <p:nvPr/>
          </p:nvSpPr>
          <p:spPr bwMode="auto">
            <a:xfrm>
              <a:off x="2916" y="3466"/>
              <a:ext cx="116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a:solidFill>
                    <a:srgbClr val="FF0000"/>
                  </a:solidFill>
                </a:rPr>
                <a:t>stop when quotient is zero</a:t>
              </a:r>
            </a:p>
          </p:txBody>
        </p:sp>
        <p:sp>
          <p:nvSpPr>
            <p:cNvPr id="31759" name="Line 12"/>
            <p:cNvSpPr>
              <a:spLocks noChangeShapeType="1"/>
            </p:cNvSpPr>
            <p:nvPr/>
          </p:nvSpPr>
          <p:spPr bwMode="auto">
            <a:xfrm flipH="1" flipV="1">
              <a:off x="2372" y="3212"/>
              <a:ext cx="689" cy="43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SA"/>
            </a:p>
          </p:txBody>
        </p:sp>
      </p:grpSp>
      <p:grpSp>
        <p:nvGrpSpPr>
          <p:cNvPr id="124945" name="Group 17"/>
          <p:cNvGrpSpPr>
            <a:grpSpLocks/>
          </p:cNvGrpSpPr>
          <p:nvPr/>
        </p:nvGrpSpPr>
        <p:grpSpPr bwMode="auto">
          <a:xfrm>
            <a:off x="5378450" y="2679700"/>
            <a:ext cx="3455988" cy="366713"/>
            <a:chOff x="3388" y="1688"/>
            <a:chExt cx="2177" cy="231"/>
          </a:xfrm>
        </p:grpSpPr>
        <p:sp>
          <p:nvSpPr>
            <p:cNvPr id="31756" name="Line 13"/>
            <p:cNvSpPr>
              <a:spLocks noChangeShapeType="1"/>
            </p:cNvSpPr>
            <p:nvPr/>
          </p:nvSpPr>
          <p:spPr bwMode="auto">
            <a:xfrm flipH="1" flipV="1">
              <a:off x="3388" y="1833"/>
              <a:ext cx="617"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SA"/>
            </a:p>
          </p:txBody>
        </p:sp>
        <p:sp>
          <p:nvSpPr>
            <p:cNvPr id="31757" name="Text Box 14"/>
            <p:cNvSpPr txBox="1">
              <a:spLocks noChangeArrowheads="1"/>
            </p:cNvSpPr>
            <p:nvPr/>
          </p:nvSpPr>
          <p:spPr bwMode="auto">
            <a:xfrm>
              <a:off x="3787" y="1688"/>
              <a:ext cx="177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a:solidFill>
                    <a:srgbClr val="FF0000"/>
                  </a:solidFill>
                </a:rPr>
                <a:t>least significant bit</a:t>
              </a:r>
            </a:p>
          </p:txBody>
        </p:sp>
      </p:grpSp>
      <p:grpSp>
        <p:nvGrpSpPr>
          <p:cNvPr id="124946" name="Group 18"/>
          <p:cNvGrpSpPr>
            <a:grpSpLocks/>
          </p:cNvGrpSpPr>
          <p:nvPr/>
        </p:nvGrpSpPr>
        <p:grpSpPr bwMode="auto">
          <a:xfrm>
            <a:off x="5378450" y="4811713"/>
            <a:ext cx="3455988" cy="366712"/>
            <a:chOff x="3388" y="3031"/>
            <a:chExt cx="2177" cy="231"/>
          </a:xfrm>
        </p:grpSpPr>
        <p:sp>
          <p:nvSpPr>
            <p:cNvPr id="31754" name="Line 15"/>
            <p:cNvSpPr>
              <a:spLocks noChangeShapeType="1"/>
            </p:cNvSpPr>
            <p:nvPr/>
          </p:nvSpPr>
          <p:spPr bwMode="auto">
            <a:xfrm flipH="1" flipV="1">
              <a:off x="3388" y="3176"/>
              <a:ext cx="617"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SA"/>
            </a:p>
          </p:txBody>
        </p:sp>
        <p:sp>
          <p:nvSpPr>
            <p:cNvPr id="31755" name="Text Box 16"/>
            <p:cNvSpPr txBox="1">
              <a:spLocks noChangeArrowheads="1"/>
            </p:cNvSpPr>
            <p:nvPr/>
          </p:nvSpPr>
          <p:spPr bwMode="auto">
            <a:xfrm>
              <a:off x="3787" y="3031"/>
              <a:ext cx="177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a:solidFill>
                    <a:srgbClr val="FF0000"/>
                  </a:solidFill>
                </a:rPr>
                <a:t>most significant bit</a:t>
              </a:r>
            </a:p>
          </p:txBody>
        </p:sp>
      </p:grpSp>
      <p:sp>
        <p:nvSpPr>
          <p:cNvPr id="17" name="مستطيل 16"/>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24945"/>
                                        </p:tgtEl>
                                        <p:attrNameLst>
                                          <p:attrName>style.visibility</p:attrName>
                                        </p:attrNameLst>
                                      </p:cBhvr>
                                      <p:to>
                                        <p:strVal val="visible"/>
                                      </p:to>
                                    </p:set>
                                    <p:animEffect transition="in" filter="dissolve">
                                      <p:cBhvr>
                                        <p:cTn id="7" dur="500"/>
                                        <p:tgtEl>
                                          <p:spTgt spid="1249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24946"/>
                                        </p:tgtEl>
                                        <p:attrNameLst>
                                          <p:attrName>style.visibility</p:attrName>
                                        </p:attrNameLst>
                                      </p:cBhvr>
                                      <p:to>
                                        <p:strVal val="visible"/>
                                      </p:to>
                                    </p:set>
                                    <p:animEffect transition="in" filter="dissolve">
                                      <p:cBhvr>
                                        <p:cTn id="12" dur="500"/>
                                        <p:tgtEl>
                                          <p:spTgt spid="1249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24947"/>
                                        </p:tgtEl>
                                        <p:attrNameLst>
                                          <p:attrName>style.visibility</p:attrName>
                                        </p:attrNameLst>
                                      </p:cBhvr>
                                      <p:to>
                                        <p:strVal val="visible"/>
                                      </p:to>
                                    </p:set>
                                    <p:animEffect transition="in" filter="dissolve">
                                      <p:cBhvr>
                                        <p:cTn id="17" dur="500"/>
                                        <p:tgtEl>
                                          <p:spTgt spid="1249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4934"/>
                                        </p:tgtEl>
                                        <p:attrNameLst>
                                          <p:attrName>style.visibility</p:attrName>
                                        </p:attrNameLst>
                                      </p:cBhvr>
                                      <p:to>
                                        <p:strVal val="visible"/>
                                      </p:to>
                                    </p:set>
                                    <p:animEffect transition="in" filter="dissolve">
                                      <p:cBhvr>
                                        <p:cTn id="22" dur="500"/>
                                        <p:tgtEl>
                                          <p:spTgt spid="124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4"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ar-AE"/>
              <a:t>Hexadecimal Integers</a:t>
            </a:r>
          </a:p>
        </p:txBody>
      </p:sp>
      <p:pic>
        <p:nvPicPr>
          <p:cNvPr id="327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151" y="1828799"/>
            <a:ext cx="8101172" cy="453815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2" name="Text Box 4"/>
          <p:cNvSpPr txBox="1">
            <a:spLocks noChangeArrowheads="1"/>
          </p:cNvSpPr>
          <p:nvPr/>
        </p:nvSpPr>
        <p:spPr bwMode="auto">
          <a:xfrm>
            <a:off x="1143000" y="1066800"/>
            <a:ext cx="67818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100"/>
              <a:t>Binary values are represented in hexadecimal.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ar-AE"/>
              <a:t>Converting Binary to Hexadecimal</a:t>
            </a:r>
          </a:p>
        </p:txBody>
      </p:sp>
      <p:sp>
        <p:nvSpPr>
          <p:cNvPr id="33795" name="Text Box 3"/>
          <p:cNvSpPr txBox="1">
            <a:spLocks noChangeArrowheads="1"/>
          </p:cNvSpPr>
          <p:nvPr/>
        </p:nvSpPr>
        <p:spPr bwMode="auto">
          <a:xfrm>
            <a:off x="592610" y="1364944"/>
            <a:ext cx="8229600"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Char char="•"/>
            </a:pPr>
            <a:r>
              <a:rPr lang="en-US" altLang="ar-AE" sz="2800" dirty="0"/>
              <a:t>Each hexadecimal digit corresponds to 4 binary bits.</a:t>
            </a:r>
          </a:p>
          <a:p>
            <a:pPr eaLnBrk="1" hangingPunct="1">
              <a:spcBef>
                <a:spcPct val="50000"/>
              </a:spcBef>
              <a:buFontTx/>
              <a:buChar char="•"/>
            </a:pPr>
            <a:r>
              <a:rPr lang="en-US" altLang="ar-AE" sz="2800" dirty="0"/>
              <a:t>Example: Translate the binary integer 000101101010011110010100 to  hexadecimal:</a:t>
            </a:r>
          </a:p>
        </p:txBody>
      </p:sp>
      <p:pic>
        <p:nvPicPr>
          <p:cNvPr id="33796" name="Picture 4"/>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51155" y="4005071"/>
            <a:ext cx="8271055" cy="1225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مستطيل 4"/>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228600"/>
            <a:ext cx="7772400" cy="914400"/>
          </a:xfrm>
        </p:spPr>
        <p:txBody>
          <a:bodyPr/>
          <a:lstStyle/>
          <a:p>
            <a:pPr eaLnBrk="1" hangingPunct="1"/>
            <a:r>
              <a:rPr lang="en-US" altLang="ar-AE"/>
              <a:t>Converting Hexadecimal to Decimal</a:t>
            </a:r>
          </a:p>
        </p:txBody>
      </p:sp>
      <p:sp>
        <p:nvSpPr>
          <p:cNvPr id="34819" name="Rectangle 3"/>
          <p:cNvSpPr>
            <a:spLocks noGrp="1" noChangeArrowheads="1"/>
          </p:cNvSpPr>
          <p:nvPr>
            <p:ph type="body" idx="1"/>
          </p:nvPr>
        </p:nvSpPr>
        <p:spPr>
          <a:xfrm>
            <a:off x="457200" y="1404938"/>
            <a:ext cx="7974013" cy="5134840"/>
          </a:xfrm>
        </p:spPr>
        <p:txBody>
          <a:bodyPr/>
          <a:lstStyle/>
          <a:p>
            <a:pPr eaLnBrk="1" hangingPunct="1">
              <a:spcBef>
                <a:spcPct val="50000"/>
              </a:spcBef>
            </a:pPr>
            <a:r>
              <a:rPr lang="en-US" altLang="ar-AE" dirty="0"/>
              <a:t>Multiply each digit by its corresponding power of 16:</a:t>
            </a:r>
          </a:p>
          <a:p>
            <a:pPr eaLnBrk="1" hangingPunct="1">
              <a:spcBef>
                <a:spcPct val="50000"/>
              </a:spcBef>
              <a:buFont typeface="Wingdings" panose="05000000000000000000" pitchFamily="2" charset="2"/>
              <a:buNone/>
            </a:pPr>
            <a:r>
              <a:rPr lang="en-US" altLang="ar-AE" sz="2800" i="1" dirty="0">
                <a:latin typeface="Times New Roman" panose="02020603050405020304" pitchFamily="18" charset="0"/>
                <a:cs typeface="Times New Roman" panose="02020603050405020304" pitchFamily="18" charset="0"/>
              </a:rPr>
              <a:t>	</a:t>
            </a:r>
            <a:r>
              <a:rPr lang="en-US" altLang="ar-AE" i="1" dirty="0">
                <a:latin typeface="Times New Roman" panose="02020603050405020304" pitchFamily="18" charset="0"/>
                <a:cs typeface="Times New Roman" panose="02020603050405020304" pitchFamily="18" charset="0"/>
              </a:rPr>
              <a:t>Decimal</a:t>
            </a:r>
            <a:r>
              <a:rPr lang="en-US" altLang="ar-AE" dirty="0">
                <a:latin typeface="Times New Roman" panose="02020603050405020304" pitchFamily="18" charset="0"/>
                <a:cs typeface="Times New Roman" panose="02020603050405020304" pitchFamily="18" charset="0"/>
              </a:rPr>
              <a:t> = (</a:t>
            </a:r>
            <a:r>
              <a:rPr lang="en-US" altLang="ar-AE" i="1" dirty="0">
                <a:latin typeface="Times New Roman" panose="02020603050405020304" pitchFamily="18" charset="0"/>
                <a:cs typeface="Times New Roman" panose="02020603050405020304" pitchFamily="18" charset="0"/>
              </a:rPr>
              <a:t>d</a:t>
            </a:r>
            <a:r>
              <a:rPr lang="en-US" altLang="ar-AE" baseline="-25000" dirty="0">
                <a:latin typeface="Times New Roman" panose="02020603050405020304" pitchFamily="18" charset="0"/>
                <a:cs typeface="Times New Roman" panose="02020603050405020304" pitchFamily="18" charset="0"/>
              </a:rPr>
              <a:t>3</a:t>
            </a:r>
            <a:r>
              <a:rPr lang="en-US" altLang="ar-AE" dirty="0">
                <a:latin typeface="Times New Roman" panose="02020603050405020304" pitchFamily="18" charset="0"/>
                <a:cs typeface="Times New Roman" panose="02020603050405020304" pitchFamily="18" charset="0"/>
              </a:rPr>
              <a:t> </a:t>
            </a:r>
            <a:r>
              <a:rPr lang="en-US" altLang="ar-AE" dirty="0">
                <a:latin typeface="Times New Roman" panose="02020603050405020304" pitchFamily="18" charset="0"/>
                <a:cs typeface="Times New Roman" panose="02020603050405020304" pitchFamily="18" charset="0"/>
                <a:sym typeface="Symbol" panose="05050102010706020507" pitchFamily="18" charset="2"/>
              </a:rPr>
              <a:t></a:t>
            </a:r>
            <a:r>
              <a:rPr lang="en-US" altLang="ar-AE" dirty="0">
                <a:latin typeface="Times New Roman" panose="02020603050405020304" pitchFamily="18" charset="0"/>
                <a:cs typeface="Times New Roman" panose="02020603050405020304" pitchFamily="18" charset="0"/>
              </a:rPr>
              <a:t> 16</a:t>
            </a:r>
            <a:r>
              <a:rPr lang="en-US" altLang="ar-AE" baseline="30000" dirty="0">
                <a:latin typeface="Times New Roman" panose="02020603050405020304" pitchFamily="18" charset="0"/>
                <a:cs typeface="Times New Roman" panose="02020603050405020304" pitchFamily="18" charset="0"/>
              </a:rPr>
              <a:t>3</a:t>
            </a:r>
            <a:r>
              <a:rPr lang="en-US" altLang="ar-AE" dirty="0">
                <a:latin typeface="Times New Roman" panose="02020603050405020304" pitchFamily="18" charset="0"/>
                <a:cs typeface="Times New Roman" panose="02020603050405020304" pitchFamily="18" charset="0"/>
              </a:rPr>
              <a:t>) + (</a:t>
            </a:r>
            <a:r>
              <a:rPr lang="en-US" altLang="ar-AE" i="1" dirty="0">
                <a:latin typeface="Times New Roman" panose="02020603050405020304" pitchFamily="18" charset="0"/>
                <a:cs typeface="Times New Roman" panose="02020603050405020304" pitchFamily="18" charset="0"/>
              </a:rPr>
              <a:t>d</a:t>
            </a:r>
            <a:r>
              <a:rPr lang="en-US" altLang="ar-AE" baseline="-25000" dirty="0">
                <a:latin typeface="Times New Roman" panose="02020603050405020304" pitchFamily="18" charset="0"/>
                <a:cs typeface="Times New Roman" panose="02020603050405020304" pitchFamily="18" charset="0"/>
              </a:rPr>
              <a:t>2</a:t>
            </a:r>
            <a:r>
              <a:rPr lang="en-US" altLang="ar-AE" dirty="0">
                <a:latin typeface="Times New Roman" panose="02020603050405020304" pitchFamily="18" charset="0"/>
                <a:cs typeface="Times New Roman" panose="02020603050405020304" pitchFamily="18" charset="0"/>
              </a:rPr>
              <a:t> </a:t>
            </a:r>
            <a:r>
              <a:rPr lang="en-US" altLang="ar-AE" dirty="0">
                <a:latin typeface="Times New Roman" panose="02020603050405020304" pitchFamily="18" charset="0"/>
                <a:cs typeface="Times New Roman" panose="02020603050405020304" pitchFamily="18" charset="0"/>
                <a:sym typeface="Symbol" panose="05050102010706020507" pitchFamily="18" charset="2"/>
              </a:rPr>
              <a:t></a:t>
            </a:r>
            <a:r>
              <a:rPr lang="en-US" altLang="ar-AE" dirty="0">
                <a:latin typeface="Times New Roman" panose="02020603050405020304" pitchFamily="18" charset="0"/>
                <a:cs typeface="Times New Roman" panose="02020603050405020304" pitchFamily="18" charset="0"/>
              </a:rPr>
              <a:t> 16</a:t>
            </a:r>
            <a:r>
              <a:rPr lang="en-US" altLang="ar-AE" baseline="30000" dirty="0">
                <a:latin typeface="Times New Roman" panose="02020603050405020304" pitchFamily="18" charset="0"/>
                <a:cs typeface="Times New Roman" panose="02020603050405020304" pitchFamily="18" charset="0"/>
              </a:rPr>
              <a:t>2</a:t>
            </a:r>
            <a:r>
              <a:rPr lang="en-US" altLang="ar-AE" dirty="0">
                <a:latin typeface="Times New Roman" panose="02020603050405020304" pitchFamily="18" charset="0"/>
                <a:cs typeface="Times New Roman" panose="02020603050405020304" pitchFamily="18" charset="0"/>
              </a:rPr>
              <a:t>) + (</a:t>
            </a:r>
            <a:r>
              <a:rPr lang="en-US" altLang="ar-AE" i="1" dirty="0">
                <a:latin typeface="Times New Roman" panose="02020603050405020304" pitchFamily="18" charset="0"/>
                <a:cs typeface="Times New Roman" panose="02020603050405020304" pitchFamily="18" charset="0"/>
              </a:rPr>
              <a:t>d</a:t>
            </a:r>
            <a:r>
              <a:rPr lang="en-US" altLang="ar-AE" baseline="-25000" dirty="0">
                <a:latin typeface="Times New Roman" panose="02020603050405020304" pitchFamily="18" charset="0"/>
                <a:cs typeface="Times New Roman" panose="02020603050405020304" pitchFamily="18" charset="0"/>
              </a:rPr>
              <a:t>1</a:t>
            </a:r>
            <a:r>
              <a:rPr lang="en-US" altLang="ar-AE" dirty="0">
                <a:latin typeface="Times New Roman" panose="02020603050405020304" pitchFamily="18" charset="0"/>
                <a:cs typeface="Times New Roman" panose="02020603050405020304" pitchFamily="18" charset="0"/>
              </a:rPr>
              <a:t> </a:t>
            </a:r>
            <a:r>
              <a:rPr lang="en-US" altLang="ar-AE" dirty="0">
                <a:latin typeface="Times New Roman" panose="02020603050405020304" pitchFamily="18" charset="0"/>
                <a:cs typeface="Times New Roman" panose="02020603050405020304" pitchFamily="18" charset="0"/>
                <a:sym typeface="Symbol" panose="05050102010706020507" pitchFamily="18" charset="2"/>
              </a:rPr>
              <a:t></a:t>
            </a:r>
            <a:r>
              <a:rPr lang="en-US" altLang="ar-AE" dirty="0">
                <a:latin typeface="Times New Roman" panose="02020603050405020304" pitchFamily="18" charset="0"/>
                <a:cs typeface="Times New Roman" panose="02020603050405020304" pitchFamily="18" charset="0"/>
              </a:rPr>
              <a:t> 16</a:t>
            </a:r>
            <a:r>
              <a:rPr lang="en-US" altLang="ar-AE" baseline="30000" dirty="0">
                <a:latin typeface="Times New Roman" panose="02020603050405020304" pitchFamily="18" charset="0"/>
                <a:cs typeface="Times New Roman" panose="02020603050405020304" pitchFamily="18" charset="0"/>
              </a:rPr>
              <a:t>1</a:t>
            </a:r>
            <a:r>
              <a:rPr lang="en-US" altLang="ar-AE" dirty="0">
                <a:latin typeface="Times New Roman" panose="02020603050405020304" pitchFamily="18" charset="0"/>
                <a:cs typeface="Times New Roman" panose="02020603050405020304" pitchFamily="18" charset="0"/>
              </a:rPr>
              <a:t>) + (</a:t>
            </a:r>
            <a:r>
              <a:rPr lang="en-US" altLang="ar-AE" i="1" dirty="0">
                <a:latin typeface="Times New Roman" panose="02020603050405020304" pitchFamily="18" charset="0"/>
                <a:cs typeface="Times New Roman" panose="02020603050405020304" pitchFamily="18" charset="0"/>
              </a:rPr>
              <a:t>d</a:t>
            </a:r>
            <a:r>
              <a:rPr lang="en-US" altLang="ar-AE" baseline="-25000" dirty="0">
                <a:latin typeface="Times New Roman" panose="02020603050405020304" pitchFamily="18" charset="0"/>
                <a:cs typeface="Times New Roman" panose="02020603050405020304" pitchFamily="18" charset="0"/>
              </a:rPr>
              <a:t>0</a:t>
            </a:r>
            <a:r>
              <a:rPr lang="en-US" altLang="ar-AE" dirty="0">
                <a:latin typeface="Times New Roman" panose="02020603050405020304" pitchFamily="18" charset="0"/>
                <a:cs typeface="Times New Roman" panose="02020603050405020304" pitchFamily="18" charset="0"/>
              </a:rPr>
              <a:t> </a:t>
            </a:r>
            <a:r>
              <a:rPr lang="en-US" altLang="ar-AE" dirty="0">
                <a:latin typeface="Times New Roman" panose="02020603050405020304" pitchFamily="18" charset="0"/>
                <a:cs typeface="Times New Roman" panose="02020603050405020304" pitchFamily="18" charset="0"/>
                <a:sym typeface="Symbol" panose="05050102010706020507" pitchFamily="18" charset="2"/>
              </a:rPr>
              <a:t></a:t>
            </a:r>
            <a:r>
              <a:rPr lang="en-US" altLang="ar-AE" dirty="0">
                <a:latin typeface="Times New Roman" panose="02020603050405020304" pitchFamily="18" charset="0"/>
                <a:cs typeface="Times New Roman" panose="02020603050405020304" pitchFamily="18" charset="0"/>
              </a:rPr>
              <a:t> 16</a:t>
            </a:r>
            <a:r>
              <a:rPr lang="en-US" altLang="ar-AE" baseline="30000" dirty="0">
                <a:latin typeface="Times New Roman" panose="02020603050405020304" pitchFamily="18" charset="0"/>
                <a:cs typeface="Times New Roman" panose="02020603050405020304" pitchFamily="18" charset="0"/>
              </a:rPr>
              <a:t>0</a:t>
            </a:r>
            <a:r>
              <a:rPr lang="en-US" altLang="ar-AE" dirty="0">
                <a:latin typeface="Times New Roman" panose="02020603050405020304" pitchFamily="18" charset="0"/>
                <a:cs typeface="Times New Roman" panose="02020603050405020304" pitchFamily="18" charset="0"/>
              </a:rPr>
              <a:t>)</a:t>
            </a:r>
          </a:p>
          <a:p>
            <a:pPr eaLnBrk="1" hangingPunct="1">
              <a:spcBef>
                <a:spcPct val="50000"/>
              </a:spcBef>
              <a:spcAft>
                <a:spcPts val="600"/>
              </a:spcAft>
              <a:buFont typeface="Wingdings" panose="05000000000000000000" pitchFamily="2" charset="2"/>
              <a:buNone/>
            </a:pPr>
            <a:r>
              <a:rPr lang="en-US" altLang="ar-AE" dirty="0">
                <a:latin typeface="Times New Roman" panose="02020603050405020304" pitchFamily="18" charset="0"/>
                <a:cs typeface="Times New Roman" panose="02020603050405020304" pitchFamily="18" charset="0"/>
              </a:rPr>
              <a:t>	</a:t>
            </a:r>
            <a:r>
              <a:rPr lang="en-US" altLang="ar-AE" i="1" dirty="0">
                <a:latin typeface="Times New Roman" panose="02020603050405020304" pitchFamily="18" charset="0"/>
                <a:cs typeface="Times New Roman" panose="02020603050405020304" pitchFamily="18" charset="0"/>
              </a:rPr>
              <a:t>d</a:t>
            </a:r>
            <a:r>
              <a:rPr lang="en-US" altLang="ar-AE" dirty="0">
                <a:latin typeface="Times New Roman" panose="02020603050405020304" pitchFamily="18" charset="0"/>
                <a:cs typeface="Times New Roman" panose="02020603050405020304" pitchFamily="18" charset="0"/>
              </a:rPr>
              <a:t> = hexadecimal digit</a:t>
            </a:r>
          </a:p>
          <a:p>
            <a:pPr eaLnBrk="1" hangingPunct="1">
              <a:spcBef>
                <a:spcPct val="50000"/>
              </a:spcBef>
              <a:spcAft>
                <a:spcPts val="600"/>
              </a:spcAft>
            </a:pPr>
            <a:r>
              <a:rPr lang="en-US" altLang="ar-AE" dirty="0"/>
              <a:t>Examples:</a:t>
            </a:r>
          </a:p>
          <a:p>
            <a:pPr lvl="1" eaLnBrk="1" hangingPunct="1">
              <a:spcBef>
                <a:spcPct val="50000"/>
              </a:spcBef>
              <a:spcAft>
                <a:spcPts val="600"/>
              </a:spcAft>
            </a:pPr>
            <a:r>
              <a:rPr lang="en-US" altLang="ar-AE" dirty="0"/>
              <a:t>Hex 1234 = (1 </a:t>
            </a:r>
            <a:r>
              <a:rPr lang="en-US" altLang="ar-AE" dirty="0">
                <a:sym typeface="Symbol" panose="05050102010706020507" pitchFamily="18" charset="2"/>
              </a:rPr>
              <a:t></a:t>
            </a:r>
            <a:r>
              <a:rPr lang="en-US" altLang="ar-AE" dirty="0"/>
              <a:t> 16</a:t>
            </a:r>
            <a:r>
              <a:rPr lang="en-US" altLang="ar-AE" baseline="30000" dirty="0"/>
              <a:t>3</a:t>
            </a:r>
            <a:r>
              <a:rPr lang="en-US" altLang="ar-AE" dirty="0"/>
              <a:t>) + (2 </a:t>
            </a:r>
            <a:r>
              <a:rPr lang="en-US" altLang="ar-AE" dirty="0">
                <a:sym typeface="Symbol" panose="05050102010706020507" pitchFamily="18" charset="2"/>
              </a:rPr>
              <a:t></a:t>
            </a:r>
            <a:r>
              <a:rPr lang="en-US" altLang="ar-AE" dirty="0"/>
              <a:t> 16</a:t>
            </a:r>
            <a:r>
              <a:rPr lang="en-US" altLang="ar-AE" baseline="30000" dirty="0"/>
              <a:t>2</a:t>
            </a:r>
            <a:r>
              <a:rPr lang="en-US" altLang="ar-AE" dirty="0"/>
              <a:t>) + (3 </a:t>
            </a:r>
            <a:r>
              <a:rPr lang="en-US" altLang="ar-AE" dirty="0">
                <a:sym typeface="Symbol" panose="05050102010706020507" pitchFamily="18" charset="2"/>
              </a:rPr>
              <a:t></a:t>
            </a:r>
            <a:r>
              <a:rPr lang="en-US" altLang="ar-AE" dirty="0"/>
              <a:t> 16</a:t>
            </a:r>
            <a:r>
              <a:rPr lang="en-US" altLang="ar-AE" baseline="30000" dirty="0"/>
              <a:t>1</a:t>
            </a:r>
            <a:r>
              <a:rPr lang="en-US" altLang="ar-AE" dirty="0"/>
              <a:t>) + (4 </a:t>
            </a:r>
            <a:r>
              <a:rPr lang="en-US" altLang="ar-AE" dirty="0">
                <a:sym typeface="Symbol" panose="05050102010706020507" pitchFamily="18" charset="2"/>
              </a:rPr>
              <a:t></a:t>
            </a:r>
            <a:r>
              <a:rPr lang="en-US" altLang="ar-AE" dirty="0"/>
              <a:t> 16</a:t>
            </a:r>
            <a:r>
              <a:rPr lang="en-US" altLang="ar-AE" baseline="30000" dirty="0"/>
              <a:t>0</a:t>
            </a:r>
            <a:r>
              <a:rPr lang="en-US" altLang="ar-AE" dirty="0"/>
              <a:t>) =</a:t>
            </a:r>
          </a:p>
          <a:p>
            <a:pPr lvl="1" eaLnBrk="1" hangingPunct="1">
              <a:spcBef>
                <a:spcPct val="50000"/>
              </a:spcBef>
              <a:spcAft>
                <a:spcPts val="600"/>
              </a:spcAft>
              <a:buFont typeface="Wingdings" panose="05000000000000000000" pitchFamily="2" charset="2"/>
              <a:buNone/>
            </a:pPr>
            <a:r>
              <a:rPr lang="en-US" altLang="ar-AE" dirty="0"/>
              <a:t>	Decimal 4,660 </a:t>
            </a:r>
          </a:p>
          <a:p>
            <a:pPr lvl="1" eaLnBrk="1" hangingPunct="1">
              <a:spcBef>
                <a:spcPct val="50000"/>
              </a:spcBef>
              <a:spcAft>
                <a:spcPts val="600"/>
              </a:spcAft>
            </a:pPr>
            <a:r>
              <a:rPr lang="en-US" altLang="ar-AE" dirty="0"/>
              <a:t>Hex 3BA4 = (3 </a:t>
            </a:r>
            <a:r>
              <a:rPr lang="en-US" altLang="ar-AE" dirty="0">
                <a:sym typeface="Symbol" panose="05050102010706020507" pitchFamily="18" charset="2"/>
              </a:rPr>
              <a:t></a:t>
            </a:r>
            <a:r>
              <a:rPr lang="en-US" altLang="ar-AE" dirty="0"/>
              <a:t> 16</a:t>
            </a:r>
            <a:r>
              <a:rPr lang="en-US" altLang="ar-AE" baseline="30000" dirty="0"/>
              <a:t>3</a:t>
            </a:r>
            <a:r>
              <a:rPr lang="en-US" altLang="ar-AE" dirty="0"/>
              <a:t>) + (11 * 16</a:t>
            </a:r>
            <a:r>
              <a:rPr lang="en-US" altLang="ar-AE" baseline="30000" dirty="0"/>
              <a:t>2</a:t>
            </a:r>
            <a:r>
              <a:rPr lang="en-US" altLang="ar-AE" dirty="0"/>
              <a:t>) + (10 </a:t>
            </a:r>
            <a:r>
              <a:rPr lang="en-US" altLang="ar-AE" dirty="0">
                <a:sym typeface="Symbol" panose="05050102010706020507" pitchFamily="18" charset="2"/>
              </a:rPr>
              <a:t></a:t>
            </a:r>
            <a:r>
              <a:rPr lang="en-US" altLang="ar-AE" dirty="0"/>
              <a:t> 16</a:t>
            </a:r>
            <a:r>
              <a:rPr lang="en-US" altLang="ar-AE" baseline="30000" dirty="0"/>
              <a:t>1</a:t>
            </a:r>
            <a:r>
              <a:rPr lang="en-US" altLang="ar-AE" dirty="0"/>
              <a:t>) + (4 </a:t>
            </a:r>
            <a:r>
              <a:rPr lang="en-US" altLang="ar-AE" dirty="0">
                <a:sym typeface="Symbol" panose="05050102010706020507" pitchFamily="18" charset="2"/>
              </a:rPr>
              <a:t></a:t>
            </a:r>
            <a:r>
              <a:rPr lang="en-US" altLang="ar-AE" dirty="0"/>
              <a:t> 16</a:t>
            </a:r>
            <a:r>
              <a:rPr lang="en-US" altLang="ar-AE" baseline="30000" dirty="0"/>
              <a:t>0</a:t>
            </a:r>
            <a:r>
              <a:rPr lang="en-US" altLang="ar-AE" dirty="0"/>
              <a:t>) =</a:t>
            </a:r>
          </a:p>
          <a:p>
            <a:pPr lvl="1" eaLnBrk="1" hangingPunct="1">
              <a:spcBef>
                <a:spcPct val="50000"/>
              </a:spcBef>
              <a:spcAft>
                <a:spcPts val="600"/>
              </a:spcAft>
              <a:buFont typeface="Wingdings" panose="05000000000000000000" pitchFamily="2" charset="2"/>
              <a:buNone/>
            </a:pPr>
            <a:r>
              <a:rPr lang="en-US" altLang="ar-AE" dirty="0"/>
              <a:t>	Decimal 15,268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ar-AE"/>
              <a:t>Converting Decimal to Hexadecimal</a:t>
            </a:r>
          </a:p>
        </p:txBody>
      </p:sp>
      <p:pic>
        <p:nvPicPr>
          <p:cNvPr id="358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5" y="2522538"/>
            <a:ext cx="4846638"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2100" name="Text Box 4"/>
          <p:cNvSpPr txBox="1">
            <a:spLocks noChangeArrowheads="1"/>
          </p:cNvSpPr>
          <p:nvPr/>
        </p:nvSpPr>
        <p:spPr bwMode="auto">
          <a:xfrm>
            <a:off x="1905000" y="5600700"/>
            <a:ext cx="5334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sz="2100"/>
              <a:t>Decimal 422 = 1A6 hexadecimal</a:t>
            </a:r>
          </a:p>
        </p:txBody>
      </p:sp>
      <p:grpSp>
        <p:nvGrpSpPr>
          <p:cNvPr id="132110" name="Group 14"/>
          <p:cNvGrpSpPr>
            <a:grpSpLocks/>
          </p:cNvGrpSpPr>
          <p:nvPr/>
        </p:nvGrpSpPr>
        <p:grpSpPr bwMode="auto">
          <a:xfrm>
            <a:off x="3649663" y="4102100"/>
            <a:ext cx="2649537" cy="1101725"/>
            <a:chOff x="2299" y="2584"/>
            <a:chExt cx="1669" cy="694"/>
          </a:xfrm>
        </p:grpSpPr>
        <p:sp>
          <p:nvSpPr>
            <p:cNvPr id="35854" name="Text Box 5"/>
            <p:cNvSpPr txBox="1">
              <a:spLocks noChangeArrowheads="1"/>
            </p:cNvSpPr>
            <p:nvPr/>
          </p:nvSpPr>
          <p:spPr bwMode="auto">
            <a:xfrm>
              <a:off x="2807" y="2874"/>
              <a:ext cx="116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a:solidFill>
                    <a:srgbClr val="FF0000"/>
                  </a:solidFill>
                </a:rPr>
                <a:t>stop when quotient is zero</a:t>
              </a:r>
            </a:p>
          </p:txBody>
        </p:sp>
        <p:sp>
          <p:nvSpPr>
            <p:cNvPr id="35855" name="Line 6"/>
            <p:cNvSpPr>
              <a:spLocks noChangeShapeType="1"/>
            </p:cNvSpPr>
            <p:nvPr/>
          </p:nvSpPr>
          <p:spPr bwMode="auto">
            <a:xfrm flipH="1" flipV="1">
              <a:off x="2299" y="2584"/>
              <a:ext cx="689" cy="43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SA"/>
            </a:p>
          </p:txBody>
        </p:sp>
      </p:grpSp>
      <p:grpSp>
        <p:nvGrpSpPr>
          <p:cNvPr id="132108" name="Group 12"/>
          <p:cNvGrpSpPr>
            <a:grpSpLocks/>
          </p:cNvGrpSpPr>
          <p:nvPr/>
        </p:nvGrpSpPr>
        <p:grpSpPr bwMode="auto">
          <a:xfrm>
            <a:off x="5262563" y="2986088"/>
            <a:ext cx="3398837" cy="366712"/>
            <a:chOff x="3315" y="1881"/>
            <a:chExt cx="2141" cy="231"/>
          </a:xfrm>
        </p:grpSpPr>
        <p:sp>
          <p:nvSpPr>
            <p:cNvPr id="35852" name="Line 7"/>
            <p:cNvSpPr>
              <a:spLocks noChangeShapeType="1"/>
            </p:cNvSpPr>
            <p:nvPr/>
          </p:nvSpPr>
          <p:spPr bwMode="auto">
            <a:xfrm flipH="1" flipV="1">
              <a:off x="3315" y="2004"/>
              <a:ext cx="617"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SA"/>
            </a:p>
          </p:txBody>
        </p:sp>
        <p:sp>
          <p:nvSpPr>
            <p:cNvPr id="35853" name="Text Box 8"/>
            <p:cNvSpPr txBox="1">
              <a:spLocks noChangeArrowheads="1"/>
            </p:cNvSpPr>
            <p:nvPr/>
          </p:nvSpPr>
          <p:spPr bwMode="auto">
            <a:xfrm>
              <a:off x="3823" y="1881"/>
              <a:ext cx="16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a:solidFill>
                    <a:srgbClr val="FF0000"/>
                  </a:solidFill>
                </a:rPr>
                <a:t>least significant digit</a:t>
              </a:r>
            </a:p>
          </p:txBody>
        </p:sp>
      </p:grpSp>
      <p:grpSp>
        <p:nvGrpSpPr>
          <p:cNvPr id="132109" name="Group 13"/>
          <p:cNvGrpSpPr>
            <a:grpSpLocks/>
          </p:cNvGrpSpPr>
          <p:nvPr/>
        </p:nvGrpSpPr>
        <p:grpSpPr bwMode="auto">
          <a:xfrm>
            <a:off x="5262563" y="3851275"/>
            <a:ext cx="3398837" cy="366713"/>
            <a:chOff x="3315" y="2426"/>
            <a:chExt cx="2141" cy="231"/>
          </a:xfrm>
        </p:grpSpPr>
        <p:sp>
          <p:nvSpPr>
            <p:cNvPr id="35850" name="Line 9"/>
            <p:cNvSpPr>
              <a:spLocks noChangeShapeType="1"/>
            </p:cNvSpPr>
            <p:nvPr/>
          </p:nvSpPr>
          <p:spPr bwMode="auto">
            <a:xfrm flipH="1" flipV="1">
              <a:off x="3315" y="2548"/>
              <a:ext cx="617"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SA"/>
            </a:p>
          </p:txBody>
        </p:sp>
        <p:sp>
          <p:nvSpPr>
            <p:cNvPr id="35851" name="Text Box 10"/>
            <p:cNvSpPr txBox="1">
              <a:spLocks noChangeArrowheads="1"/>
            </p:cNvSpPr>
            <p:nvPr/>
          </p:nvSpPr>
          <p:spPr bwMode="auto">
            <a:xfrm>
              <a:off x="3859" y="2426"/>
              <a:ext cx="159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a:solidFill>
                    <a:srgbClr val="FF0000"/>
                  </a:solidFill>
                </a:rPr>
                <a:t>most significant digit</a:t>
              </a:r>
            </a:p>
          </p:txBody>
        </p:sp>
      </p:grpSp>
      <p:sp>
        <p:nvSpPr>
          <p:cNvPr id="35848" name="Rectangle 11"/>
          <p:cNvSpPr>
            <a:spLocks noChangeArrowheads="1"/>
          </p:cNvSpPr>
          <p:nvPr/>
        </p:nvSpPr>
        <p:spPr bwMode="auto">
          <a:xfrm>
            <a:off x="457200" y="1143000"/>
            <a:ext cx="8229600"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7663" indent="-347663">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98513" indent="-3365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4588" indent="-231775">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481138" indent="-222250">
              <a:spcBef>
                <a:spcPct val="40000"/>
              </a:spcBef>
              <a:buChar char="–"/>
              <a:defRPr sz="1600">
                <a:solidFill>
                  <a:schemeClr val="tx1"/>
                </a:solidFill>
                <a:latin typeface="Arial" panose="020B0604020202020204" pitchFamily="34" charset="0"/>
                <a:cs typeface="Arial" panose="020B0604020202020204" pitchFamily="34" charset="0"/>
              </a:defRPr>
            </a:lvl4pPr>
            <a:lvl5pPr indent="-233363">
              <a:spcBef>
                <a:spcPct val="40000"/>
              </a:spcBef>
              <a:buChar char="»"/>
              <a:defRPr sz="1600">
                <a:solidFill>
                  <a:schemeClr val="tx1"/>
                </a:solidFill>
                <a:latin typeface="Arial" panose="020B0604020202020204" pitchFamily="34" charset="0"/>
                <a:cs typeface="Arial" panose="020B0604020202020204" pitchFamily="34" charset="0"/>
              </a:defRPr>
            </a:lvl5pPr>
            <a:lvl6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eaLnBrk="1" hangingPunct="1"/>
            <a:r>
              <a:rPr lang="en-US" altLang="ar-AE"/>
              <a:t>Repeatedly divide the decimal integer by 16. Each remainder is a hex digit in the translated value:</a:t>
            </a:r>
          </a:p>
        </p:txBody>
      </p:sp>
      <p:sp>
        <p:nvSpPr>
          <p:cNvPr id="15" name="مستطيل 14"/>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2108"/>
                                        </p:tgtEl>
                                        <p:attrNameLst>
                                          <p:attrName>style.visibility</p:attrName>
                                        </p:attrNameLst>
                                      </p:cBhvr>
                                      <p:to>
                                        <p:strVal val="visible"/>
                                      </p:to>
                                    </p:set>
                                    <p:animEffect transition="in" filter="dissolve">
                                      <p:cBhvr>
                                        <p:cTn id="7" dur="500"/>
                                        <p:tgtEl>
                                          <p:spTgt spid="132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32109"/>
                                        </p:tgtEl>
                                        <p:attrNameLst>
                                          <p:attrName>style.visibility</p:attrName>
                                        </p:attrNameLst>
                                      </p:cBhvr>
                                      <p:to>
                                        <p:strVal val="visible"/>
                                      </p:to>
                                    </p:set>
                                    <p:animEffect transition="in" filter="dissolve">
                                      <p:cBhvr>
                                        <p:cTn id="12" dur="500"/>
                                        <p:tgtEl>
                                          <p:spTgt spid="1321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32110"/>
                                        </p:tgtEl>
                                        <p:attrNameLst>
                                          <p:attrName>style.visibility</p:attrName>
                                        </p:attrNameLst>
                                      </p:cBhvr>
                                      <p:to>
                                        <p:strVal val="visible"/>
                                      </p:to>
                                    </p:set>
                                    <p:animEffect transition="in" filter="dissolve">
                                      <p:cBhvr>
                                        <p:cTn id="17" dur="500"/>
                                        <p:tgtEl>
                                          <p:spTgt spid="1321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2100"/>
                                        </p:tgtEl>
                                        <p:attrNameLst>
                                          <p:attrName>style.visibility</p:attrName>
                                        </p:attrNameLst>
                                      </p:cBhvr>
                                      <p:to>
                                        <p:strVal val="visible"/>
                                      </p:to>
                                    </p:set>
                                    <p:animEffect transition="in" filter="dissolve">
                                      <p:cBhvr>
                                        <p:cTn id="22" dur="500"/>
                                        <p:tgtEl>
                                          <p:spTgt spid="132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274638"/>
            <a:ext cx="8229600" cy="792162"/>
          </a:xfrm>
        </p:spPr>
        <p:txBody>
          <a:bodyPr/>
          <a:lstStyle/>
          <a:p>
            <a:pPr eaLnBrk="1" hangingPunct="1"/>
            <a:r>
              <a:rPr lang="en-US" altLang="ar-AE"/>
              <a:t>Integer Storage Sizes</a:t>
            </a:r>
          </a:p>
        </p:txBody>
      </p:sp>
      <p:sp>
        <p:nvSpPr>
          <p:cNvPr id="2" name="Rectangle 1">
            <a:extLst>
              <a:ext uri="{FF2B5EF4-FFF2-40B4-BE49-F238E27FC236}">
                <a16:creationId xmlns:a16="http://schemas.microsoft.com/office/drawing/2014/main" id="{9A73B67E-185C-46AD-A904-65E3CF9E2170}"/>
              </a:ext>
            </a:extLst>
          </p:cNvPr>
          <p:cNvSpPr/>
          <p:nvPr/>
        </p:nvSpPr>
        <p:spPr>
          <a:xfrm>
            <a:off x="654723" y="1235617"/>
            <a:ext cx="7491677" cy="830997"/>
          </a:xfrm>
          <a:prstGeom prst="rect">
            <a:avLst/>
          </a:prstGeom>
        </p:spPr>
        <p:txBody>
          <a:bodyPr wrap="square">
            <a:spAutoFit/>
          </a:bodyPr>
          <a:lstStyle/>
          <a:p>
            <a:r>
              <a:rPr lang="en-US" sz="2400" dirty="0">
                <a:latin typeface="LiberationSerif"/>
              </a:rPr>
              <a:t>The x86-64 architecture supports a specific set of data storage size elements, all based on powers of two.</a:t>
            </a:r>
            <a:endParaRPr lang="en-US" sz="2400" dirty="0"/>
          </a:p>
        </p:txBody>
      </p:sp>
      <p:pic>
        <p:nvPicPr>
          <p:cNvPr id="3" name="Picture 2">
            <a:extLst>
              <a:ext uri="{FF2B5EF4-FFF2-40B4-BE49-F238E27FC236}">
                <a16:creationId xmlns:a16="http://schemas.microsoft.com/office/drawing/2014/main" id="{0396B233-A886-4422-8D4C-18E9D369D105}"/>
              </a:ext>
            </a:extLst>
          </p:cNvPr>
          <p:cNvPicPr>
            <a:picLocks noChangeAspect="1"/>
          </p:cNvPicPr>
          <p:nvPr/>
        </p:nvPicPr>
        <p:blipFill>
          <a:blip r:embed="rId2">
            <a:lum contrast="20000"/>
          </a:blip>
          <a:stretch>
            <a:fillRect/>
          </a:stretch>
        </p:blipFill>
        <p:spPr>
          <a:xfrm>
            <a:off x="543594" y="2334466"/>
            <a:ext cx="8309249" cy="3744455"/>
          </a:xfrm>
          <a:prstGeom prst="rect">
            <a:avLst/>
          </a:prstGeom>
        </p:spPr>
      </p:pic>
      <p:pic>
        <p:nvPicPr>
          <p:cNvPr id="36882" name="Picture 18">
            <a:extLst>
              <a:ext uri="{FF2B5EF4-FFF2-40B4-BE49-F238E27FC236}">
                <a16:creationId xmlns:a16="http://schemas.microsoft.com/office/drawing/2014/main" id="{584D14F4-1776-458D-8B6A-A2A7E33088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1111" t="-7295" r="-2223" b="-9422"/>
          <a:stretch>
            <a:fillRect/>
          </a:stretch>
        </p:blipFill>
        <p:spPr bwMode="auto">
          <a:xfrm>
            <a:off x="3886200" y="1219200"/>
            <a:ext cx="3124200" cy="1219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274638"/>
            <a:ext cx="8229600" cy="792162"/>
          </a:xfrm>
        </p:spPr>
        <p:txBody>
          <a:bodyPr/>
          <a:lstStyle/>
          <a:p>
            <a:pPr eaLnBrk="1" hangingPunct="1"/>
            <a:r>
              <a:rPr lang="en-US" altLang="ar-AE"/>
              <a:t>Binary Addition</a:t>
            </a:r>
          </a:p>
        </p:txBody>
      </p:sp>
      <p:sp>
        <p:nvSpPr>
          <p:cNvPr id="37891" name="Rectangle 3"/>
          <p:cNvSpPr>
            <a:spLocks noGrp="1" noChangeArrowheads="1"/>
          </p:cNvSpPr>
          <p:nvPr>
            <p:ph type="body" idx="1"/>
          </p:nvPr>
        </p:nvSpPr>
        <p:spPr>
          <a:xfrm>
            <a:off x="457200" y="1143000"/>
            <a:ext cx="8229600" cy="1998663"/>
          </a:xfrm>
        </p:spPr>
        <p:txBody>
          <a:bodyPr/>
          <a:lstStyle/>
          <a:p>
            <a:pPr eaLnBrk="1" hangingPunct="1"/>
            <a:r>
              <a:rPr lang="en-US" altLang="ar-AE"/>
              <a:t>Start with the least significant bit (rightmost bit)</a:t>
            </a:r>
          </a:p>
          <a:p>
            <a:pPr eaLnBrk="1" hangingPunct="1"/>
            <a:r>
              <a:rPr lang="en-US" altLang="ar-AE"/>
              <a:t>Add each pair of bits</a:t>
            </a:r>
          </a:p>
          <a:p>
            <a:pPr eaLnBrk="1" hangingPunct="1"/>
            <a:r>
              <a:rPr lang="en-US" altLang="ar-AE"/>
              <a:t>Include the carry in the addition, if present</a:t>
            </a:r>
          </a:p>
        </p:txBody>
      </p:sp>
      <p:grpSp>
        <p:nvGrpSpPr>
          <p:cNvPr id="37892" name="Group 71"/>
          <p:cNvGrpSpPr>
            <a:grpSpLocks/>
          </p:cNvGrpSpPr>
          <p:nvPr/>
        </p:nvGrpSpPr>
        <p:grpSpPr bwMode="auto">
          <a:xfrm>
            <a:off x="1518829" y="2888570"/>
            <a:ext cx="5818307" cy="3075138"/>
            <a:chOff x="1440" y="2101"/>
            <a:chExt cx="2928" cy="1511"/>
          </a:xfrm>
        </p:grpSpPr>
        <p:sp>
          <p:nvSpPr>
            <p:cNvPr id="37894" name="AutoShape 5"/>
            <p:cNvSpPr>
              <a:spLocks noChangeAspect="1" noChangeArrowheads="1" noTextEdit="1"/>
            </p:cNvSpPr>
            <p:nvPr/>
          </p:nvSpPr>
          <p:spPr bwMode="auto">
            <a:xfrm>
              <a:off x="1440" y="2101"/>
              <a:ext cx="2928" cy="151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SA"/>
            </a:p>
          </p:txBody>
        </p:sp>
        <p:sp>
          <p:nvSpPr>
            <p:cNvPr id="37895" name="Rectangle 7"/>
            <p:cNvSpPr>
              <a:spLocks noChangeArrowheads="1"/>
            </p:cNvSpPr>
            <p:nvPr/>
          </p:nvSpPr>
          <p:spPr bwMode="auto">
            <a:xfrm>
              <a:off x="2111" y="2668"/>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896" name="Rectangle 8"/>
            <p:cNvSpPr>
              <a:spLocks noChangeArrowheads="1"/>
            </p:cNvSpPr>
            <p:nvPr/>
          </p:nvSpPr>
          <p:spPr bwMode="auto">
            <a:xfrm>
              <a:off x="2186"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897" name="Rectangle 9"/>
            <p:cNvSpPr>
              <a:spLocks noChangeArrowheads="1"/>
            </p:cNvSpPr>
            <p:nvPr/>
          </p:nvSpPr>
          <p:spPr bwMode="auto">
            <a:xfrm>
              <a:off x="2328" y="2668"/>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898" name="Rectangle 10"/>
            <p:cNvSpPr>
              <a:spLocks noChangeArrowheads="1"/>
            </p:cNvSpPr>
            <p:nvPr/>
          </p:nvSpPr>
          <p:spPr bwMode="auto">
            <a:xfrm>
              <a:off x="2403"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899" name="Rectangle 11"/>
            <p:cNvSpPr>
              <a:spLocks noChangeArrowheads="1"/>
            </p:cNvSpPr>
            <p:nvPr/>
          </p:nvSpPr>
          <p:spPr bwMode="auto">
            <a:xfrm>
              <a:off x="2545" y="2668"/>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00" name="Rectangle 12"/>
            <p:cNvSpPr>
              <a:spLocks noChangeArrowheads="1"/>
            </p:cNvSpPr>
            <p:nvPr/>
          </p:nvSpPr>
          <p:spPr bwMode="auto">
            <a:xfrm>
              <a:off x="2620"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01" name="Rectangle 13"/>
            <p:cNvSpPr>
              <a:spLocks noChangeArrowheads="1"/>
            </p:cNvSpPr>
            <p:nvPr/>
          </p:nvSpPr>
          <p:spPr bwMode="auto">
            <a:xfrm>
              <a:off x="2762" y="2668"/>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02" name="Rectangle 14"/>
            <p:cNvSpPr>
              <a:spLocks noChangeArrowheads="1"/>
            </p:cNvSpPr>
            <p:nvPr/>
          </p:nvSpPr>
          <p:spPr bwMode="auto">
            <a:xfrm>
              <a:off x="2837"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03" name="Rectangle 15"/>
            <p:cNvSpPr>
              <a:spLocks noChangeArrowheads="1"/>
            </p:cNvSpPr>
            <p:nvPr/>
          </p:nvSpPr>
          <p:spPr bwMode="auto">
            <a:xfrm>
              <a:off x="2979" y="2668"/>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04" name="Rectangle 16"/>
            <p:cNvSpPr>
              <a:spLocks noChangeArrowheads="1"/>
            </p:cNvSpPr>
            <p:nvPr/>
          </p:nvSpPr>
          <p:spPr bwMode="auto">
            <a:xfrm>
              <a:off x="3054"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05" name="Rectangle 17"/>
            <p:cNvSpPr>
              <a:spLocks noChangeArrowheads="1"/>
            </p:cNvSpPr>
            <p:nvPr/>
          </p:nvSpPr>
          <p:spPr bwMode="auto">
            <a:xfrm>
              <a:off x="3196" y="2668"/>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06" name="Rectangle 18"/>
            <p:cNvSpPr>
              <a:spLocks noChangeArrowheads="1"/>
            </p:cNvSpPr>
            <p:nvPr/>
          </p:nvSpPr>
          <p:spPr bwMode="auto">
            <a:xfrm>
              <a:off x="3271"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37907" name="Rectangle 19"/>
            <p:cNvSpPr>
              <a:spLocks noChangeArrowheads="1"/>
            </p:cNvSpPr>
            <p:nvPr/>
          </p:nvSpPr>
          <p:spPr bwMode="auto">
            <a:xfrm>
              <a:off x="3413" y="2668"/>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08" name="Rectangle 20"/>
            <p:cNvSpPr>
              <a:spLocks noChangeArrowheads="1"/>
            </p:cNvSpPr>
            <p:nvPr/>
          </p:nvSpPr>
          <p:spPr bwMode="auto">
            <a:xfrm>
              <a:off x="3488"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37909" name="Rectangle 21"/>
            <p:cNvSpPr>
              <a:spLocks noChangeArrowheads="1"/>
            </p:cNvSpPr>
            <p:nvPr/>
          </p:nvSpPr>
          <p:spPr bwMode="auto">
            <a:xfrm>
              <a:off x="3630" y="2668"/>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10" name="Rectangle 22"/>
            <p:cNvSpPr>
              <a:spLocks noChangeArrowheads="1"/>
            </p:cNvSpPr>
            <p:nvPr/>
          </p:nvSpPr>
          <p:spPr bwMode="auto">
            <a:xfrm>
              <a:off x="3705"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37911" name="Rectangle 23"/>
            <p:cNvSpPr>
              <a:spLocks noChangeArrowheads="1"/>
            </p:cNvSpPr>
            <p:nvPr/>
          </p:nvSpPr>
          <p:spPr bwMode="auto">
            <a:xfrm>
              <a:off x="2111" y="2342"/>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12" name="Rectangle 24"/>
            <p:cNvSpPr>
              <a:spLocks noChangeArrowheads="1"/>
            </p:cNvSpPr>
            <p:nvPr/>
          </p:nvSpPr>
          <p:spPr bwMode="auto">
            <a:xfrm>
              <a:off x="2186"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13" name="Rectangle 25"/>
            <p:cNvSpPr>
              <a:spLocks noChangeArrowheads="1"/>
            </p:cNvSpPr>
            <p:nvPr/>
          </p:nvSpPr>
          <p:spPr bwMode="auto">
            <a:xfrm>
              <a:off x="2328" y="2342"/>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14" name="Rectangle 26"/>
            <p:cNvSpPr>
              <a:spLocks noChangeArrowheads="1"/>
            </p:cNvSpPr>
            <p:nvPr/>
          </p:nvSpPr>
          <p:spPr bwMode="auto">
            <a:xfrm>
              <a:off x="2403"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15" name="Rectangle 27"/>
            <p:cNvSpPr>
              <a:spLocks noChangeArrowheads="1"/>
            </p:cNvSpPr>
            <p:nvPr/>
          </p:nvSpPr>
          <p:spPr bwMode="auto">
            <a:xfrm>
              <a:off x="2545" y="2342"/>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16" name="Rectangle 28"/>
            <p:cNvSpPr>
              <a:spLocks noChangeArrowheads="1"/>
            </p:cNvSpPr>
            <p:nvPr/>
          </p:nvSpPr>
          <p:spPr bwMode="auto">
            <a:xfrm>
              <a:off x="2620"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17" name="Rectangle 29"/>
            <p:cNvSpPr>
              <a:spLocks noChangeArrowheads="1"/>
            </p:cNvSpPr>
            <p:nvPr/>
          </p:nvSpPr>
          <p:spPr bwMode="auto">
            <a:xfrm>
              <a:off x="2762" y="2342"/>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18" name="Rectangle 30"/>
            <p:cNvSpPr>
              <a:spLocks noChangeArrowheads="1"/>
            </p:cNvSpPr>
            <p:nvPr/>
          </p:nvSpPr>
          <p:spPr bwMode="auto">
            <a:xfrm>
              <a:off x="2837"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19" name="Rectangle 31"/>
            <p:cNvSpPr>
              <a:spLocks noChangeArrowheads="1"/>
            </p:cNvSpPr>
            <p:nvPr/>
          </p:nvSpPr>
          <p:spPr bwMode="auto">
            <a:xfrm>
              <a:off x="2979" y="2342"/>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20" name="Rectangle 32"/>
            <p:cNvSpPr>
              <a:spLocks noChangeArrowheads="1"/>
            </p:cNvSpPr>
            <p:nvPr/>
          </p:nvSpPr>
          <p:spPr bwMode="auto">
            <a:xfrm>
              <a:off x="3054"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21" name="Rectangle 33"/>
            <p:cNvSpPr>
              <a:spLocks noChangeArrowheads="1"/>
            </p:cNvSpPr>
            <p:nvPr/>
          </p:nvSpPr>
          <p:spPr bwMode="auto">
            <a:xfrm>
              <a:off x="3196" y="2342"/>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22" name="Rectangle 34"/>
            <p:cNvSpPr>
              <a:spLocks noChangeArrowheads="1"/>
            </p:cNvSpPr>
            <p:nvPr/>
          </p:nvSpPr>
          <p:spPr bwMode="auto">
            <a:xfrm>
              <a:off x="3271"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37923" name="Rectangle 35"/>
            <p:cNvSpPr>
              <a:spLocks noChangeArrowheads="1"/>
            </p:cNvSpPr>
            <p:nvPr/>
          </p:nvSpPr>
          <p:spPr bwMode="auto">
            <a:xfrm>
              <a:off x="3413" y="2342"/>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24" name="Rectangle 36"/>
            <p:cNvSpPr>
              <a:spLocks noChangeArrowheads="1"/>
            </p:cNvSpPr>
            <p:nvPr/>
          </p:nvSpPr>
          <p:spPr bwMode="auto">
            <a:xfrm>
              <a:off x="3488"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25" name="Rectangle 37"/>
            <p:cNvSpPr>
              <a:spLocks noChangeArrowheads="1"/>
            </p:cNvSpPr>
            <p:nvPr/>
          </p:nvSpPr>
          <p:spPr bwMode="auto">
            <a:xfrm>
              <a:off x="3630" y="2342"/>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26" name="Rectangle 38"/>
            <p:cNvSpPr>
              <a:spLocks noChangeArrowheads="1"/>
            </p:cNvSpPr>
            <p:nvPr/>
          </p:nvSpPr>
          <p:spPr bwMode="auto">
            <a:xfrm>
              <a:off x="3705"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27" name="Line 39"/>
            <p:cNvSpPr>
              <a:spLocks noChangeShapeType="1"/>
            </p:cNvSpPr>
            <p:nvPr/>
          </p:nvSpPr>
          <p:spPr bwMode="auto">
            <a:xfrm>
              <a:off x="1785" y="2994"/>
              <a:ext cx="2062"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ar-SA"/>
            </a:p>
          </p:txBody>
        </p:sp>
        <p:sp>
          <p:nvSpPr>
            <p:cNvPr id="37928" name="Rectangle 40"/>
            <p:cNvSpPr>
              <a:spLocks noChangeArrowheads="1"/>
            </p:cNvSpPr>
            <p:nvPr/>
          </p:nvSpPr>
          <p:spPr bwMode="auto">
            <a:xfrm>
              <a:off x="1879" y="2685"/>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b="1">
                  <a:solidFill>
                    <a:srgbClr val="000000"/>
                  </a:solidFill>
                  <a:latin typeface="Helvetica" panose="020B0604020202020204" pitchFamily="34" charset="0"/>
                </a:rPr>
                <a:t>+</a:t>
              </a:r>
              <a:endParaRPr lang="en-US" altLang="ar-AE"/>
            </a:p>
          </p:txBody>
        </p:sp>
        <p:sp>
          <p:nvSpPr>
            <p:cNvPr id="37929" name="Rectangle 41"/>
            <p:cNvSpPr>
              <a:spLocks noChangeArrowheads="1"/>
            </p:cNvSpPr>
            <p:nvPr/>
          </p:nvSpPr>
          <p:spPr bwMode="auto">
            <a:xfrm>
              <a:off x="2111" y="3103"/>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30" name="Rectangle 42"/>
            <p:cNvSpPr>
              <a:spLocks noChangeArrowheads="1"/>
            </p:cNvSpPr>
            <p:nvPr/>
          </p:nvSpPr>
          <p:spPr bwMode="auto">
            <a:xfrm>
              <a:off x="2186"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31" name="Rectangle 43"/>
            <p:cNvSpPr>
              <a:spLocks noChangeArrowheads="1"/>
            </p:cNvSpPr>
            <p:nvPr/>
          </p:nvSpPr>
          <p:spPr bwMode="auto">
            <a:xfrm>
              <a:off x="2328" y="3103"/>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32" name="Rectangle 44"/>
            <p:cNvSpPr>
              <a:spLocks noChangeArrowheads="1"/>
            </p:cNvSpPr>
            <p:nvPr/>
          </p:nvSpPr>
          <p:spPr bwMode="auto">
            <a:xfrm>
              <a:off x="2403"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33" name="Rectangle 45"/>
            <p:cNvSpPr>
              <a:spLocks noChangeArrowheads="1"/>
            </p:cNvSpPr>
            <p:nvPr/>
          </p:nvSpPr>
          <p:spPr bwMode="auto">
            <a:xfrm>
              <a:off x="2545" y="3103"/>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34" name="Rectangle 46"/>
            <p:cNvSpPr>
              <a:spLocks noChangeArrowheads="1"/>
            </p:cNvSpPr>
            <p:nvPr/>
          </p:nvSpPr>
          <p:spPr bwMode="auto">
            <a:xfrm>
              <a:off x="2620"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35" name="Rectangle 47"/>
            <p:cNvSpPr>
              <a:spLocks noChangeArrowheads="1"/>
            </p:cNvSpPr>
            <p:nvPr/>
          </p:nvSpPr>
          <p:spPr bwMode="auto">
            <a:xfrm>
              <a:off x="2762" y="3103"/>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36" name="Rectangle 48"/>
            <p:cNvSpPr>
              <a:spLocks noChangeArrowheads="1"/>
            </p:cNvSpPr>
            <p:nvPr/>
          </p:nvSpPr>
          <p:spPr bwMode="auto">
            <a:xfrm>
              <a:off x="2837"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37" name="Rectangle 49"/>
            <p:cNvSpPr>
              <a:spLocks noChangeArrowheads="1"/>
            </p:cNvSpPr>
            <p:nvPr/>
          </p:nvSpPr>
          <p:spPr bwMode="auto">
            <a:xfrm>
              <a:off x="2979" y="3103"/>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38" name="Rectangle 50"/>
            <p:cNvSpPr>
              <a:spLocks noChangeArrowheads="1"/>
            </p:cNvSpPr>
            <p:nvPr/>
          </p:nvSpPr>
          <p:spPr bwMode="auto">
            <a:xfrm>
              <a:off x="3054"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37939" name="Rectangle 51"/>
            <p:cNvSpPr>
              <a:spLocks noChangeArrowheads="1"/>
            </p:cNvSpPr>
            <p:nvPr/>
          </p:nvSpPr>
          <p:spPr bwMode="auto">
            <a:xfrm>
              <a:off x="3196" y="3103"/>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40" name="Rectangle 52"/>
            <p:cNvSpPr>
              <a:spLocks noChangeArrowheads="1"/>
            </p:cNvSpPr>
            <p:nvPr/>
          </p:nvSpPr>
          <p:spPr bwMode="auto">
            <a:xfrm>
              <a:off x="3271"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37941" name="Rectangle 53"/>
            <p:cNvSpPr>
              <a:spLocks noChangeArrowheads="1"/>
            </p:cNvSpPr>
            <p:nvPr/>
          </p:nvSpPr>
          <p:spPr bwMode="auto">
            <a:xfrm>
              <a:off x="3413" y="3103"/>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42" name="Rectangle 54"/>
            <p:cNvSpPr>
              <a:spLocks noChangeArrowheads="1"/>
            </p:cNvSpPr>
            <p:nvPr/>
          </p:nvSpPr>
          <p:spPr bwMode="auto">
            <a:xfrm>
              <a:off x="3488"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37943" name="Rectangle 55"/>
            <p:cNvSpPr>
              <a:spLocks noChangeArrowheads="1"/>
            </p:cNvSpPr>
            <p:nvPr/>
          </p:nvSpPr>
          <p:spPr bwMode="auto">
            <a:xfrm>
              <a:off x="3630" y="3103"/>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37944" name="Rectangle 56"/>
            <p:cNvSpPr>
              <a:spLocks noChangeArrowheads="1"/>
            </p:cNvSpPr>
            <p:nvPr/>
          </p:nvSpPr>
          <p:spPr bwMode="auto">
            <a:xfrm>
              <a:off x="3705"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37945" name="Rectangle 57"/>
            <p:cNvSpPr>
              <a:spLocks noChangeArrowheads="1"/>
            </p:cNvSpPr>
            <p:nvPr/>
          </p:nvSpPr>
          <p:spPr bwMode="auto">
            <a:xfrm>
              <a:off x="3054" y="217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1</a:t>
              </a:r>
              <a:endParaRPr lang="en-US" altLang="ar-AE" b="1"/>
            </a:p>
          </p:txBody>
        </p:sp>
        <p:sp>
          <p:nvSpPr>
            <p:cNvPr id="37946" name="Rectangle 58"/>
            <p:cNvSpPr>
              <a:spLocks noChangeArrowheads="1"/>
            </p:cNvSpPr>
            <p:nvPr/>
          </p:nvSpPr>
          <p:spPr bwMode="auto">
            <a:xfrm>
              <a:off x="4099" y="2407"/>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(4)</a:t>
              </a:r>
              <a:endParaRPr lang="en-US" altLang="ar-AE"/>
            </a:p>
          </p:txBody>
        </p:sp>
        <p:sp>
          <p:nvSpPr>
            <p:cNvPr id="37947" name="Rectangle 59"/>
            <p:cNvSpPr>
              <a:spLocks noChangeArrowheads="1"/>
            </p:cNvSpPr>
            <p:nvPr/>
          </p:nvSpPr>
          <p:spPr bwMode="auto">
            <a:xfrm>
              <a:off x="4099" y="270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(7)</a:t>
              </a:r>
              <a:endParaRPr lang="en-US" altLang="ar-AE"/>
            </a:p>
          </p:txBody>
        </p:sp>
        <p:sp>
          <p:nvSpPr>
            <p:cNvPr id="37948" name="Rectangle 60"/>
            <p:cNvSpPr>
              <a:spLocks noChangeArrowheads="1"/>
            </p:cNvSpPr>
            <p:nvPr/>
          </p:nvSpPr>
          <p:spPr bwMode="auto">
            <a:xfrm>
              <a:off x="4066" y="3169"/>
              <a:ext cx="21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(11)</a:t>
              </a:r>
              <a:endParaRPr lang="en-US" altLang="ar-AE"/>
            </a:p>
          </p:txBody>
        </p:sp>
        <p:sp>
          <p:nvSpPr>
            <p:cNvPr id="37949" name="Rectangle 61"/>
            <p:cNvSpPr>
              <a:spLocks noChangeArrowheads="1"/>
            </p:cNvSpPr>
            <p:nvPr/>
          </p:nvSpPr>
          <p:spPr bwMode="auto">
            <a:xfrm>
              <a:off x="2688" y="2175"/>
              <a:ext cx="26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carry:</a:t>
              </a:r>
              <a:endParaRPr lang="en-US" altLang="ar-AE" b="1"/>
            </a:p>
          </p:txBody>
        </p:sp>
        <p:sp>
          <p:nvSpPr>
            <p:cNvPr id="37950" name="Rectangle 62"/>
            <p:cNvSpPr>
              <a:spLocks noChangeArrowheads="1"/>
            </p:cNvSpPr>
            <p:nvPr/>
          </p:nvSpPr>
          <p:spPr bwMode="auto">
            <a:xfrm>
              <a:off x="3718" y="342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0</a:t>
              </a:r>
              <a:endParaRPr lang="en-US" altLang="ar-AE" b="1"/>
            </a:p>
          </p:txBody>
        </p:sp>
        <p:sp>
          <p:nvSpPr>
            <p:cNvPr id="37951" name="Rectangle 63"/>
            <p:cNvSpPr>
              <a:spLocks noChangeArrowheads="1"/>
            </p:cNvSpPr>
            <p:nvPr/>
          </p:nvSpPr>
          <p:spPr bwMode="auto">
            <a:xfrm>
              <a:off x="3501" y="342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1</a:t>
              </a:r>
              <a:endParaRPr lang="en-US" altLang="ar-AE" b="1"/>
            </a:p>
          </p:txBody>
        </p:sp>
        <p:sp>
          <p:nvSpPr>
            <p:cNvPr id="37952" name="Rectangle 64"/>
            <p:cNvSpPr>
              <a:spLocks noChangeArrowheads="1"/>
            </p:cNvSpPr>
            <p:nvPr/>
          </p:nvSpPr>
          <p:spPr bwMode="auto">
            <a:xfrm>
              <a:off x="3284" y="342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2</a:t>
              </a:r>
              <a:endParaRPr lang="en-US" altLang="ar-AE" b="1"/>
            </a:p>
          </p:txBody>
        </p:sp>
        <p:sp>
          <p:nvSpPr>
            <p:cNvPr id="37953" name="Rectangle 65"/>
            <p:cNvSpPr>
              <a:spLocks noChangeArrowheads="1"/>
            </p:cNvSpPr>
            <p:nvPr/>
          </p:nvSpPr>
          <p:spPr bwMode="auto">
            <a:xfrm>
              <a:off x="3067" y="342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3</a:t>
              </a:r>
              <a:endParaRPr lang="en-US" altLang="ar-AE" b="1"/>
            </a:p>
          </p:txBody>
        </p:sp>
        <p:sp>
          <p:nvSpPr>
            <p:cNvPr id="37954" name="Rectangle 66"/>
            <p:cNvSpPr>
              <a:spLocks noChangeArrowheads="1"/>
            </p:cNvSpPr>
            <p:nvPr/>
          </p:nvSpPr>
          <p:spPr bwMode="auto">
            <a:xfrm>
              <a:off x="2837" y="342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4</a:t>
              </a:r>
              <a:endParaRPr lang="en-US" altLang="ar-AE" b="1"/>
            </a:p>
          </p:txBody>
        </p:sp>
        <p:sp>
          <p:nvSpPr>
            <p:cNvPr id="37955" name="Rectangle 67"/>
            <p:cNvSpPr>
              <a:spLocks noChangeArrowheads="1"/>
            </p:cNvSpPr>
            <p:nvPr/>
          </p:nvSpPr>
          <p:spPr bwMode="auto">
            <a:xfrm>
              <a:off x="1543" y="3425"/>
              <a:ext cx="55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bit position:</a:t>
              </a:r>
              <a:endParaRPr lang="en-US" altLang="ar-AE" b="1"/>
            </a:p>
          </p:txBody>
        </p:sp>
        <p:sp>
          <p:nvSpPr>
            <p:cNvPr id="37956" name="Rectangle 68"/>
            <p:cNvSpPr>
              <a:spLocks noChangeArrowheads="1"/>
            </p:cNvSpPr>
            <p:nvPr/>
          </p:nvSpPr>
          <p:spPr bwMode="auto">
            <a:xfrm>
              <a:off x="2620" y="342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5</a:t>
              </a:r>
              <a:endParaRPr lang="en-US" altLang="ar-AE" b="1"/>
            </a:p>
          </p:txBody>
        </p:sp>
        <p:sp>
          <p:nvSpPr>
            <p:cNvPr id="37957" name="Rectangle 69"/>
            <p:cNvSpPr>
              <a:spLocks noChangeArrowheads="1"/>
            </p:cNvSpPr>
            <p:nvPr/>
          </p:nvSpPr>
          <p:spPr bwMode="auto">
            <a:xfrm>
              <a:off x="2403" y="342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6</a:t>
              </a:r>
              <a:endParaRPr lang="en-US" altLang="ar-AE" b="1"/>
            </a:p>
          </p:txBody>
        </p:sp>
        <p:sp>
          <p:nvSpPr>
            <p:cNvPr id="37958" name="Rectangle 70"/>
            <p:cNvSpPr>
              <a:spLocks noChangeArrowheads="1"/>
            </p:cNvSpPr>
            <p:nvPr/>
          </p:nvSpPr>
          <p:spPr bwMode="auto">
            <a:xfrm>
              <a:off x="2186" y="342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7</a:t>
              </a:r>
              <a:endParaRPr lang="en-US" altLang="ar-AE" b="1"/>
            </a:p>
          </p:txBody>
        </p:sp>
      </p:grpSp>
      <p:sp>
        <p:nvSpPr>
          <p:cNvPr id="70" name="مستطيل 69"/>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274638"/>
            <a:ext cx="8229600" cy="792162"/>
          </a:xfrm>
        </p:spPr>
        <p:txBody>
          <a:bodyPr/>
          <a:lstStyle/>
          <a:p>
            <a:pPr eaLnBrk="1" hangingPunct="1"/>
            <a:r>
              <a:rPr lang="en-US" altLang="ar-AE"/>
              <a:t>Hexadecimal Addition</a:t>
            </a:r>
          </a:p>
        </p:txBody>
      </p:sp>
      <p:sp>
        <p:nvSpPr>
          <p:cNvPr id="38915" name="Rectangle 3"/>
          <p:cNvSpPr>
            <a:spLocks noGrp="1" noChangeArrowheads="1"/>
          </p:cNvSpPr>
          <p:nvPr>
            <p:ph type="body" idx="1"/>
          </p:nvPr>
        </p:nvSpPr>
        <p:spPr>
          <a:xfrm>
            <a:off x="457200" y="1317625"/>
            <a:ext cx="8229600" cy="696913"/>
          </a:xfrm>
        </p:spPr>
        <p:txBody>
          <a:bodyPr/>
          <a:lstStyle/>
          <a:p>
            <a:pPr eaLnBrk="1" hangingPunct="1">
              <a:lnSpc>
                <a:spcPct val="110000"/>
              </a:lnSpc>
            </a:pPr>
            <a:r>
              <a:rPr lang="en-US" altLang="ar-AE"/>
              <a:t>Divide the sum of two digits by the number base (16). The quotient becomes the carry value, and the remainder is the sum digit.</a:t>
            </a:r>
          </a:p>
        </p:txBody>
      </p:sp>
      <p:grpSp>
        <p:nvGrpSpPr>
          <p:cNvPr id="38916" name="Group 12"/>
          <p:cNvGrpSpPr>
            <a:grpSpLocks/>
          </p:cNvGrpSpPr>
          <p:nvPr/>
        </p:nvGrpSpPr>
        <p:grpSpPr bwMode="auto">
          <a:xfrm>
            <a:off x="2362200" y="2697163"/>
            <a:ext cx="4918075" cy="2171700"/>
            <a:chOff x="1488" y="1663"/>
            <a:chExt cx="3098" cy="1368"/>
          </a:xfrm>
        </p:grpSpPr>
        <p:grpSp>
          <p:nvGrpSpPr>
            <p:cNvPr id="38919" name="Group 11"/>
            <p:cNvGrpSpPr>
              <a:grpSpLocks/>
            </p:cNvGrpSpPr>
            <p:nvPr/>
          </p:nvGrpSpPr>
          <p:grpSpPr bwMode="auto">
            <a:xfrm>
              <a:off x="1488" y="1663"/>
              <a:ext cx="2448" cy="818"/>
              <a:chOff x="1488" y="1431"/>
              <a:chExt cx="2448" cy="818"/>
            </a:xfrm>
          </p:grpSpPr>
          <p:sp>
            <p:nvSpPr>
              <p:cNvPr id="38922" name="Text Box 4"/>
              <p:cNvSpPr txBox="1">
                <a:spLocks noChangeArrowheads="1"/>
              </p:cNvSpPr>
              <p:nvPr/>
            </p:nvSpPr>
            <p:spPr bwMode="auto">
              <a:xfrm>
                <a:off x="1488" y="1632"/>
                <a:ext cx="2448" cy="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40000"/>
                  </a:lnSpc>
                  <a:spcBef>
                    <a:spcPct val="50000"/>
                  </a:spcBef>
                </a:pPr>
                <a:r>
                  <a:rPr lang="en-US" altLang="ar-AE" sz="2100" dirty="0"/>
                  <a:t>36	28	28	6A</a:t>
                </a:r>
              </a:p>
              <a:p>
                <a:pPr eaLnBrk="1" hangingPunct="1">
                  <a:lnSpc>
                    <a:spcPct val="40000"/>
                  </a:lnSpc>
                  <a:spcBef>
                    <a:spcPct val="50000"/>
                  </a:spcBef>
                </a:pPr>
                <a:r>
                  <a:rPr lang="en-US" altLang="ar-AE" sz="2100" dirty="0"/>
                  <a:t>42	45	58	4B</a:t>
                </a:r>
              </a:p>
              <a:p>
                <a:pPr eaLnBrk="1" hangingPunct="1">
                  <a:lnSpc>
                    <a:spcPct val="40000"/>
                  </a:lnSpc>
                  <a:spcBef>
                    <a:spcPct val="50000"/>
                  </a:spcBef>
                </a:pPr>
                <a:r>
                  <a:rPr lang="en-US" altLang="ar-AE" sz="2100" dirty="0"/>
                  <a:t>78	6D	80	B5</a:t>
                </a:r>
              </a:p>
            </p:txBody>
          </p:sp>
          <p:sp>
            <p:nvSpPr>
              <p:cNvPr id="38923" name="Line 5"/>
              <p:cNvSpPr>
                <a:spLocks noChangeShapeType="1"/>
              </p:cNvSpPr>
              <p:nvPr/>
            </p:nvSpPr>
            <p:spPr bwMode="auto">
              <a:xfrm flipV="1">
                <a:off x="1536" y="1986"/>
                <a:ext cx="20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ar-SA"/>
              </a:p>
            </p:txBody>
          </p:sp>
          <p:sp>
            <p:nvSpPr>
              <p:cNvPr id="38924" name="Text Box 6"/>
              <p:cNvSpPr txBox="1">
                <a:spLocks noChangeArrowheads="1"/>
              </p:cNvSpPr>
              <p:nvPr/>
            </p:nvSpPr>
            <p:spPr bwMode="auto">
              <a:xfrm>
                <a:off x="3234" y="1431"/>
                <a:ext cx="178"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1300" b="1"/>
                  <a:t>1</a:t>
                </a:r>
              </a:p>
            </p:txBody>
          </p:sp>
          <p:sp>
            <p:nvSpPr>
              <p:cNvPr id="38925" name="Text Box 7"/>
              <p:cNvSpPr txBox="1">
                <a:spLocks noChangeArrowheads="1"/>
              </p:cNvSpPr>
              <p:nvPr/>
            </p:nvSpPr>
            <p:spPr bwMode="auto">
              <a:xfrm>
                <a:off x="2652" y="1440"/>
                <a:ext cx="178"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1300" b="1"/>
                  <a:t>1</a:t>
                </a:r>
              </a:p>
            </p:txBody>
          </p:sp>
        </p:grpSp>
        <p:sp>
          <p:nvSpPr>
            <p:cNvPr id="38920" name="Line 8"/>
            <p:cNvSpPr>
              <a:spLocks noChangeShapeType="1"/>
            </p:cNvSpPr>
            <p:nvPr/>
          </p:nvSpPr>
          <p:spPr bwMode="auto">
            <a:xfrm flipH="1" flipV="1">
              <a:off x="3424" y="2444"/>
              <a:ext cx="2" cy="2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ar-SA"/>
            </a:p>
          </p:txBody>
        </p:sp>
        <p:sp>
          <p:nvSpPr>
            <p:cNvPr id="38921" name="Text Box 9"/>
            <p:cNvSpPr txBox="1">
              <a:spLocks noChangeArrowheads="1"/>
            </p:cNvSpPr>
            <p:nvPr/>
          </p:nvSpPr>
          <p:spPr bwMode="auto">
            <a:xfrm>
              <a:off x="2856" y="2695"/>
              <a:ext cx="173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10000"/>
                </a:lnSpc>
                <a:spcBef>
                  <a:spcPct val="50000"/>
                </a:spcBef>
              </a:pPr>
              <a:r>
                <a:rPr lang="en-US" altLang="ar-AE" sz="1500"/>
                <a:t>21 / 16 = 1, remainder 5</a:t>
              </a:r>
            </a:p>
          </p:txBody>
        </p:sp>
      </p:grpSp>
      <p:sp>
        <p:nvSpPr>
          <p:cNvPr id="133130" name="Text Box 10"/>
          <p:cNvSpPr txBox="1">
            <a:spLocks noChangeArrowheads="1"/>
          </p:cNvSpPr>
          <p:nvPr/>
        </p:nvSpPr>
        <p:spPr bwMode="auto">
          <a:xfrm>
            <a:off x="404019" y="5468265"/>
            <a:ext cx="7612062" cy="861774"/>
          </a:xfrm>
          <a:prstGeom prst="rect">
            <a:avLst/>
          </a:prstGeom>
          <a:ln>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1"/>
          </a:lnRef>
          <a:fillRef idx="2">
            <a:schemeClr val="accent1"/>
          </a:fillRef>
          <a:effectRef idx="1">
            <a:schemeClr val="accent1"/>
          </a:effectRef>
          <a:fontRef idx="minor">
            <a:schemeClr val="dk1"/>
          </a:fontRef>
        </p:style>
        <p:txBody>
          <a:bodyPr wrap="square"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1900" b="1">
                <a:solidFill>
                  <a:schemeClr val="tx2"/>
                </a:solidFill>
              </a:rPr>
              <a:t>Important skill: Programmers frequently add and subtract the addresses of variables and instructions.</a:t>
            </a:r>
          </a:p>
        </p:txBody>
      </p:sp>
      <p:sp>
        <p:nvSpPr>
          <p:cNvPr id="13" name="مستطيل 12"/>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30"/>
                                        </p:tgtEl>
                                        <p:attrNameLst>
                                          <p:attrName>style.visibility</p:attrName>
                                        </p:attrNameLst>
                                      </p:cBhvr>
                                      <p:to>
                                        <p:strVal val="visible"/>
                                      </p:to>
                                    </p:set>
                                    <p:animEffect transition="in" filter="dissolve">
                                      <p:cBhvr>
                                        <p:cTn id="7" dur="500"/>
                                        <p:tgtEl>
                                          <p:spTgt spid="133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30"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274638"/>
            <a:ext cx="8229600" cy="792162"/>
          </a:xfrm>
        </p:spPr>
        <p:txBody>
          <a:bodyPr/>
          <a:lstStyle/>
          <a:p>
            <a:pPr eaLnBrk="1" hangingPunct="1"/>
            <a:r>
              <a:rPr lang="en-US" altLang="ar-AE"/>
              <a:t>Signed Integers</a:t>
            </a:r>
          </a:p>
        </p:txBody>
      </p:sp>
      <p:sp>
        <p:nvSpPr>
          <p:cNvPr id="39939" name="Rectangle 3"/>
          <p:cNvSpPr>
            <a:spLocks noGrp="1" noChangeArrowheads="1"/>
          </p:cNvSpPr>
          <p:nvPr>
            <p:ph type="body" idx="1"/>
          </p:nvPr>
        </p:nvSpPr>
        <p:spPr/>
        <p:txBody>
          <a:bodyPr/>
          <a:lstStyle/>
          <a:p>
            <a:pPr eaLnBrk="1" hangingPunct="1"/>
            <a:r>
              <a:rPr lang="en-US" altLang="ar-AE" dirty="0"/>
              <a:t>Several ways to represent a signed number</a:t>
            </a:r>
          </a:p>
          <a:p>
            <a:pPr lvl="1" eaLnBrk="1" hangingPunct="1"/>
            <a:r>
              <a:rPr lang="en-US" altLang="ar-AE" dirty="0"/>
              <a:t>Sign-</a:t>
            </a:r>
            <a:r>
              <a:rPr lang="en-US" altLang="ar-AE" dirty="0" err="1"/>
              <a:t>Magnitud</a:t>
            </a:r>
            <a:endParaRPr lang="en-US" altLang="ar-AE" dirty="0"/>
          </a:p>
          <a:p>
            <a:pPr lvl="1" eaLnBrk="1" hangingPunct="1"/>
            <a:r>
              <a:rPr lang="en-US" altLang="ar-AE" dirty="0"/>
              <a:t>1's complement</a:t>
            </a:r>
          </a:p>
          <a:p>
            <a:pPr lvl="1" eaLnBrk="1" hangingPunct="1"/>
            <a:r>
              <a:rPr lang="en-US" altLang="ar-AE" dirty="0"/>
              <a:t>2's complement</a:t>
            </a:r>
          </a:p>
          <a:p>
            <a:pPr eaLnBrk="1" hangingPunct="1"/>
            <a:r>
              <a:rPr lang="en-US" altLang="ar-AE" dirty="0"/>
              <a:t>Divide the range of values into 2 equal parts</a:t>
            </a:r>
          </a:p>
          <a:p>
            <a:pPr lvl="1" eaLnBrk="1" hangingPunct="1"/>
            <a:r>
              <a:rPr lang="en-US" altLang="ar-AE" dirty="0"/>
              <a:t>First part corresponds to the positive numbers (≥ 0)</a:t>
            </a:r>
          </a:p>
          <a:p>
            <a:pPr lvl="1" eaLnBrk="1" hangingPunct="1"/>
            <a:r>
              <a:rPr lang="en-US" altLang="ar-AE" dirty="0"/>
              <a:t>Second part correspond to the negative numbers (&lt; 0)</a:t>
            </a:r>
          </a:p>
          <a:p>
            <a:pPr eaLnBrk="1" hangingPunct="1"/>
            <a:r>
              <a:rPr lang="en-US" altLang="ar-AE" dirty="0"/>
              <a:t>Focus will be on the 2's complement representation</a:t>
            </a:r>
          </a:p>
          <a:p>
            <a:pPr lvl="1" eaLnBrk="1" hangingPunct="1"/>
            <a:r>
              <a:rPr lang="en-US" altLang="ar-AE" dirty="0"/>
              <a:t>Has many advantages over other representations</a:t>
            </a:r>
          </a:p>
          <a:p>
            <a:pPr lvl="1" eaLnBrk="1" hangingPunct="1"/>
            <a:r>
              <a:rPr lang="en-US" altLang="ar-AE" dirty="0"/>
              <a:t>Used widely in processors to represent signed integers</a:t>
            </a:r>
          </a:p>
        </p:txBody>
      </p:sp>
      <p:sp>
        <p:nvSpPr>
          <p:cNvPr id="4" name="مستطيل 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ar-AE"/>
              <a:t>Two's Complement Representation</a:t>
            </a:r>
          </a:p>
        </p:txBody>
      </p:sp>
      <p:graphicFrame>
        <p:nvGraphicFramePr>
          <p:cNvPr id="190661" name="Group 197"/>
          <p:cNvGraphicFramePr>
            <a:graphicFrameLocks noGrp="1"/>
          </p:cNvGraphicFramePr>
          <p:nvPr>
            <p:ph idx="1"/>
          </p:nvPr>
        </p:nvGraphicFramePr>
        <p:xfrm>
          <a:off x="5430838" y="1296988"/>
          <a:ext cx="3230562" cy="4746792"/>
        </p:xfrm>
        <a:graphic>
          <a:graphicData uri="http://schemas.openxmlformats.org/drawingml/2006/table">
            <a:tbl>
              <a:tblPr/>
              <a:tblGrid>
                <a:gridCol w="1211262">
                  <a:extLst>
                    <a:ext uri="{9D8B030D-6E8A-4147-A177-3AD203B41FA5}">
                      <a16:colId xmlns:a16="http://schemas.microsoft.com/office/drawing/2014/main" val="20000"/>
                    </a:ext>
                  </a:extLst>
                </a:gridCol>
                <a:gridCol w="1039813">
                  <a:extLst>
                    <a:ext uri="{9D8B030D-6E8A-4147-A177-3AD203B41FA5}">
                      <a16:colId xmlns:a16="http://schemas.microsoft.com/office/drawing/2014/main" val="20001"/>
                    </a:ext>
                  </a:extLst>
                </a:gridCol>
                <a:gridCol w="979487">
                  <a:extLst>
                    <a:ext uri="{9D8B030D-6E8A-4147-A177-3AD203B41FA5}">
                      <a16:colId xmlns:a16="http://schemas.microsoft.com/office/drawing/2014/main" val="20002"/>
                    </a:ext>
                  </a:extLst>
                </a:gridCol>
              </a:tblGrid>
              <a:tr h="579042">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8-bit Binary</a:t>
                      </a:r>
                    </a:p>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value</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Unsigned</a:t>
                      </a:r>
                    </a:p>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value</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Signed</a:t>
                      </a:r>
                    </a:p>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value</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00000000</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0</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0</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00000001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00000010</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2</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+2</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01111110</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126</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+126</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01111111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127</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+127</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10000000</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128</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-128</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10000001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129</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-127</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11111110</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254</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-2</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3523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11111111</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255</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-1</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41017" name="Rectangle 114"/>
          <p:cNvSpPr>
            <a:spLocks noChangeArrowheads="1"/>
          </p:cNvSpPr>
          <p:nvPr/>
        </p:nvSpPr>
        <p:spPr bwMode="auto">
          <a:xfrm>
            <a:off x="457200" y="1143000"/>
            <a:ext cx="4921250" cy="516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marL="347663" indent="-347663">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98513" indent="-3365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4588" indent="-231775">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481138" indent="-222250">
              <a:spcBef>
                <a:spcPct val="40000"/>
              </a:spcBef>
              <a:buChar char="–"/>
              <a:defRPr sz="1600">
                <a:solidFill>
                  <a:schemeClr val="tx1"/>
                </a:solidFill>
                <a:latin typeface="Arial" panose="020B0604020202020204" pitchFamily="34" charset="0"/>
                <a:cs typeface="Arial" panose="020B0604020202020204" pitchFamily="34" charset="0"/>
              </a:defRPr>
            </a:lvl4pPr>
            <a:lvl5pPr indent="-233363">
              <a:spcBef>
                <a:spcPct val="40000"/>
              </a:spcBef>
              <a:buChar char="»"/>
              <a:defRPr sz="1600">
                <a:solidFill>
                  <a:schemeClr val="tx1"/>
                </a:solidFill>
                <a:latin typeface="Arial" panose="020B0604020202020204" pitchFamily="34" charset="0"/>
                <a:cs typeface="Arial" panose="020B0604020202020204" pitchFamily="34" charset="0"/>
              </a:defRPr>
            </a:lvl5pPr>
            <a:lvl6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eaLnBrk="1" hangingPunct="1"/>
            <a:r>
              <a:rPr lang="en-US" altLang="ar-AE" dirty="0"/>
              <a:t>Positive numbers</a:t>
            </a:r>
          </a:p>
          <a:p>
            <a:pPr lvl="1" eaLnBrk="1" hangingPunct="1"/>
            <a:r>
              <a:rPr lang="en-US" altLang="ar-AE" dirty="0"/>
              <a:t>Signed value = Unsigned value</a:t>
            </a:r>
          </a:p>
          <a:p>
            <a:pPr eaLnBrk="1" hangingPunct="1"/>
            <a:r>
              <a:rPr lang="en-US" altLang="ar-AE" dirty="0"/>
              <a:t>Negative numbers</a:t>
            </a:r>
          </a:p>
          <a:p>
            <a:pPr lvl="1" eaLnBrk="1" hangingPunct="1"/>
            <a:r>
              <a:rPr lang="en-US" altLang="ar-AE" dirty="0"/>
              <a:t>Signed value = 2’s complement</a:t>
            </a:r>
          </a:p>
          <a:p>
            <a:pPr eaLnBrk="1" hangingPunct="1"/>
            <a:r>
              <a:rPr lang="en-US" altLang="ar-AE" dirty="0"/>
              <a:t>Negative weight for MSB</a:t>
            </a:r>
          </a:p>
          <a:p>
            <a:pPr lvl="1" eaLnBrk="1" hangingPunct="1"/>
            <a:r>
              <a:rPr lang="en-US" altLang="ar-AE" dirty="0"/>
              <a:t>Another way to obtain the signed value is to assign a negative weight to most-significant bit</a:t>
            </a:r>
          </a:p>
          <a:p>
            <a:pPr lvl="1" eaLnBrk="1" hangingPunct="1"/>
            <a:endParaRPr lang="en-US" altLang="ar-AE" dirty="0"/>
          </a:p>
          <a:p>
            <a:pPr lvl="1" eaLnBrk="1" hangingPunct="1"/>
            <a:endParaRPr lang="en-US" altLang="ar-AE" dirty="0"/>
          </a:p>
          <a:p>
            <a:pPr lvl="1" eaLnBrk="1" hangingPunct="1">
              <a:buFont typeface="Wingdings" panose="05000000000000000000" pitchFamily="2" charset="2"/>
              <a:buNone/>
            </a:pPr>
            <a:endParaRPr lang="en-US" altLang="ar-AE" dirty="0"/>
          </a:p>
          <a:p>
            <a:pPr lvl="1" eaLnBrk="1" hangingPunct="1">
              <a:buFont typeface="Wingdings" panose="05000000000000000000" pitchFamily="2" charset="2"/>
              <a:buNone/>
            </a:pPr>
            <a:r>
              <a:rPr lang="en-US" altLang="ar-AE" dirty="0"/>
              <a:t>= -128 + 32 + 16 + 4 = -76</a:t>
            </a:r>
          </a:p>
        </p:txBody>
      </p:sp>
      <p:grpSp>
        <p:nvGrpSpPr>
          <p:cNvPr id="41018" name="Group 253"/>
          <p:cNvGrpSpPr>
            <a:grpSpLocks/>
          </p:cNvGrpSpPr>
          <p:nvPr/>
        </p:nvGrpSpPr>
        <p:grpSpPr bwMode="auto">
          <a:xfrm>
            <a:off x="1216025" y="5024438"/>
            <a:ext cx="2895600" cy="766762"/>
            <a:chOff x="812" y="2704"/>
            <a:chExt cx="1824" cy="483"/>
          </a:xfrm>
        </p:grpSpPr>
        <p:sp>
          <p:nvSpPr>
            <p:cNvPr id="41020" name="AutoShape 203"/>
            <p:cNvSpPr>
              <a:spLocks noChangeAspect="1" noChangeArrowheads="1" noTextEdit="1"/>
            </p:cNvSpPr>
            <p:nvPr/>
          </p:nvSpPr>
          <p:spPr bwMode="auto">
            <a:xfrm>
              <a:off x="812" y="2704"/>
              <a:ext cx="1824" cy="48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SA"/>
            </a:p>
          </p:txBody>
        </p:sp>
        <p:sp>
          <p:nvSpPr>
            <p:cNvPr id="41021" name="Freeform 205"/>
            <p:cNvSpPr>
              <a:spLocks/>
            </p:cNvSpPr>
            <p:nvPr/>
          </p:nvSpPr>
          <p:spPr bwMode="auto">
            <a:xfrm>
              <a:off x="876" y="2926"/>
              <a:ext cx="243" cy="32"/>
            </a:xfrm>
            <a:custGeom>
              <a:avLst/>
              <a:gdLst>
                <a:gd name="T0" fmla="*/ 215 w 243"/>
                <a:gd name="T1" fmla="*/ 0 h 32"/>
                <a:gd name="T2" fmla="*/ 0 w 243"/>
                <a:gd name="T3" fmla="*/ 0 h 32"/>
                <a:gd name="T4" fmla="*/ 28 w 243"/>
                <a:gd name="T5" fmla="*/ 32 h 32"/>
                <a:gd name="T6" fmla="*/ 243 w 243"/>
                <a:gd name="T7" fmla="*/ 32 h 32"/>
                <a:gd name="T8" fmla="*/ 215 w 24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 h="32">
                  <a:moveTo>
                    <a:pt x="215" y="0"/>
                  </a:moveTo>
                  <a:lnTo>
                    <a:pt x="0" y="0"/>
                  </a:lnTo>
                  <a:lnTo>
                    <a:pt x="28" y="32"/>
                  </a:lnTo>
                  <a:lnTo>
                    <a:pt x="243" y="32"/>
                  </a:lnTo>
                  <a:lnTo>
                    <a:pt x="215" y="0"/>
                  </a:lnTo>
                  <a:close/>
                </a:path>
              </a:pathLst>
            </a:custGeom>
            <a:solidFill>
              <a:srgbClr val="C0C0C0"/>
            </a:solidFill>
            <a:ln w="4763">
              <a:solidFill>
                <a:srgbClr val="000000"/>
              </a:solidFill>
              <a:prstDash val="solid"/>
              <a:round/>
              <a:headEnd/>
              <a:tailEnd/>
            </a:ln>
          </p:spPr>
          <p:txBody>
            <a:bodyPr/>
            <a:lstStyle/>
            <a:p>
              <a:endParaRPr lang="ar-SA"/>
            </a:p>
          </p:txBody>
        </p:sp>
        <p:sp>
          <p:nvSpPr>
            <p:cNvPr id="41022" name="Freeform 206"/>
            <p:cNvSpPr>
              <a:spLocks/>
            </p:cNvSpPr>
            <p:nvPr/>
          </p:nvSpPr>
          <p:spPr bwMode="auto">
            <a:xfrm>
              <a:off x="1091" y="2779"/>
              <a:ext cx="28" cy="179"/>
            </a:xfrm>
            <a:custGeom>
              <a:avLst/>
              <a:gdLst>
                <a:gd name="T0" fmla="*/ 28 w 28"/>
                <a:gd name="T1" fmla="*/ 179 h 179"/>
                <a:gd name="T2" fmla="*/ 0 w 28"/>
                <a:gd name="T3" fmla="*/ 147 h 179"/>
                <a:gd name="T4" fmla="*/ 0 w 28"/>
                <a:gd name="T5" fmla="*/ 0 h 179"/>
                <a:gd name="T6" fmla="*/ 28 w 28"/>
                <a:gd name="T7" fmla="*/ 32 h 179"/>
                <a:gd name="T8" fmla="*/ 28 w 28"/>
                <a:gd name="T9" fmla="*/ 179 h 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179">
                  <a:moveTo>
                    <a:pt x="28" y="179"/>
                  </a:moveTo>
                  <a:lnTo>
                    <a:pt x="0" y="147"/>
                  </a:lnTo>
                  <a:lnTo>
                    <a:pt x="0" y="0"/>
                  </a:lnTo>
                  <a:lnTo>
                    <a:pt x="28" y="32"/>
                  </a:lnTo>
                  <a:lnTo>
                    <a:pt x="28" y="179"/>
                  </a:lnTo>
                  <a:close/>
                </a:path>
              </a:pathLst>
            </a:custGeom>
            <a:solidFill>
              <a:srgbClr val="C0C0C0"/>
            </a:solidFill>
            <a:ln w="4763">
              <a:solidFill>
                <a:srgbClr val="000000"/>
              </a:solidFill>
              <a:prstDash val="solid"/>
              <a:round/>
              <a:headEnd/>
              <a:tailEnd/>
            </a:ln>
          </p:spPr>
          <p:txBody>
            <a:bodyPr/>
            <a:lstStyle/>
            <a:p>
              <a:endParaRPr lang="ar-SA"/>
            </a:p>
          </p:txBody>
        </p:sp>
        <p:sp>
          <p:nvSpPr>
            <p:cNvPr id="41023" name="Rectangle 207"/>
            <p:cNvSpPr>
              <a:spLocks noChangeArrowheads="1"/>
            </p:cNvSpPr>
            <p:nvPr/>
          </p:nvSpPr>
          <p:spPr bwMode="auto">
            <a:xfrm>
              <a:off x="876" y="2779"/>
              <a:ext cx="215" cy="14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1024" name="Rectangle 208"/>
            <p:cNvSpPr>
              <a:spLocks noChangeArrowheads="1"/>
            </p:cNvSpPr>
            <p:nvPr/>
          </p:nvSpPr>
          <p:spPr bwMode="auto">
            <a:xfrm>
              <a:off x="950"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41025" name="Freeform 209"/>
            <p:cNvSpPr>
              <a:spLocks/>
            </p:cNvSpPr>
            <p:nvPr/>
          </p:nvSpPr>
          <p:spPr bwMode="auto">
            <a:xfrm>
              <a:off x="1083" y="2926"/>
              <a:ext cx="235" cy="32"/>
            </a:xfrm>
            <a:custGeom>
              <a:avLst/>
              <a:gdLst>
                <a:gd name="T0" fmla="*/ 208 w 235"/>
                <a:gd name="T1" fmla="*/ 0 h 32"/>
                <a:gd name="T2" fmla="*/ 0 w 235"/>
                <a:gd name="T3" fmla="*/ 0 h 32"/>
                <a:gd name="T4" fmla="*/ 28 w 235"/>
                <a:gd name="T5" fmla="*/ 32 h 32"/>
                <a:gd name="T6" fmla="*/ 235 w 235"/>
                <a:gd name="T7" fmla="*/ 32 h 32"/>
                <a:gd name="T8" fmla="*/ 208 w 235"/>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5" h="32">
                  <a:moveTo>
                    <a:pt x="208" y="0"/>
                  </a:moveTo>
                  <a:lnTo>
                    <a:pt x="0" y="0"/>
                  </a:lnTo>
                  <a:lnTo>
                    <a:pt x="28" y="32"/>
                  </a:lnTo>
                  <a:lnTo>
                    <a:pt x="235" y="32"/>
                  </a:lnTo>
                  <a:lnTo>
                    <a:pt x="208" y="0"/>
                  </a:lnTo>
                  <a:close/>
                </a:path>
              </a:pathLst>
            </a:custGeom>
            <a:solidFill>
              <a:srgbClr val="C0C0C0"/>
            </a:solidFill>
            <a:ln w="4763">
              <a:solidFill>
                <a:srgbClr val="000000"/>
              </a:solidFill>
              <a:prstDash val="solid"/>
              <a:round/>
              <a:headEnd/>
              <a:tailEnd/>
            </a:ln>
          </p:spPr>
          <p:txBody>
            <a:bodyPr/>
            <a:lstStyle/>
            <a:p>
              <a:endParaRPr lang="ar-SA"/>
            </a:p>
          </p:txBody>
        </p:sp>
        <p:sp>
          <p:nvSpPr>
            <p:cNvPr id="41026" name="Freeform 210"/>
            <p:cNvSpPr>
              <a:spLocks/>
            </p:cNvSpPr>
            <p:nvPr/>
          </p:nvSpPr>
          <p:spPr bwMode="auto">
            <a:xfrm>
              <a:off x="1291" y="2779"/>
              <a:ext cx="27" cy="179"/>
            </a:xfrm>
            <a:custGeom>
              <a:avLst/>
              <a:gdLst>
                <a:gd name="T0" fmla="*/ 27 w 27"/>
                <a:gd name="T1" fmla="*/ 179 h 179"/>
                <a:gd name="T2" fmla="*/ 0 w 27"/>
                <a:gd name="T3" fmla="*/ 147 h 179"/>
                <a:gd name="T4" fmla="*/ 0 w 27"/>
                <a:gd name="T5" fmla="*/ 0 h 179"/>
                <a:gd name="T6" fmla="*/ 27 w 27"/>
                <a:gd name="T7" fmla="*/ 32 h 179"/>
                <a:gd name="T8" fmla="*/ 27 w 27"/>
                <a:gd name="T9" fmla="*/ 179 h 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79">
                  <a:moveTo>
                    <a:pt x="27" y="179"/>
                  </a:moveTo>
                  <a:lnTo>
                    <a:pt x="0" y="147"/>
                  </a:lnTo>
                  <a:lnTo>
                    <a:pt x="0" y="0"/>
                  </a:lnTo>
                  <a:lnTo>
                    <a:pt x="27" y="32"/>
                  </a:lnTo>
                  <a:lnTo>
                    <a:pt x="27" y="179"/>
                  </a:lnTo>
                  <a:close/>
                </a:path>
              </a:pathLst>
            </a:custGeom>
            <a:solidFill>
              <a:srgbClr val="C0C0C0"/>
            </a:solidFill>
            <a:ln w="4763">
              <a:solidFill>
                <a:srgbClr val="000000"/>
              </a:solidFill>
              <a:prstDash val="solid"/>
              <a:round/>
              <a:headEnd/>
              <a:tailEnd/>
            </a:ln>
          </p:spPr>
          <p:txBody>
            <a:bodyPr/>
            <a:lstStyle/>
            <a:p>
              <a:endParaRPr lang="ar-SA"/>
            </a:p>
          </p:txBody>
        </p:sp>
        <p:sp>
          <p:nvSpPr>
            <p:cNvPr id="41027" name="Rectangle 211"/>
            <p:cNvSpPr>
              <a:spLocks noChangeArrowheads="1"/>
            </p:cNvSpPr>
            <p:nvPr/>
          </p:nvSpPr>
          <p:spPr bwMode="auto">
            <a:xfrm>
              <a:off x="1083" y="2779"/>
              <a:ext cx="208" cy="14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1028" name="Rectangle 212"/>
            <p:cNvSpPr>
              <a:spLocks noChangeArrowheads="1"/>
            </p:cNvSpPr>
            <p:nvPr/>
          </p:nvSpPr>
          <p:spPr bwMode="auto">
            <a:xfrm>
              <a:off x="1152"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41029" name="Freeform 213"/>
            <p:cNvSpPr>
              <a:spLocks/>
            </p:cNvSpPr>
            <p:nvPr/>
          </p:nvSpPr>
          <p:spPr bwMode="auto">
            <a:xfrm>
              <a:off x="1291" y="2926"/>
              <a:ext cx="233" cy="32"/>
            </a:xfrm>
            <a:custGeom>
              <a:avLst/>
              <a:gdLst>
                <a:gd name="T0" fmla="*/ 207 w 233"/>
                <a:gd name="T1" fmla="*/ 0 h 32"/>
                <a:gd name="T2" fmla="*/ 0 w 233"/>
                <a:gd name="T3" fmla="*/ 0 h 32"/>
                <a:gd name="T4" fmla="*/ 27 w 233"/>
                <a:gd name="T5" fmla="*/ 32 h 32"/>
                <a:gd name="T6" fmla="*/ 233 w 233"/>
                <a:gd name="T7" fmla="*/ 32 h 32"/>
                <a:gd name="T8" fmla="*/ 207 w 23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3" h="32">
                  <a:moveTo>
                    <a:pt x="207" y="0"/>
                  </a:moveTo>
                  <a:lnTo>
                    <a:pt x="0" y="0"/>
                  </a:lnTo>
                  <a:lnTo>
                    <a:pt x="27" y="32"/>
                  </a:lnTo>
                  <a:lnTo>
                    <a:pt x="233" y="32"/>
                  </a:lnTo>
                  <a:lnTo>
                    <a:pt x="207" y="0"/>
                  </a:lnTo>
                  <a:close/>
                </a:path>
              </a:pathLst>
            </a:custGeom>
            <a:solidFill>
              <a:srgbClr val="C0C0C0"/>
            </a:solidFill>
            <a:ln w="4763">
              <a:solidFill>
                <a:srgbClr val="000000"/>
              </a:solidFill>
              <a:prstDash val="solid"/>
              <a:round/>
              <a:headEnd/>
              <a:tailEnd/>
            </a:ln>
          </p:spPr>
          <p:txBody>
            <a:bodyPr/>
            <a:lstStyle/>
            <a:p>
              <a:endParaRPr lang="ar-SA"/>
            </a:p>
          </p:txBody>
        </p:sp>
        <p:sp>
          <p:nvSpPr>
            <p:cNvPr id="41030" name="Freeform 214"/>
            <p:cNvSpPr>
              <a:spLocks/>
            </p:cNvSpPr>
            <p:nvPr/>
          </p:nvSpPr>
          <p:spPr bwMode="auto">
            <a:xfrm>
              <a:off x="1498" y="2779"/>
              <a:ext cx="26" cy="179"/>
            </a:xfrm>
            <a:custGeom>
              <a:avLst/>
              <a:gdLst>
                <a:gd name="T0" fmla="*/ 26 w 26"/>
                <a:gd name="T1" fmla="*/ 179 h 179"/>
                <a:gd name="T2" fmla="*/ 0 w 26"/>
                <a:gd name="T3" fmla="*/ 147 h 179"/>
                <a:gd name="T4" fmla="*/ 0 w 26"/>
                <a:gd name="T5" fmla="*/ 0 h 179"/>
                <a:gd name="T6" fmla="*/ 26 w 26"/>
                <a:gd name="T7" fmla="*/ 32 h 179"/>
                <a:gd name="T8" fmla="*/ 26 w 26"/>
                <a:gd name="T9" fmla="*/ 179 h 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9">
                  <a:moveTo>
                    <a:pt x="26" y="179"/>
                  </a:moveTo>
                  <a:lnTo>
                    <a:pt x="0" y="147"/>
                  </a:lnTo>
                  <a:lnTo>
                    <a:pt x="0" y="0"/>
                  </a:lnTo>
                  <a:lnTo>
                    <a:pt x="26" y="32"/>
                  </a:lnTo>
                  <a:lnTo>
                    <a:pt x="26" y="179"/>
                  </a:lnTo>
                  <a:close/>
                </a:path>
              </a:pathLst>
            </a:custGeom>
            <a:solidFill>
              <a:srgbClr val="C0C0C0"/>
            </a:solidFill>
            <a:ln w="4763">
              <a:solidFill>
                <a:srgbClr val="000000"/>
              </a:solidFill>
              <a:prstDash val="solid"/>
              <a:round/>
              <a:headEnd/>
              <a:tailEnd/>
            </a:ln>
          </p:spPr>
          <p:txBody>
            <a:bodyPr/>
            <a:lstStyle/>
            <a:p>
              <a:endParaRPr lang="ar-SA"/>
            </a:p>
          </p:txBody>
        </p:sp>
        <p:sp>
          <p:nvSpPr>
            <p:cNvPr id="41031" name="Rectangle 215"/>
            <p:cNvSpPr>
              <a:spLocks noChangeArrowheads="1"/>
            </p:cNvSpPr>
            <p:nvPr/>
          </p:nvSpPr>
          <p:spPr bwMode="auto">
            <a:xfrm>
              <a:off x="1291" y="2779"/>
              <a:ext cx="207" cy="14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1032" name="Rectangle 216"/>
            <p:cNvSpPr>
              <a:spLocks noChangeArrowheads="1"/>
            </p:cNvSpPr>
            <p:nvPr/>
          </p:nvSpPr>
          <p:spPr bwMode="auto">
            <a:xfrm>
              <a:off x="1360"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41033" name="Freeform 217"/>
            <p:cNvSpPr>
              <a:spLocks/>
            </p:cNvSpPr>
            <p:nvPr/>
          </p:nvSpPr>
          <p:spPr bwMode="auto">
            <a:xfrm>
              <a:off x="1498" y="2926"/>
              <a:ext cx="233" cy="32"/>
            </a:xfrm>
            <a:custGeom>
              <a:avLst/>
              <a:gdLst>
                <a:gd name="T0" fmla="*/ 205 w 233"/>
                <a:gd name="T1" fmla="*/ 0 h 32"/>
                <a:gd name="T2" fmla="*/ 0 w 233"/>
                <a:gd name="T3" fmla="*/ 0 h 32"/>
                <a:gd name="T4" fmla="*/ 26 w 233"/>
                <a:gd name="T5" fmla="*/ 32 h 32"/>
                <a:gd name="T6" fmla="*/ 233 w 233"/>
                <a:gd name="T7" fmla="*/ 32 h 32"/>
                <a:gd name="T8" fmla="*/ 205 w 23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3" h="32">
                  <a:moveTo>
                    <a:pt x="205" y="0"/>
                  </a:moveTo>
                  <a:lnTo>
                    <a:pt x="0" y="0"/>
                  </a:lnTo>
                  <a:lnTo>
                    <a:pt x="26" y="32"/>
                  </a:lnTo>
                  <a:lnTo>
                    <a:pt x="233" y="32"/>
                  </a:lnTo>
                  <a:lnTo>
                    <a:pt x="205" y="0"/>
                  </a:lnTo>
                  <a:close/>
                </a:path>
              </a:pathLst>
            </a:custGeom>
            <a:solidFill>
              <a:srgbClr val="C0C0C0"/>
            </a:solidFill>
            <a:ln w="4763">
              <a:solidFill>
                <a:srgbClr val="000000"/>
              </a:solidFill>
              <a:prstDash val="solid"/>
              <a:round/>
              <a:headEnd/>
              <a:tailEnd/>
            </a:ln>
          </p:spPr>
          <p:txBody>
            <a:bodyPr/>
            <a:lstStyle/>
            <a:p>
              <a:endParaRPr lang="ar-SA"/>
            </a:p>
          </p:txBody>
        </p:sp>
        <p:sp>
          <p:nvSpPr>
            <p:cNvPr id="41034" name="Freeform 218"/>
            <p:cNvSpPr>
              <a:spLocks/>
            </p:cNvSpPr>
            <p:nvPr/>
          </p:nvSpPr>
          <p:spPr bwMode="auto">
            <a:xfrm>
              <a:off x="1703" y="2779"/>
              <a:ext cx="28" cy="179"/>
            </a:xfrm>
            <a:custGeom>
              <a:avLst/>
              <a:gdLst>
                <a:gd name="T0" fmla="*/ 28 w 28"/>
                <a:gd name="T1" fmla="*/ 179 h 179"/>
                <a:gd name="T2" fmla="*/ 0 w 28"/>
                <a:gd name="T3" fmla="*/ 147 h 179"/>
                <a:gd name="T4" fmla="*/ 0 w 28"/>
                <a:gd name="T5" fmla="*/ 0 h 179"/>
                <a:gd name="T6" fmla="*/ 28 w 28"/>
                <a:gd name="T7" fmla="*/ 32 h 179"/>
                <a:gd name="T8" fmla="*/ 28 w 28"/>
                <a:gd name="T9" fmla="*/ 179 h 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179">
                  <a:moveTo>
                    <a:pt x="28" y="179"/>
                  </a:moveTo>
                  <a:lnTo>
                    <a:pt x="0" y="147"/>
                  </a:lnTo>
                  <a:lnTo>
                    <a:pt x="0" y="0"/>
                  </a:lnTo>
                  <a:lnTo>
                    <a:pt x="28" y="32"/>
                  </a:lnTo>
                  <a:lnTo>
                    <a:pt x="28" y="179"/>
                  </a:lnTo>
                  <a:close/>
                </a:path>
              </a:pathLst>
            </a:custGeom>
            <a:solidFill>
              <a:srgbClr val="C0C0C0"/>
            </a:solidFill>
            <a:ln w="4763">
              <a:solidFill>
                <a:srgbClr val="000000"/>
              </a:solidFill>
              <a:prstDash val="solid"/>
              <a:round/>
              <a:headEnd/>
              <a:tailEnd/>
            </a:ln>
          </p:spPr>
          <p:txBody>
            <a:bodyPr/>
            <a:lstStyle/>
            <a:p>
              <a:endParaRPr lang="ar-SA"/>
            </a:p>
          </p:txBody>
        </p:sp>
        <p:sp>
          <p:nvSpPr>
            <p:cNvPr id="41035" name="Rectangle 219"/>
            <p:cNvSpPr>
              <a:spLocks noChangeArrowheads="1"/>
            </p:cNvSpPr>
            <p:nvPr/>
          </p:nvSpPr>
          <p:spPr bwMode="auto">
            <a:xfrm>
              <a:off x="1498" y="2779"/>
              <a:ext cx="205" cy="14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1036" name="Rectangle 220"/>
            <p:cNvSpPr>
              <a:spLocks noChangeArrowheads="1"/>
            </p:cNvSpPr>
            <p:nvPr/>
          </p:nvSpPr>
          <p:spPr bwMode="auto">
            <a:xfrm>
              <a:off x="1567"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41037" name="Freeform 221"/>
            <p:cNvSpPr>
              <a:spLocks/>
            </p:cNvSpPr>
            <p:nvPr/>
          </p:nvSpPr>
          <p:spPr bwMode="auto">
            <a:xfrm>
              <a:off x="1703" y="2926"/>
              <a:ext cx="236" cy="32"/>
            </a:xfrm>
            <a:custGeom>
              <a:avLst/>
              <a:gdLst>
                <a:gd name="T0" fmla="*/ 208 w 236"/>
                <a:gd name="T1" fmla="*/ 0 h 32"/>
                <a:gd name="T2" fmla="*/ 0 w 236"/>
                <a:gd name="T3" fmla="*/ 0 h 32"/>
                <a:gd name="T4" fmla="*/ 28 w 236"/>
                <a:gd name="T5" fmla="*/ 32 h 32"/>
                <a:gd name="T6" fmla="*/ 236 w 236"/>
                <a:gd name="T7" fmla="*/ 32 h 32"/>
                <a:gd name="T8" fmla="*/ 208 w 23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6" h="32">
                  <a:moveTo>
                    <a:pt x="208" y="0"/>
                  </a:moveTo>
                  <a:lnTo>
                    <a:pt x="0" y="0"/>
                  </a:lnTo>
                  <a:lnTo>
                    <a:pt x="28" y="32"/>
                  </a:lnTo>
                  <a:lnTo>
                    <a:pt x="236" y="32"/>
                  </a:lnTo>
                  <a:lnTo>
                    <a:pt x="208" y="0"/>
                  </a:lnTo>
                  <a:close/>
                </a:path>
              </a:pathLst>
            </a:custGeom>
            <a:solidFill>
              <a:srgbClr val="C0C0C0"/>
            </a:solidFill>
            <a:ln w="4763">
              <a:solidFill>
                <a:srgbClr val="000000"/>
              </a:solidFill>
              <a:prstDash val="solid"/>
              <a:round/>
              <a:headEnd/>
              <a:tailEnd/>
            </a:ln>
          </p:spPr>
          <p:txBody>
            <a:bodyPr/>
            <a:lstStyle/>
            <a:p>
              <a:endParaRPr lang="ar-SA"/>
            </a:p>
          </p:txBody>
        </p:sp>
        <p:sp>
          <p:nvSpPr>
            <p:cNvPr id="41038" name="Freeform 222"/>
            <p:cNvSpPr>
              <a:spLocks/>
            </p:cNvSpPr>
            <p:nvPr/>
          </p:nvSpPr>
          <p:spPr bwMode="auto">
            <a:xfrm>
              <a:off x="1911" y="2779"/>
              <a:ext cx="28" cy="179"/>
            </a:xfrm>
            <a:custGeom>
              <a:avLst/>
              <a:gdLst>
                <a:gd name="T0" fmla="*/ 28 w 28"/>
                <a:gd name="T1" fmla="*/ 179 h 179"/>
                <a:gd name="T2" fmla="*/ 0 w 28"/>
                <a:gd name="T3" fmla="*/ 147 h 179"/>
                <a:gd name="T4" fmla="*/ 0 w 28"/>
                <a:gd name="T5" fmla="*/ 0 h 179"/>
                <a:gd name="T6" fmla="*/ 28 w 28"/>
                <a:gd name="T7" fmla="*/ 32 h 179"/>
                <a:gd name="T8" fmla="*/ 28 w 28"/>
                <a:gd name="T9" fmla="*/ 179 h 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179">
                  <a:moveTo>
                    <a:pt x="28" y="179"/>
                  </a:moveTo>
                  <a:lnTo>
                    <a:pt x="0" y="147"/>
                  </a:lnTo>
                  <a:lnTo>
                    <a:pt x="0" y="0"/>
                  </a:lnTo>
                  <a:lnTo>
                    <a:pt x="28" y="32"/>
                  </a:lnTo>
                  <a:lnTo>
                    <a:pt x="28" y="179"/>
                  </a:lnTo>
                  <a:close/>
                </a:path>
              </a:pathLst>
            </a:custGeom>
            <a:solidFill>
              <a:srgbClr val="C0C0C0"/>
            </a:solidFill>
            <a:ln w="4763">
              <a:solidFill>
                <a:srgbClr val="000000"/>
              </a:solidFill>
              <a:prstDash val="solid"/>
              <a:round/>
              <a:headEnd/>
              <a:tailEnd/>
            </a:ln>
          </p:spPr>
          <p:txBody>
            <a:bodyPr/>
            <a:lstStyle/>
            <a:p>
              <a:endParaRPr lang="ar-SA"/>
            </a:p>
          </p:txBody>
        </p:sp>
        <p:sp>
          <p:nvSpPr>
            <p:cNvPr id="41039" name="Rectangle 223"/>
            <p:cNvSpPr>
              <a:spLocks noChangeArrowheads="1"/>
            </p:cNvSpPr>
            <p:nvPr/>
          </p:nvSpPr>
          <p:spPr bwMode="auto">
            <a:xfrm>
              <a:off x="1703" y="2779"/>
              <a:ext cx="208" cy="14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1040" name="Rectangle 224"/>
            <p:cNvSpPr>
              <a:spLocks noChangeArrowheads="1"/>
            </p:cNvSpPr>
            <p:nvPr/>
          </p:nvSpPr>
          <p:spPr bwMode="auto">
            <a:xfrm>
              <a:off x="1772"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41041" name="Freeform 225"/>
            <p:cNvSpPr>
              <a:spLocks/>
            </p:cNvSpPr>
            <p:nvPr/>
          </p:nvSpPr>
          <p:spPr bwMode="auto">
            <a:xfrm>
              <a:off x="1911" y="2926"/>
              <a:ext cx="233" cy="32"/>
            </a:xfrm>
            <a:custGeom>
              <a:avLst/>
              <a:gdLst>
                <a:gd name="T0" fmla="*/ 207 w 233"/>
                <a:gd name="T1" fmla="*/ 0 h 32"/>
                <a:gd name="T2" fmla="*/ 0 w 233"/>
                <a:gd name="T3" fmla="*/ 0 h 32"/>
                <a:gd name="T4" fmla="*/ 28 w 233"/>
                <a:gd name="T5" fmla="*/ 32 h 32"/>
                <a:gd name="T6" fmla="*/ 233 w 233"/>
                <a:gd name="T7" fmla="*/ 32 h 32"/>
                <a:gd name="T8" fmla="*/ 207 w 23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3" h="32">
                  <a:moveTo>
                    <a:pt x="207" y="0"/>
                  </a:moveTo>
                  <a:lnTo>
                    <a:pt x="0" y="0"/>
                  </a:lnTo>
                  <a:lnTo>
                    <a:pt x="28" y="32"/>
                  </a:lnTo>
                  <a:lnTo>
                    <a:pt x="233" y="32"/>
                  </a:lnTo>
                  <a:lnTo>
                    <a:pt x="207" y="0"/>
                  </a:lnTo>
                  <a:close/>
                </a:path>
              </a:pathLst>
            </a:custGeom>
            <a:solidFill>
              <a:srgbClr val="C0C0C0"/>
            </a:solidFill>
            <a:ln w="4763">
              <a:solidFill>
                <a:srgbClr val="000000"/>
              </a:solidFill>
              <a:prstDash val="solid"/>
              <a:round/>
              <a:headEnd/>
              <a:tailEnd/>
            </a:ln>
          </p:spPr>
          <p:txBody>
            <a:bodyPr/>
            <a:lstStyle/>
            <a:p>
              <a:endParaRPr lang="ar-SA"/>
            </a:p>
          </p:txBody>
        </p:sp>
        <p:sp>
          <p:nvSpPr>
            <p:cNvPr id="41042" name="Freeform 226"/>
            <p:cNvSpPr>
              <a:spLocks/>
            </p:cNvSpPr>
            <p:nvPr/>
          </p:nvSpPr>
          <p:spPr bwMode="auto">
            <a:xfrm>
              <a:off x="2118" y="2779"/>
              <a:ext cx="26" cy="179"/>
            </a:xfrm>
            <a:custGeom>
              <a:avLst/>
              <a:gdLst>
                <a:gd name="T0" fmla="*/ 26 w 26"/>
                <a:gd name="T1" fmla="*/ 179 h 179"/>
                <a:gd name="T2" fmla="*/ 0 w 26"/>
                <a:gd name="T3" fmla="*/ 147 h 179"/>
                <a:gd name="T4" fmla="*/ 0 w 26"/>
                <a:gd name="T5" fmla="*/ 0 h 179"/>
                <a:gd name="T6" fmla="*/ 26 w 26"/>
                <a:gd name="T7" fmla="*/ 32 h 179"/>
                <a:gd name="T8" fmla="*/ 26 w 26"/>
                <a:gd name="T9" fmla="*/ 179 h 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9">
                  <a:moveTo>
                    <a:pt x="26" y="179"/>
                  </a:moveTo>
                  <a:lnTo>
                    <a:pt x="0" y="147"/>
                  </a:lnTo>
                  <a:lnTo>
                    <a:pt x="0" y="0"/>
                  </a:lnTo>
                  <a:lnTo>
                    <a:pt x="26" y="32"/>
                  </a:lnTo>
                  <a:lnTo>
                    <a:pt x="26" y="179"/>
                  </a:lnTo>
                  <a:close/>
                </a:path>
              </a:pathLst>
            </a:custGeom>
            <a:solidFill>
              <a:srgbClr val="C0C0C0"/>
            </a:solidFill>
            <a:ln w="4763">
              <a:solidFill>
                <a:srgbClr val="000000"/>
              </a:solidFill>
              <a:prstDash val="solid"/>
              <a:round/>
              <a:headEnd/>
              <a:tailEnd/>
            </a:ln>
          </p:spPr>
          <p:txBody>
            <a:bodyPr/>
            <a:lstStyle/>
            <a:p>
              <a:endParaRPr lang="ar-SA"/>
            </a:p>
          </p:txBody>
        </p:sp>
        <p:sp>
          <p:nvSpPr>
            <p:cNvPr id="41043" name="Rectangle 227"/>
            <p:cNvSpPr>
              <a:spLocks noChangeArrowheads="1"/>
            </p:cNvSpPr>
            <p:nvPr/>
          </p:nvSpPr>
          <p:spPr bwMode="auto">
            <a:xfrm>
              <a:off x="1911" y="2779"/>
              <a:ext cx="207" cy="14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1044" name="Rectangle 228"/>
            <p:cNvSpPr>
              <a:spLocks noChangeArrowheads="1"/>
            </p:cNvSpPr>
            <p:nvPr/>
          </p:nvSpPr>
          <p:spPr bwMode="auto">
            <a:xfrm>
              <a:off x="1980"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41045" name="Freeform 229"/>
            <p:cNvSpPr>
              <a:spLocks/>
            </p:cNvSpPr>
            <p:nvPr/>
          </p:nvSpPr>
          <p:spPr bwMode="auto">
            <a:xfrm>
              <a:off x="2118" y="2926"/>
              <a:ext cx="233" cy="32"/>
            </a:xfrm>
            <a:custGeom>
              <a:avLst/>
              <a:gdLst>
                <a:gd name="T0" fmla="*/ 206 w 233"/>
                <a:gd name="T1" fmla="*/ 0 h 32"/>
                <a:gd name="T2" fmla="*/ 0 w 233"/>
                <a:gd name="T3" fmla="*/ 0 h 32"/>
                <a:gd name="T4" fmla="*/ 26 w 233"/>
                <a:gd name="T5" fmla="*/ 32 h 32"/>
                <a:gd name="T6" fmla="*/ 233 w 233"/>
                <a:gd name="T7" fmla="*/ 32 h 32"/>
                <a:gd name="T8" fmla="*/ 206 w 23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3" h="32">
                  <a:moveTo>
                    <a:pt x="206" y="0"/>
                  </a:moveTo>
                  <a:lnTo>
                    <a:pt x="0" y="0"/>
                  </a:lnTo>
                  <a:lnTo>
                    <a:pt x="26" y="32"/>
                  </a:lnTo>
                  <a:lnTo>
                    <a:pt x="233" y="32"/>
                  </a:lnTo>
                  <a:lnTo>
                    <a:pt x="206" y="0"/>
                  </a:lnTo>
                  <a:close/>
                </a:path>
              </a:pathLst>
            </a:custGeom>
            <a:solidFill>
              <a:srgbClr val="C0C0C0"/>
            </a:solidFill>
            <a:ln w="4763">
              <a:solidFill>
                <a:srgbClr val="000000"/>
              </a:solidFill>
              <a:prstDash val="solid"/>
              <a:round/>
              <a:headEnd/>
              <a:tailEnd/>
            </a:ln>
          </p:spPr>
          <p:txBody>
            <a:bodyPr/>
            <a:lstStyle/>
            <a:p>
              <a:endParaRPr lang="ar-SA"/>
            </a:p>
          </p:txBody>
        </p:sp>
        <p:sp>
          <p:nvSpPr>
            <p:cNvPr id="41046" name="Freeform 230"/>
            <p:cNvSpPr>
              <a:spLocks/>
            </p:cNvSpPr>
            <p:nvPr/>
          </p:nvSpPr>
          <p:spPr bwMode="auto">
            <a:xfrm>
              <a:off x="2324" y="2779"/>
              <a:ext cx="27" cy="179"/>
            </a:xfrm>
            <a:custGeom>
              <a:avLst/>
              <a:gdLst>
                <a:gd name="T0" fmla="*/ 27 w 27"/>
                <a:gd name="T1" fmla="*/ 179 h 179"/>
                <a:gd name="T2" fmla="*/ 0 w 27"/>
                <a:gd name="T3" fmla="*/ 147 h 179"/>
                <a:gd name="T4" fmla="*/ 0 w 27"/>
                <a:gd name="T5" fmla="*/ 0 h 179"/>
                <a:gd name="T6" fmla="*/ 27 w 27"/>
                <a:gd name="T7" fmla="*/ 32 h 179"/>
                <a:gd name="T8" fmla="*/ 27 w 27"/>
                <a:gd name="T9" fmla="*/ 179 h 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79">
                  <a:moveTo>
                    <a:pt x="27" y="179"/>
                  </a:moveTo>
                  <a:lnTo>
                    <a:pt x="0" y="147"/>
                  </a:lnTo>
                  <a:lnTo>
                    <a:pt x="0" y="0"/>
                  </a:lnTo>
                  <a:lnTo>
                    <a:pt x="27" y="32"/>
                  </a:lnTo>
                  <a:lnTo>
                    <a:pt x="27" y="179"/>
                  </a:lnTo>
                  <a:close/>
                </a:path>
              </a:pathLst>
            </a:custGeom>
            <a:solidFill>
              <a:srgbClr val="C0C0C0"/>
            </a:solidFill>
            <a:ln w="4763">
              <a:solidFill>
                <a:srgbClr val="000000"/>
              </a:solidFill>
              <a:prstDash val="solid"/>
              <a:round/>
              <a:headEnd/>
              <a:tailEnd/>
            </a:ln>
          </p:spPr>
          <p:txBody>
            <a:bodyPr/>
            <a:lstStyle/>
            <a:p>
              <a:endParaRPr lang="ar-SA"/>
            </a:p>
          </p:txBody>
        </p:sp>
        <p:sp>
          <p:nvSpPr>
            <p:cNvPr id="41047" name="Rectangle 231"/>
            <p:cNvSpPr>
              <a:spLocks noChangeArrowheads="1"/>
            </p:cNvSpPr>
            <p:nvPr/>
          </p:nvSpPr>
          <p:spPr bwMode="auto">
            <a:xfrm>
              <a:off x="2118" y="2779"/>
              <a:ext cx="206" cy="14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1048" name="Rectangle 232"/>
            <p:cNvSpPr>
              <a:spLocks noChangeArrowheads="1"/>
            </p:cNvSpPr>
            <p:nvPr/>
          </p:nvSpPr>
          <p:spPr bwMode="auto">
            <a:xfrm>
              <a:off x="2187"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41049" name="Freeform 233"/>
            <p:cNvSpPr>
              <a:spLocks/>
            </p:cNvSpPr>
            <p:nvPr/>
          </p:nvSpPr>
          <p:spPr bwMode="auto">
            <a:xfrm>
              <a:off x="2324" y="2926"/>
              <a:ext cx="235" cy="32"/>
            </a:xfrm>
            <a:custGeom>
              <a:avLst/>
              <a:gdLst>
                <a:gd name="T0" fmla="*/ 207 w 235"/>
                <a:gd name="T1" fmla="*/ 0 h 32"/>
                <a:gd name="T2" fmla="*/ 0 w 235"/>
                <a:gd name="T3" fmla="*/ 0 h 32"/>
                <a:gd name="T4" fmla="*/ 27 w 235"/>
                <a:gd name="T5" fmla="*/ 32 h 32"/>
                <a:gd name="T6" fmla="*/ 235 w 235"/>
                <a:gd name="T7" fmla="*/ 32 h 32"/>
                <a:gd name="T8" fmla="*/ 207 w 235"/>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5" h="32">
                  <a:moveTo>
                    <a:pt x="207" y="0"/>
                  </a:moveTo>
                  <a:lnTo>
                    <a:pt x="0" y="0"/>
                  </a:lnTo>
                  <a:lnTo>
                    <a:pt x="27" y="32"/>
                  </a:lnTo>
                  <a:lnTo>
                    <a:pt x="235" y="32"/>
                  </a:lnTo>
                  <a:lnTo>
                    <a:pt x="207" y="0"/>
                  </a:lnTo>
                  <a:close/>
                </a:path>
              </a:pathLst>
            </a:custGeom>
            <a:solidFill>
              <a:srgbClr val="C0C0C0"/>
            </a:solidFill>
            <a:ln w="4763">
              <a:solidFill>
                <a:srgbClr val="000000"/>
              </a:solidFill>
              <a:prstDash val="solid"/>
              <a:round/>
              <a:headEnd/>
              <a:tailEnd/>
            </a:ln>
          </p:spPr>
          <p:txBody>
            <a:bodyPr/>
            <a:lstStyle/>
            <a:p>
              <a:endParaRPr lang="ar-SA"/>
            </a:p>
          </p:txBody>
        </p:sp>
        <p:sp>
          <p:nvSpPr>
            <p:cNvPr id="41050" name="Freeform 234"/>
            <p:cNvSpPr>
              <a:spLocks/>
            </p:cNvSpPr>
            <p:nvPr/>
          </p:nvSpPr>
          <p:spPr bwMode="auto">
            <a:xfrm>
              <a:off x="2531" y="2779"/>
              <a:ext cx="28" cy="179"/>
            </a:xfrm>
            <a:custGeom>
              <a:avLst/>
              <a:gdLst>
                <a:gd name="T0" fmla="*/ 28 w 28"/>
                <a:gd name="T1" fmla="*/ 179 h 179"/>
                <a:gd name="T2" fmla="*/ 0 w 28"/>
                <a:gd name="T3" fmla="*/ 147 h 179"/>
                <a:gd name="T4" fmla="*/ 0 w 28"/>
                <a:gd name="T5" fmla="*/ 0 h 179"/>
                <a:gd name="T6" fmla="*/ 28 w 28"/>
                <a:gd name="T7" fmla="*/ 32 h 179"/>
                <a:gd name="T8" fmla="*/ 28 w 28"/>
                <a:gd name="T9" fmla="*/ 179 h 1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179">
                  <a:moveTo>
                    <a:pt x="28" y="179"/>
                  </a:moveTo>
                  <a:lnTo>
                    <a:pt x="0" y="147"/>
                  </a:lnTo>
                  <a:lnTo>
                    <a:pt x="0" y="0"/>
                  </a:lnTo>
                  <a:lnTo>
                    <a:pt x="28" y="32"/>
                  </a:lnTo>
                  <a:lnTo>
                    <a:pt x="28" y="179"/>
                  </a:lnTo>
                  <a:close/>
                </a:path>
              </a:pathLst>
            </a:custGeom>
            <a:solidFill>
              <a:srgbClr val="C0C0C0"/>
            </a:solidFill>
            <a:ln w="4763">
              <a:solidFill>
                <a:srgbClr val="000000"/>
              </a:solidFill>
              <a:prstDash val="solid"/>
              <a:round/>
              <a:headEnd/>
              <a:tailEnd/>
            </a:ln>
          </p:spPr>
          <p:txBody>
            <a:bodyPr/>
            <a:lstStyle/>
            <a:p>
              <a:endParaRPr lang="ar-SA"/>
            </a:p>
          </p:txBody>
        </p:sp>
        <p:sp>
          <p:nvSpPr>
            <p:cNvPr id="41051" name="Rectangle 235"/>
            <p:cNvSpPr>
              <a:spLocks noChangeArrowheads="1"/>
            </p:cNvSpPr>
            <p:nvPr/>
          </p:nvSpPr>
          <p:spPr bwMode="auto">
            <a:xfrm>
              <a:off x="2324" y="2779"/>
              <a:ext cx="207" cy="14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1052" name="Rectangle 236"/>
            <p:cNvSpPr>
              <a:spLocks noChangeArrowheads="1"/>
            </p:cNvSpPr>
            <p:nvPr/>
          </p:nvSpPr>
          <p:spPr bwMode="auto">
            <a:xfrm>
              <a:off x="2394"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41053" name="Rectangle 237"/>
            <p:cNvSpPr>
              <a:spLocks noChangeArrowheads="1"/>
            </p:cNvSpPr>
            <p:nvPr/>
          </p:nvSpPr>
          <p:spPr bwMode="auto">
            <a:xfrm>
              <a:off x="875" y="3024"/>
              <a:ext cx="19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a:solidFill>
                    <a:srgbClr val="000000"/>
                  </a:solidFill>
                  <a:latin typeface="Helvetica" panose="020B0604020202020204" pitchFamily="34" charset="0"/>
                </a:rPr>
                <a:t>-128</a:t>
              </a:r>
              <a:endParaRPr lang="en-US" altLang="ar-AE"/>
            </a:p>
          </p:txBody>
        </p:sp>
        <p:sp>
          <p:nvSpPr>
            <p:cNvPr id="41054" name="Rectangle 239"/>
            <p:cNvSpPr>
              <a:spLocks noChangeArrowheads="1"/>
            </p:cNvSpPr>
            <p:nvPr/>
          </p:nvSpPr>
          <p:spPr bwMode="auto">
            <a:xfrm>
              <a:off x="1149" y="3024"/>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a:solidFill>
                    <a:srgbClr val="000000"/>
                  </a:solidFill>
                  <a:latin typeface="Helvetica" panose="020B0604020202020204" pitchFamily="34" charset="0"/>
                </a:rPr>
                <a:t>64</a:t>
              </a:r>
              <a:endParaRPr lang="en-US" altLang="ar-AE"/>
            </a:p>
          </p:txBody>
        </p:sp>
        <p:sp>
          <p:nvSpPr>
            <p:cNvPr id="41055" name="Rectangle 241"/>
            <p:cNvSpPr>
              <a:spLocks noChangeArrowheads="1"/>
            </p:cNvSpPr>
            <p:nvPr/>
          </p:nvSpPr>
          <p:spPr bwMode="auto">
            <a:xfrm>
              <a:off x="1355" y="3024"/>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a:solidFill>
                    <a:srgbClr val="000000"/>
                  </a:solidFill>
                  <a:latin typeface="Helvetica" panose="020B0604020202020204" pitchFamily="34" charset="0"/>
                </a:rPr>
                <a:t>32</a:t>
              </a:r>
              <a:endParaRPr lang="en-US" altLang="ar-AE"/>
            </a:p>
          </p:txBody>
        </p:sp>
        <p:sp>
          <p:nvSpPr>
            <p:cNvPr id="41056" name="Rectangle 243"/>
            <p:cNvSpPr>
              <a:spLocks noChangeArrowheads="1"/>
            </p:cNvSpPr>
            <p:nvPr/>
          </p:nvSpPr>
          <p:spPr bwMode="auto">
            <a:xfrm>
              <a:off x="1561" y="3024"/>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a:solidFill>
                    <a:srgbClr val="000000"/>
                  </a:solidFill>
                  <a:latin typeface="Helvetica" panose="020B0604020202020204" pitchFamily="34" charset="0"/>
                </a:rPr>
                <a:t>16</a:t>
              </a:r>
              <a:endParaRPr lang="en-US" altLang="ar-AE"/>
            </a:p>
          </p:txBody>
        </p:sp>
        <p:sp>
          <p:nvSpPr>
            <p:cNvPr id="41057" name="Rectangle 245"/>
            <p:cNvSpPr>
              <a:spLocks noChangeArrowheads="1"/>
            </p:cNvSpPr>
            <p:nvPr/>
          </p:nvSpPr>
          <p:spPr bwMode="auto">
            <a:xfrm>
              <a:off x="1775" y="302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a:solidFill>
                    <a:srgbClr val="000000"/>
                  </a:solidFill>
                  <a:latin typeface="Helvetica" panose="020B0604020202020204" pitchFamily="34" charset="0"/>
                </a:rPr>
                <a:t>8</a:t>
              </a:r>
              <a:endParaRPr lang="en-US" altLang="ar-AE"/>
            </a:p>
          </p:txBody>
        </p:sp>
        <p:sp>
          <p:nvSpPr>
            <p:cNvPr id="41058" name="Rectangle 247"/>
            <p:cNvSpPr>
              <a:spLocks noChangeArrowheads="1"/>
            </p:cNvSpPr>
            <p:nvPr/>
          </p:nvSpPr>
          <p:spPr bwMode="auto">
            <a:xfrm>
              <a:off x="1996" y="302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a:solidFill>
                    <a:srgbClr val="000000"/>
                  </a:solidFill>
                  <a:latin typeface="Helvetica" panose="020B0604020202020204" pitchFamily="34" charset="0"/>
                </a:rPr>
                <a:t>4</a:t>
              </a:r>
              <a:endParaRPr lang="en-US" altLang="ar-AE"/>
            </a:p>
          </p:txBody>
        </p:sp>
        <p:sp>
          <p:nvSpPr>
            <p:cNvPr id="41059" name="Rectangle 249"/>
            <p:cNvSpPr>
              <a:spLocks noChangeArrowheads="1"/>
            </p:cNvSpPr>
            <p:nvPr/>
          </p:nvSpPr>
          <p:spPr bwMode="auto">
            <a:xfrm>
              <a:off x="2203" y="302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a:solidFill>
                    <a:srgbClr val="000000"/>
                  </a:solidFill>
                  <a:latin typeface="Helvetica" panose="020B0604020202020204" pitchFamily="34" charset="0"/>
                </a:rPr>
                <a:t>2</a:t>
              </a:r>
              <a:endParaRPr lang="en-US" altLang="ar-AE"/>
            </a:p>
          </p:txBody>
        </p:sp>
        <p:sp>
          <p:nvSpPr>
            <p:cNvPr id="41060" name="Rectangle 251"/>
            <p:cNvSpPr>
              <a:spLocks noChangeArrowheads="1"/>
            </p:cNvSpPr>
            <p:nvPr/>
          </p:nvSpPr>
          <p:spPr bwMode="auto">
            <a:xfrm>
              <a:off x="2410" y="302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a:solidFill>
                    <a:srgbClr val="000000"/>
                  </a:solidFill>
                  <a:latin typeface="Helvetica" panose="020B0604020202020204" pitchFamily="34" charset="0"/>
                </a:rPr>
                <a:t>1</a:t>
              </a:r>
              <a:endParaRPr lang="en-US" altLang="ar-AE"/>
            </a:p>
          </p:txBody>
        </p:sp>
      </p:grpSp>
      <p:sp>
        <p:nvSpPr>
          <p:cNvPr id="104" name="مستطيل 10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ar-AE"/>
              <a:t>Forming the Two's Complement</a:t>
            </a:r>
          </a:p>
        </p:txBody>
      </p:sp>
      <p:sp>
        <p:nvSpPr>
          <p:cNvPr id="41987" name="Text Box 5"/>
          <p:cNvSpPr txBox="1">
            <a:spLocks noChangeArrowheads="1"/>
          </p:cNvSpPr>
          <p:nvPr/>
        </p:nvSpPr>
        <p:spPr bwMode="auto">
          <a:xfrm>
            <a:off x="609600" y="3429000"/>
            <a:ext cx="7880350" cy="1119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sz="2400"/>
              <a:t>Sum of an integer and its 2's complement must be zero:</a:t>
            </a:r>
          </a:p>
          <a:p>
            <a:pPr algn="ctr" eaLnBrk="1" hangingPunct="1">
              <a:spcBef>
                <a:spcPct val="50000"/>
              </a:spcBef>
            </a:pPr>
            <a:r>
              <a:rPr lang="en-US" altLang="ar-AE" sz="2100"/>
              <a:t>00100100 + 11011100 = 00000000 (8-bit sum) </a:t>
            </a:r>
            <a:r>
              <a:rPr lang="en-US" altLang="ar-AE" sz="2100">
                <a:sym typeface="Symbol" panose="05050102010706020507" pitchFamily="18" charset="2"/>
              </a:rPr>
              <a:t> Ignore Carry</a:t>
            </a:r>
          </a:p>
        </p:txBody>
      </p:sp>
      <p:sp>
        <p:nvSpPr>
          <p:cNvPr id="41988" name="Text Box 6"/>
          <p:cNvSpPr txBox="1">
            <a:spLocks noChangeArrowheads="1"/>
          </p:cNvSpPr>
          <p:nvPr/>
        </p:nvSpPr>
        <p:spPr bwMode="auto">
          <a:xfrm>
            <a:off x="1289050" y="4683125"/>
            <a:ext cx="6567488" cy="15113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sz="2000">
                <a:solidFill>
                  <a:srgbClr val="000099"/>
                </a:solidFill>
                <a:sym typeface="Symbol" panose="05050102010706020507" pitchFamily="18" charset="2"/>
              </a:rPr>
              <a:t>The easiest way to obtain the 2's complement of a binary number is by starting at the LSB, leaving all the 0s unchanged, look for the first occurrence of a 1. Leave this 1 unchanged and complement all the bits after it.</a:t>
            </a:r>
          </a:p>
        </p:txBody>
      </p:sp>
      <p:graphicFrame>
        <p:nvGraphicFramePr>
          <p:cNvPr id="136237" name="Group 45"/>
          <p:cNvGraphicFramePr>
            <a:graphicFrameLocks noGrp="1"/>
          </p:cNvGraphicFramePr>
          <p:nvPr>
            <p:ph sz="half" idx="2"/>
          </p:nvPr>
        </p:nvGraphicFramePr>
        <p:xfrm>
          <a:off x="482600" y="1296988"/>
          <a:ext cx="8178800" cy="2016126"/>
        </p:xfrm>
        <a:graphic>
          <a:graphicData uri="http://schemas.openxmlformats.org/drawingml/2006/table">
            <a:tbl>
              <a:tblPr/>
              <a:tblGrid>
                <a:gridCol w="54165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tblGrid>
              <a:tr h="5048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000" b="0" i="0" u="none" strike="noStrike" cap="none" normalizeH="0" baseline="0">
                          <a:ln>
                            <a:noFill/>
                          </a:ln>
                          <a:solidFill>
                            <a:schemeClr val="tx1"/>
                          </a:solidFill>
                          <a:effectLst/>
                          <a:latin typeface="Arial" panose="020B0604020202020204" pitchFamily="34" charset="0"/>
                          <a:cs typeface="Arial" panose="020B0604020202020204" pitchFamily="34" charset="0"/>
                        </a:rPr>
                        <a:t>starting value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0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00100100 = +36</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323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000" b="0" i="0" u="none" strike="noStrike" cap="none" normalizeH="0" baseline="0">
                          <a:ln>
                            <a:noFill/>
                          </a:ln>
                          <a:solidFill>
                            <a:schemeClr val="tx1"/>
                          </a:solidFill>
                          <a:effectLst/>
                          <a:latin typeface="Arial" panose="020B0604020202020204" pitchFamily="34" charset="0"/>
                          <a:cs typeface="Arial" panose="020B0604020202020204" pitchFamily="34" charset="0"/>
                        </a:rPr>
                        <a:t>step1: reverse the bits (1's complement)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0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11011011</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000" b="0" i="0" u="none" strike="noStrike" cap="none" normalizeH="0" baseline="0">
                          <a:ln>
                            <a:noFill/>
                          </a:ln>
                          <a:solidFill>
                            <a:schemeClr val="tx1"/>
                          </a:solidFill>
                          <a:effectLst/>
                          <a:latin typeface="Arial" panose="020B0604020202020204" pitchFamily="34" charset="0"/>
                          <a:cs typeface="Arial" panose="020B0604020202020204" pitchFamily="34" charset="0"/>
                        </a:rPr>
                        <a:t>step 2: add 1 to the value from step 1</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0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      1</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23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000" b="0" i="0" u="none" strike="noStrike" cap="none" normalizeH="0" baseline="0">
                          <a:ln>
                            <a:noFill/>
                          </a:ln>
                          <a:solidFill>
                            <a:schemeClr val="tx1"/>
                          </a:solidFill>
                          <a:effectLst/>
                          <a:latin typeface="Arial" panose="020B0604020202020204" pitchFamily="34" charset="0"/>
                          <a:cs typeface="Arial" panose="020B0604020202020204" pitchFamily="34" charset="0"/>
                        </a:rPr>
                        <a:t>sum = 2's complement representation</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0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11011100 = -36</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274638"/>
            <a:ext cx="8229600" cy="792162"/>
          </a:xfrm>
        </p:spPr>
        <p:txBody>
          <a:bodyPr/>
          <a:lstStyle/>
          <a:p>
            <a:pPr eaLnBrk="1" hangingPunct="1"/>
            <a:r>
              <a:rPr lang="en-US" altLang="ar-AE"/>
              <a:t>Sign Bit</a:t>
            </a:r>
          </a:p>
        </p:txBody>
      </p:sp>
      <p:sp>
        <p:nvSpPr>
          <p:cNvPr id="43011" name="Rectangle 3"/>
          <p:cNvSpPr>
            <a:spLocks noGrp="1" noChangeArrowheads="1"/>
          </p:cNvSpPr>
          <p:nvPr>
            <p:ph type="body" idx="1"/>
          </p:nvPr>
        </p:nvSpPr>
        <p:spPr>
          <a:xfrm>
            <a:off x="482600" y="1143000"/>
            <a:ext cx="8128000" cy="838200"/>
          </a:xfrm>
        </p:spPr>
        <p:txBody>
          <a:bodyPr/>
          <a:lstStyle/>
          <a:p>
            <a:pPr marL="0" indent="0" eaLnBrk="1" hangingPunct="1">
              <a:buFont typeface="Wingdings" panose="05000000000000000000" pitchFamily="2" charset="2"/>
              <a:buNone/>
            </a:pPr>
            <a:r>
              <a:rPr lang="en-US" altLang="ar-AE"/>
              <a:t>Highest bit indicates the sign. 1 = negative, 0 = positive</a:t>
            </a:r>
          </a:p>
        </p:txBody>
      </p:sp>
      <p:graphicFrame>
        <p:nvGraphicFramePr>
          <p:cNvPr id="43012" name="Object 4"/>
          <p:cNvGraphicFramePr>
            <a:graphicFrameLocks noChangeAspect="1"/>
          </p:cNvGraphicFramePr>
          <p:nvPr/>
        </p:nvGraphicFramePr>
        <p:xfrm>
          <a:off x="2209800" y="1816100"/>
          <a:ext cx="4800600" cy="2286000"/>
        </p:xfrm>
        <a:graphic>
          <a:graphicData uri="http://schemas.openxmlformats.org/presentationml/2006/ole">
            <mc:AlternateContent xmlns:mc="http://schemas.openxmlformats.org/markup-compatibility/2006">
              <mc:Choice xmlns:v="urn:schemas-microsoft-com:vml" Requires="v">
                <p:oleObj spid="_x0000_s43032" name="VISIO" r:id="rId3" imgW="2808732" imgH="1199388" progId="Visio.Drawing.6">
                  <p:embed/>
                </p:oleObj>
              </mc:Choice>
              <mc:Fallback>
                <p:oleObj name="VISIO" r:id="rId3" imgW="2808732" imgH="1199388"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t="-3598" r="3076" b="-4347"/>
                      <a:stretch>
                        <a:fillRect/>
                      </a:stretch>
                    </p:blipFill>
                    <p:spPr bwMode="auto">
                      <a:xfrm>
                        <a:off x="2209800" y="1816100"/>
                        <a:ext cx="4800600" cy="2286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3" name="Text Box 5"/>
          <p:cNvSpPr txBox="1">
            <a:spLocks noChangeArrowheads="1"/>
          </p:cNvSpPr>
          <p:nvPr/>
        </p:nvSpPr>
        <p:spPr bwMode="auto">
          <a:xfrm>
            <a:off x="838200" y="4292600"/>
            <a:ext cx="76200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400" b="1" dirty="0">
                <a:solidFill>
                  <a:srgbClr val="0070C0"/>
                </a:solidFill>
              </a:rPr>
              <a:t>If highest digit of a hexadecimal is &gt; 7, the value is negative</a:t>
            </a:r>
          </a:p>
          <a:p>
            <a:pPr eaLnBrk="1" hangingPunct="1">
              <a:spcBef>
                <a:spcPct val="50000"/>
              </a:spcBef>
            </a:pPr>
            <a:r>
              <a:rPr lang="en-US" altLang="ar-AE" sz="2400" dirty="0"/>
              <a:t>Examples: 8A and C5 are negative bytes</a:t>
            </a:r>
          </a:p>
          <a:p>
            <a:pPr eaLnBrk="1" hangingPunct="1">
              <a:spcBef>
                <a:spcPct val="50000"/>
              </a:spcBef>
            </a:pPr>
            <a:r>
              <a:rPr lang="en-US" altLang="ar-AE" sz="2400" dirty="0"/>
              <a:t>A21F and 9D03 are negative words</a:t>
            </a:r>
          </a:p>
          <a:p>
            <a:pPr eaLnBrk="1" hangingPunct="1">
              <a:spcBef>
                <a:spcPct val="50000"/>
              </a:spcBef>
            </a:pPr>
            <a:r>
              <a:rPr lang="en-US" altLang="ar-AE" sz="2000" dirty="0"/>
              <a:t>B1C42A00 is a negative double-word</a:t>
            </a:r>
          </a:p>
        </p:txBody>
      </p:sp>
      <p:sp>
        <p:nvSpPr>
          <p:cNvPr id="6" name="مستطيل 5"/>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07DCE9E7-0843-4339-810E-0D92052810D8}"/>
              </a:ext>
            </a:extLst>
          </p:cNvPr>
          <p:cNvSpPr>
            <a:spLocks noGrp="1"/>
          </p:cNvSpPr>
          <p:nvPr>
            <p:ph idx="1"/>
          </p:nvPr>
        </p:nvSpPr>
        <p:spPr/>
        <p:txBody>
          <a:bodyPr/>
          <a:lstStyle/>
          <a:p>
            <a:endParaRPr lang="ar-AE" dirty="0"/>
          </a:p>
        </p:txBody>
      </p:sp>
      <p:sp>
        <p:nvSpPr>
          <p:cNvPr id="3" name="عنوان 2">
            <a:extLst>
              <a:ext uri="{FF2B5EF4-FFF2-40B4-BE49-F238E27FC236}">
                <a16:creationId xmlns:a16="http://schemas.microsoft.com/office/drawing/2014/main" id="{A1860845-3AB8-4FE7-B507-2A94C56AA020}"/>
              </a:ext>
            </a:extLst>
          </p:cNvPr>
          <p:cNvSpPr>
            <a:spLocks noGrp="1"/>
          </p:cNvSpPr>
          <p:nvPr>
            <p:ph type="title"/>
          </p:nvPr>
        </p:nvSpPr>
        <p:spPr/>
        <p:txBody>
          <a:bodyPr/>
          <a:lstStyle/>
          <a:p>
            <a:r>
              <a:rPr lang="en-US" b="1" i="1" dirty="0"/>
              <a:t>Maximum and Minimum Values</a:t>
            </a:r>
            <a:endParaRPr lang="ar-AE" dirty="0"/>
          </a:p>
        </p:txBody>
      </p:sp>
      <p:pic>
        <p:nvPicPr>
          <p:cNvPr id="5" name="صورة 4">
            <a:extLst>
              <a:ext uri="{FF2B5EF4-FFF2-40B4-BE49-F238E27FC236}">
                <a16:creationId xmlns:a16="http://schemas.microsoft.com/office/drawing/2014/main" id="{257DEC59-EC0A-4750-8311-D3B3446F2039}"/>
              </a:ext>
            </a:extLst>
          </p:cNvPr>
          <p:cNvPicPr>
            <a:picLocks noChangeAspect="1"/>
          </p:cNvPicPr>
          <p:nvPr/>
        </p:nvPicPr>
        <p:blipFill>
          <a:blip r:embed="rId2">
            <a:lum bright="-20000" contrast="40000"/>
          </a:blip>
          <a:stretch>
            <a:fillRect/>
          </a:stretch>
        </p:blipFill>
        <p:spPr>
          <a:xfrm>
            <a:off x="270187" y="1851520"/>
            <a:ext cx="8603625" cy="4511180"/>
          </a:xfrm>
          <a:prstGeom prst="rect">
            <a:avLst/>
          </a:prstGeom>
        </p:spPr>
      </p:pic>
    </p:spTree>
    <p:extLst>
      <p:ext uri="{BB962C8B-B14F-4D97-AF65-F5344CB8AC3E}">
        <p14:creationId xmlns:p14="http://schemas.microsoft.com/office/powerpoint/2010/main" val="3234052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74638"/>
            <a:ext cx="8229600" cy="792162"/>
          </a:xfrm>
        </p:spPr>
        <p:txBody>
          <a:bodyPr/>
          <a:lstStyle/>
          <a:p>
            <a:pPr eaLnBrk="1" hangingPunct="1"/>
            <a:r>
              <a:rPr lang="en-US" altLang="ar-AE"/>
              <a:t>Sign Extension</a:t>
            </a:r>
          </a:p>
        </p:txBody>
      </p:sp>
      <p:sp>
        <p:nvSpPr>
          <p:cNvPr id="44035" name="Rectangle 3"/>
          <p:cNvSpPr>
            <a:spLocks noGrp="1" noChangeArrowheads="1"/>
          </p:cNvSpPr>
          <p:nvPr>
            <p:ph type="body" idx="1"/>
          </p:nvPr>
        </p:nvSpPr>
        <p:spPr>
          <a:xfrm>
            <a:off x="344487" y="1201737"/>
            <a:ext cx="8686801" cy="5143500"/>
          </a:xfrm>
        </p:spPr>
        <p:txBody>
          <a:bodyPr/>
          <a:lstStyle/>
          <a:p>
            <a:pPr eaLnBrk="1" hangingPunct="1">
              <a:buFont typeface="Wingdings" panose="05000000000000000000" pitchFamily="2" charset="2"/>
              <a:buNone/>
            </a:pPr>
            <a:r>
              <a:rPr lang="en-US" altLang="ar-AE" dirty="0"/>
              <a:t>Step 1: Move the number into the lower-significant bits</a:t>
            </a:r>
          </a:p>
          <a:p>
            <a:pPr eaLnBrk="1" hangingPunct="1">
              <a:buFont typeface="Wingdings" panose="05000000000000000000" pitchFamily="2" charset="2"/>
              <a:buNone/>
            </a:pPr>
            <a:r>
              <a:rPr lang="en-US" altLang="ar-AE" dirty="0"/>
              <a:t>Step 2: Fill all the remaining higher bits with the sign bit</a:t>
            </a:r>
          </a:p>
          <a:p>
            <a:pPr eaLnBrk="1" hangingPunct="1"/>
            <a:r>
              <a:rPr lang="en-US" altLang="ar-AE" dirty="0"/>
              <a:t>This will ensure that both magnitude and sign are correct</a:t>
            </a:r>
          </a:p>
          <a:p>
            <a:pPr eaLnBrk="1" hangingPunct="1"/>
            <a:r>
              <a:rPr lang="en-US" altLang="ar-AE" dirty="0"/>
              <a:t>Examples</a:t>
            </a:r>
          </a:p>
          <a:p>
            <a:pPr lvl="1" eaLnBrk="1" hangingPunct="1"/>
            <a:r>
              <a:rPr lang="en-US" altLang="ar-AE" dirty="0"/>
              <a:t>Sign-Extend 10110011 to 16 bits</a:t>
            </a:r>
          </a:p>
          <a:p>
            <a:pPr lvl="1" eaLnBrk="1" hangingPunct="1"/>
            <a:endParaRPr lang="en-US" altLang="ar-AE" dirty="0"/>
          </a:p>
          <a:p>
            <a:pPr lvl="1" eaLnBrk="1" hangingPunct="1"/>
            <a:r>
              <a:rPr lang="en-US" altLang="ar-AE" dirty="0"/>
              <a:t>Sign-Extend 01100010 to 16 bits</a:t>
            </a:r>
          </a:p>
          <a:p>
            <a:pPr lvl="1" eaLnBrk="1" hangingPunct="1"/>
            <a:endParaRPr lang="en-US" altLang="ar-AE" dirty="0"/>
          </a:p>
          <a:p>
            <a:pPr eaLnBrk="1" hangingPunct="1">
              <a:spcBef>
                <a:spcPct val="60000"/>
              </a:spcBef>
            </a:pPr>
            <a:r>
              <a:rPr lang="en-US" altLang="ar-AE" b="1" dirty="0">
                <a:solidFill>
                  <a:srgbClr val="0070C0"/>
                </a:solidFill>
              </a:rPr>
              <a:t>Infinite 0s can be added to the left of a positive number</a:t>
            </a:r>
          </a:p>
          <a:p>
            <a:pPr eaLnBrk="1" hangingPunct="1"/>
            <a:r>
              <a:rPr lang="en-US" altLang="ar-AE" b="1" dirty="0">
                <a:solidFill>
                  <a:srgbClr val="0070C0"/>
                </a:solidFill>
              </a:rPr>
              <a:t>Infinite 1s can be added to the left of a negative number</a:t>
            </a:r>
          </a:p>
          <a:p>
            <a:pPr lvl="1" eaLnBrk="1" hangingPunct="1"/>
            <a:endParaRPr lang="en-US" altLang="ar-AE" dirty="0"/>
          </a:p>
        </p:txBody>
      </p:sp>
      <p:grpSp>
        <p:nvGrpSpPr>
          <p:cNvPr id="44036" name="Group 12"/>
          <p:cNvGrpSpPr>
            <a:grpSpLocks/>
          </p:cNvGrpSpPr>
          <p:nvPr/>
        </p:nvGrpSpPr>
        <p:grpSpPr bwMode="auto">
          <a:xfrm>
            <a:off x="1346200" y="3486150"/>
            <a:ext cx="7027863" cy="576263"/>
            <a:chOff x="485" y="2269"/>
            <a:chExt cx="4427" cy="363"/>
          </a:xfrm>
        </p:grpSpPr>
        <p:sp>
          <p:nvSpPr>
            <p:cNvPr id="44045" name="Text Box 5"/>
            <p:cNvSpPr txBox="1">
              <a:spLocks noChangeArrowheads="1"/>
            </p:cNvSpPr>
            <p:nvPr/>
          </p:nvSpPr>
          <p:spPr bwMode="auto">
            <a:xfrm>
              <a:off x="485" y="2305"/>
              <a:ext cx="1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2000" b="1">
                  <a:latin typeface="Courier New" panose="02070309020205020404" pitchFamily="49" charset="0"/>
                  <a:cs typeface="Courier New" panose="02070309020205020404" pitchFamily="49" charset="0"/>
                </a:rPr>
                <a:t>10110011 = -77</a:t>
              </a:r>
            </a:p>
          </p:txBody>
        </p:sp>
        <p:sp>
          <p:nvSpPr>
            <p:cNvPr id="44046" name="Text Box 4"/>
            <p:cNvSpPr txBox="1">
              <a:spLocks noChangeArrowheads="1"/>
            </p:cNvSpPr>
            <p:nvPr/>
          </p:nvSpPr>
          <p:spPr bwMode="auto">
            <a:xfrm>
              <a:off x="2590" y="2305"/>
              <a:ext cx="232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2000" b="1">
                  <a:latin typeface="Courier New" panose="02070309020205020404" pitchFamily="49" charset="0"/>
                  <a:cs typeface="Courier New" panose="02070309020205020404" pitchFamily="49" charset="0"/>
                </a:rPr>
                <a:t>11111111 10110011 = -77</a:t>
              </a:r>
            </a:p>
          </p:txBody>
        </p:sp>
        <p:sp>
          <p:nvSpPr>
            <p:cNvPr id="44047" name="Oval 6"/>
            <p:cNvSpPr>
              <a:spLocks noChangeArrowheads="1"/>
            </p:cNvSpPr>
            <p:nvPr/>
          </p:nvSpPr>
          <p:spPr bwMode="auto">
            <a:xfrm>
              <a:off x="3497" y="2341"/>
              <a:ext cx="109" cy="21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4048" name="AutoShape 8"/>
            <p:cNvSpPr>
              <a:spLocks noChangeArrowheads="1"/>
            </p:cNvSpPr>
            <p:nvPr/>
          </p:nvSpPr>
          <p:spPr bwMode="auto">
            <a:xfrm>
              <a:off x="2590" y="2341"/>
              <a:ext cx="871" cy="218"/>
            </a:xfrm>
            <a:prstGeom prst="roundRect">
              <a:avLst>
                <a:gd name="adj" fmla="val 16667"/>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4049" name="Arc 9"/>
            <p:cNvSpPr>
              <a:spLocks/>
            </p:cNvSpPr>
            <p:nvPr/>
          </p:nvSpPr>
          <p:spPr bwMode="auto">
            <a:xfrm flipV="1">
              <a:off x="3218" y="2269"/>
              <a:ext cx="315" cy="101"/>
            </a:xfrm>
            <a:custGeom>
              <a:avLst/>
              <a:gdLst>
                <a:gd name="T0" fmla="*/ 315 w 41694"/>
                <a:gd name="T1" fmla="*/ 22 h 21600"/>
                <a:gd name="T2" fmla="*/ 0 w 41694"/>
                <a:gd name="T3" fmla="*/ 30 h 21600"/>
                <a:gd name="T4" fmla="*/ 156 w 41694"/>
                <a:gd name="T5" fmla="*/ 0 h 21600"/>
                <a:gd name="T6" fmla="*/ 0 60000 65536"/>
                <a:gd name="T7" fmla="*/ 0 60000 65536"/>
                <a:gd name="T8" fmla="*/ 0 60000 65536"/>
              </a:gdLst>
              <a:ahLst/>
              <a:cxnLst>
                <a:cxn ang="T6">
                  <a:pos x="T0" y="T1"/>
                </a:cxn>
                <a:cxn ang="T7">
                  <a:pos x="T2" y="T3"/>
                </a:cxn>
                <a:cxn ang="T8">
                  <a:pos x="T4" y="T5"/>
                </a:cxn>
              </a:cxnLst>
              <a:rect l="0" t="0" r="r" b="b"/>
              <a:pathLst>
                <a:path w="41694" h="21600" fill="none" extrusionOk="0">
                  <a:moveTo>
                    <a:pt x="41693" y="4756"/>
                  </a:moveTo>
                  <a:cubicBezTo>
                    <a:pt x="39470" y="14605"/>
                    <a:pt x="30720" y="21599"/>
                    <a:pt x="20624" y="21599"/>
                  </a:cubicBezTo>
                  <a:cubicBezTo>
                    <a:pt x="11168" y="21599"/>
                    <a:pt x="2811" y="15449"/>
                    <a:pt x="0" y="6420"/>
                  </a:cubicBezTo>
                </a:path>
                <a:path w="41694" h="21600" stroke="0" extrusionOk="0">
                  <a:moveTo>
                    <a:pt x="41693" y="4756"/>
                  </a:moveTo>
                  <a:cubicBezTo>
                    <a:pt x="39470" y="14605"/>
                    <a:pt x="30720" y="21599"/>
                    <a:pt x="20624" y="21599"/>
                  </a:cubicBezTo>
                  <a:cubicBezTo>
                    <a:pt x="11168" y="21599"/>
                    <a:pt x="2811" y="15449"/>
                    <a:pt x="0" y="6420"/>
                  </a:cubicBezTo>
                  <a:lnTo>
                    <a:pt x="20624" y="0"/>
                  </a:lnTo>
                  <a:lnTo>
                    <a:pt x="41693" y="4756"/>
                  </a:lnTo>
                  <a:close/>
                </a:path>
              </a:pathLst>
            </a:custGeom>
            <a:noFill/>
            <a:ln w="1905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ar-SA"/>
            </a:p>
          </p:txBody>
        </p:sp>
        <p:sp>
          <p:nvSpPr>
            <p:cNvPr id="44050" name="AutoShape 11"/>
            <p:cNvSpPr>
              <a:spLocks noChangeArrowheads="1"/>
            </p:cNvSpPr>
            <p:nvPr/>
          </p:nvSpPr>
          <p:spPr bwMode="auto">
            <a:xfrm>
              <a:off x="2009" y="2378"/>
              <a:ext cx="290" cy="145"/>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grpSp>
      <p:grpSp>
        <p:nvGrpSpPr>
          <p:cNvPr id="44037" name="Group 13"/>
          <p:cNvGrpSpPr>
            <a:grpSpLocks/>
          </p:cNvGrpSpPr>
          <p:nvPr/>
        </p:nvGrpSpPr>
        <p:grpSpPr bwMode="auto">
          <a:xfrm>
            <a:off x="1346200" y="4351338"/>
            <a:ext cx="7027863" cy="576262"/>
            <a:chOff x="485" y="2269"/>
            <a:chExt cx="4427" cy="363"/>
          </a:xfrm>
        </p:grpSpPr>
        <p:sp>
          <p:nvSpPr>
            <p:cNvPr id="44039" name="Text Box 14"/>
            <p:cNvSpPr txBox="1">
              <a:spLocks noChangeArrowheads="1"/>
            </p:cNvSpPr>
            <p:nvPr/>
          </p:nvSpPr>
          <p:spPr bwMode="auto">
            <a:xfrm>
              <a:off x="485" y="2305"/>
              <a:ext cx="1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2000" b="1">
                  <a:latin typeface="Courier New" panose="02070309020205020404" pitchFamily="49" charset="0"/>
                  <a:cs typeface="Courier New" panose="02070309020205020404" pitchFamily="49" charset="0"/>
                </a:rPr>
                <a:t>01100010 = +98</a:t>
              </a:r>
            </a:p>
          </p:txBody>
        </p:sp>
        <p:sp>
          <p:nvSpPr>
            <p:cNvPr id="44040" name="Text Box 15"/>
            <p:cNvSpPr txBox="1">
              <a:spLocks noChangeArrowheads="1"/>
            </p:cNvSpPr>
            <p:nvPr/>
          </p:nvSpPr>
          <p:spPr bwMode="auto">
            <a:xfrm>
              <a:off x="2590" y="2305"/>
              <a:ext cx="232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2000" b="1">
                  <a:latin typeface="Courier New" panose="02070309020205020404" pitchFamily="49" charset="0"/>
                  <a:cs typeface="Courier New" panose="02070309020205020404" pitchFamily="49" charset="0"/>
                </a:rPr>
                <a:t>00000000 01100010 = +98</a:t>
              </a:r>
            </a:p>
          </p:txBody>
        </p:sp>
        <p:sp>
          <p:nvSpPr>
            <p:cNvPr id="44041" name="Oval 16"/>
            <p:cNvSpPr>
              <a:spLocks noChangeArrowheads="1"/>
            </p:cNvSpPr>
            <p:nvPr/>
          </p:nvSpPr>
          <p:spPr bwMode="auto">
            <a:xfrm>
              <a:off x="3497" y="2341"/>
              <a:ext cx="109" cy="21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4042" name="AutoShape 17"/>
            <p:cNvSpPr>
              <a:spLocks noChangeArrowheads="1"/>
            </p:cNvSpPr>
            <p:nvPr/>
          </p:nvSpPr>
          <p:spPr bwMode="auto">
            <a:xfrm>
              <a:off x="2590" y="2341"/>
              <a:ext cx="871" cy="218"/>
            </a:xfrm>
            <a:prstGeom prst="roundRect">
              <a:avLst>
                <a:gd name="adj" fmla="val 16667"/>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44043" name="Arc 18"/>
            <p:cNvSpPr>
              <a:spLocks/>
            </p:cNvSpPr>
            <p:nvPr/>
          </p:nvSpPr>
          <p:spPr bwMode="auto">
            <a:xfrm flipV="1">
              <a:off x="3218" y="2269"/>
              <a:ext cx="315" cy="101"/>
            </a:xfrm>
            <a:custGeom>
              <a:avLst/>
              <a:gdLst>
                <a:gd name="T0" fmla="*/ 315 w 41694"/>
                <a:gd name="T1" fmla="*/ 22 h 21600"/>
                <a:gd name="T2" fmla="*/ 0 w 41694"/>
                <a:gd name="T3" fmla="*/ 30 h 21600"/>
                <a:gd name="T4" fmla="*/ 156 w 41694"/>
                <a:gd name="T5" fmla="*/ 0 h 21600"/>
                <a:gd name="T6" fmla="*/ 0 60000 65536"/>
                <a:gd name="T7" fmla="*/ 0 60000 65536"/>
                <a:gd name="T8" fmla="*/ 0 60000 65536"/>
              </a:gdLst>
              <a:ahLst/>
              <a:cxnLst>
                <a:cxn ang="T6">
                  <a:pos x="T0" y="T1"/>
                </a:cxn>
                <a:cxn ang="T7">
                  <a:pos x="T2" y="T3"/>
                </a:cxn>
                <a:cxn ang="T8">
                  <a:pos x="T4" y="T5"/>
                </a:cxn>
              </a:cxnLst>
              <a:rect l="0" t="0" r="r" b="b"/>
              <a:pathLst>
                <a:path w="41694" h="21600" fill="none" extrusionOk="0">
                  <a:moveTo>
                    <a:pt x="41693" y="4756"/>
                  </a:moveTo>
                  <a:cubicBezTo>
                    <a:pt x="39470" y="14605"/>
                    <a:pt x="30720" y="21599"/>
                    <a:pt x="20624" y="21599"/>
                  </a:cubicBezTo>
                  <a:cubicBezTo>
                    <a:pt x="11168" y="21599"/>
                    <a:pt x="2811" y="15449"/>
                    <a:pt x="0" y="6420"/>
                  </a:cubicBezTo>
                </a:path>
                <a:path w="41694" h="21600" stroke="0" extrusionOk="0">
                  <a:moveTo>
                    <a:pt x="41693" y="4756"/>
                  </a:moveTo>
                  <a:cubicBezTo>
                    <a:pt x="39470" y="14605"/>
                    <a:pt x="30720" y="21599"/>
                    <a:pt x="20624" y="21599"/>
                  </a:cubicBezTo>
                  <a:cubicBezTo>
                    <a:pt x="11168" y="21599"/>
                    <a:pt x="2811" y="15449"/>
                    <a:pt x="0" y="6420"/>
                  </a:cubicBezTo>
                  <a:lnTo>
                    <a:pt x="20624" y="0"/>
                  </a:lnTo>
                  <a:lnTo>
                    <a:pt x="41693" y="4756"/>
                  </a:lnTo>
                  <a:close/>
                </a:path>
              </a:pathLst>
            </a:custGeom>
            <a:noFill/>
            <a:ln w="1905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ar-SA"/>
            </a:p>
          </p:txBody>
        </p:sp>
        <p:sp>
          <p:nvSpPr>
            <p:cNvPr id="44044" name="AutoShape 19"/>
            <p:cNvSpPr>
              <a:spLocks noChangeArrowheads="1"/>
            </p:cNvSpPr>
            <p:nvPr/>
          </p:nvSpPr>
          <p:spPr bwMode="auto">
            <a:xfrm>
              <a:off x="2009" y="2378"/>
              <a:ext cx="290" cy="145"/>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274638"/>
            <a:ext cx="8229600" cy="792162"/>
          </a:xfrm>
        </p:spPr>
        <p:txBody>
          <a:bodyPr/>
          <a:lstStyle/>
          <a:p>
            <a:pPr eaLnBrk="1" hangingPunct="1"/>
            <a:r>
              <a:rPr lang="en-US" altLang="ar-AE"/>
              <a:t>Two's Complement of a Hexadecimal</a:t>
            </a:r>
          </a:p>
        </p:txBody>
      </p:sp>
      <p:sp>
        <p:nvSpPr>
          <p:cNvPr id="45059" name="Rectangle 3"/>
          <p:cNvSpPr>
            <a:spLocks noGrp="1" noChangeArrowheads="1"/>
          </p:cNvSpPr>
          <p:nvPr>
            <p:ph type="body" idx="1"/>
          </p:nvPr>
        </p:nvSpPr>
        <p:spPr>
          <a:xfrm>
            <a:off x="457200" y="1239838"/>
            <a:ext cx="8229600" cy="5046662"/>
          </a:xfrm>
        </p:spPr>
        <p:txBody>
          <a:bodyPr/>
          <a:lstStyle/>
          <a:p>
            <a:pPr marL="0" indent="0" eaLnBrk="1" hangingPunct="1">
              <a:spcBef>
                <a:spcPct val="60000"/>
              </a:spcBef>
              <a:buNone/>
            </a:pPr>
            <a:r>
              <a:rPr lang="en-US" altLang="ar-AE" sz="2800" dirty="0">
                <a:solidFill>
                  <a:srgbClr val="C00000"/>
                </a:solidFill>
              </a:rPr>
              <a:t>No need to convert hexadecimal to binary</a:t>
            </a:r>
          </a:p>
          <a:p>
            <a:pPr eaLnBrk="1" hangingPunct="1">
              <a:spcBef>
                <a:spcPct val="60000"/>
              </a:spcBef>
            </a:pPr>
            <a:r>
              <a:rPr lang="en-US" altLang="ar-AE" sz="2800" dirty="0"/>
              <a:t>To form the two's complement of a hexadecimal</a:t>
            </a:r>
          </a:p>
          <a:p>
            <a:pPr lvl="1" eaLnBrk="1" hangingPunct="1">
              <a:spcBef>
                <a:spcPct val="60000"/>
              </a:spcBef>
            </a:pPr>
            <a:r>
              <a:rPr lang="en-US" altLang="ar-AE" sz="2400" dirty="0"/>
              <a:t>Subtract each hexadecimal digit from 15</a:t>
            </a:r>
          </a:p>
          <a:p>
            <a:pPr lvl="1" eaLnBrk="1" hangingPunct="1">
              <a:spcBef>
                <a:spcPct val="60000"/>
              </a:spcBef>
            </a:pPr>
            <a:r>
              <a:rPr lang="en-US" altLang="ar-AE" sz="2400" dirty="0"/>
              <a:t>Add 1</a:t>
            </a:r>
          </a:p>
          <a:p>
            <a:pPr eaLnBrk="1" hangingPunct="1">
              <a:spcBef>
                <a:spcPct val="60000"/>
              </a:spcBef>
            </a:pPr>
            <a:r>
              <a:rPr lang="en-US" altLang="ar-AE" sz="2800" dirty="0"/>
              <a:t>Examples:</a:t>
            </a:r>
          </a:p>
          <a:p>
            <a:pPr lvl="1" eaLnBrk="1" hangingPunct="1">
              <a:spcBef>
                <a:spcPct val="60000"/>
              </a:spcBef>
              <a:buFont typeface="Wingdings" panose="05000000000000000000" pitchFamily="2" charset="2"/>
              <a:buNone/>
            </a:pPr>
            <a:r>
              <a:rPr lang="en-US" altLang="ar-AE" sz="2400" dirty="0"/>
              <a:t>2's complement of 6A3D = 95C2 + 1 = 95C3</a:t>
            </a:r>
          </a:p>
          <a:p>
            <a:pPr lvl="1" eaLnBrk="1" hangingPunct="1">
              <a:spcBef>
                <a:spcPct val="60000"/>
              </a:spcBef>
              <a:buFont typeface="Wingdings" panose="05000000000000000000" pitchFamily="2" charset="2"/>
              <a:buNone/>
            </a:pPr>
            <a:r>
              <a:rPr lang="en-US" altLang="ar-AE" sz="2400" dirty="0"/>
              <a:t>2's complement of 92F0 = 6D0F + 1 = 6D10</a:t>
            </a:r>
          </a:p>
          <a:p>
            <a:pPr lvl="1" eaLnBrk="1" hangingPunct="1">
              <a:spcBef>
                <a:spcPct val="60000"/>
              </a:spcBef>
              <a:buFont typeface="Wingdings" panose="05000000000000000000" pitchFamily="2" charset="2"/>
              <a:buNone/>
            </a:pPr>
            <a:r>
              <a:rPr lang="en-US" altLang="ar-AE" sz="2400" dirty="0"/>
              <a:t>2's complement of FFFF = 0000 + 1 = 0001</a:t>
            </a:r>
          </a:p>
        </p:txBody>
      </p:sp>
      <p:sp>
        <p:nvSpPr>
          <p:cNvPr id="4" name="مستطيل 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274638"/>
            <a:ext cx="8229600" cy="792162"/>
          </a:xfrm>
        </p:spPr>
        <p:txBody>
          <a:bodyPr/>
          <a:lstStyle/>
          <a:p>
            <a:pPr eaLnBrk="1" hangingPunct="1"/>
            <a:r>
              <a:rPr lang="en-US" altLang="ar-AE"/>
              <a:t>Binary Subtraction</a:t>
            </a:r>
          </a:p>
        </p:txBody>
      </p:sp>
      <p:sp>
        <p:nvSpPr>
          <p:cNvPr id="46083" name="Rectangle 3"/>
          <p:cNvSpPr>
            <a:spLocks noGrp="1" noChangeArrowheads="1"/>
          </p:cNvSpPr>
          <p:nvPr>
            <p:ph type="body" idx="1"/>
          </p:nvPr>
        </p:nvSpPr>
        <p:spPr/>
        <p:txBody>
          <a:bodyPr/>
          <a:lstStyle/>
          <a:p>
            <a:pPr eaLnBrk="1" hangingPunct="1">
              <a:tabLst>
                <a:tab pos="4124325" algn="l"/>
              </a:tabLst>
            </a:pPr>
            <a:r>
              <a:rPr lang="en-US" altLang="ar-AE" dirty="0"/>
              <a:t>When subtracting A – B, convert B to its 2's complement</a:t>
            </a:r>
          </a:p>
          <a:p>
            <a:pPr eaLnBrk="1" hangingPunct="1">
              <a:tabLst>
                <a:tab pos="4124325" algn="l"/>
              </a:tabLst>
            </a:pPr>
            <a:r>
              <a:rPr lang="en-US" altLang="ar-AE" dirty="0"/>
              <a:t>Add A to (–B)</a:t>
            </a:r>
          </a:p>
          <a:p>
            <a:pPr eaLnBrk="1" hangingPunct="1">
              <a:buFont typeface="Wingdings" panose="05000000000000000000" pitchFamily="2" charset="2"/>
              <a:buNone/>
              <a:tabLst>
                <a:tab pos="4124325" algn="l"/>
              </a:tabLst>
            </a:pPr>
            <a:r>
              <a:rPr lang="en-US" altLang="ar-AE" dirty="0"/>
              <a:t>	 0 0 0 0 1 1 0 0	0 0 0 0 1 1 0 0</a:t>
            </a:r>
          </a:p>
          <a:p>
            <a:pPr eaLnBrk="1" hangingPunct="1">
              <a:buFont typeface="Wingdings" panose="05000000000000000000" pitchFamily="2" charset="2"/>
              <a:buNone/>
              <a:tabLst>
                <a:tab pos="4124325" algn="l"/>
              </a:tabLst>
            </a:pPr>
            <a:r>
              <a:rPr lang="en-US" altLang="ar-AE" dirty="0"/>
              <a:t>	 0 0 0 0 0 0 1 0	</a:t>
            </a:r>
            <a:r>
              <a:rPr lang="en-US" altLang="ar-AE" dirty="0">
                <a:solidFill>
                  <a:srgbClr val="FF0000"/>
                </a:solidFill>
              </a:rPr>
              <a:t>1 1 1 1 1 1 1 0</a:t>
            </a:r>
            <a:r>
              <a:rPr lang="en-US" altLang="ar-AE" dirty="0"/>
              <a:t>  </a:t>
            </a:r>
            <a:r>
              <a:rPr lang="en-US" altLang="ar-AE" sz="1800" dirty="0"/>
              <a:t>(2's complement)</a:t>
            </a:r>
          </a:p>
          <a:p>
            <a:pPr eaLnBrk="1" hangingPunct="1">
              <a:buFont typeface="Wingdings" panose="05000000000000000000" pitchFamily="2" charset="2"/>
              <a:buNone/>
              <a:tabLst>
                <a:tab pos="4124325" algn="l"/>
              </a:tabLst>
            </a:pPr>
            <a:r>
              <a:rPr lang="en-US" altLang="ar-AE" dirty="0"/>
              <a:t>	 0 0 0 0 1 0 1 0	0 0 0 0 1 0 1 0  </a:t>
            </a:r>
            <a:r>
              <a:rPr lang="en-US" altLang="ar-AE" sz="1800" dirty="0"/>
              <a:t>(same result)</a:t>
            </a:r>
          </a:p>
          <a:p>
            <a:pPr eaLnBrk="1" hangingPunct="1">
              <a:tabLst>
                <a:tab pos="4124325" algn="l"/>
              </a:tabLst>
            </a:pPr>
            <a:r>
              <a:rPr lang="en-US" altLang="ar-AE" dirty="0"/>
              <a:t>Carry is ignored, because</a:t>
            </a:r>
          </a:p>
          <a:p>
            <a:pPr lvl="1" eaLnBrk="1" hangingPunct="1">
              <a:tabLst>
                <a:tab pos="4124325" algn="l"/>
              </a:tabLst>
            </a:pPr>
            <a:r>
              <a:rPr lang="en-US" altLang="ar-AE" dirty="0"/>
              <a:t>Negative number is sign-extended with 1's</a:t>
            </a:r>
          </a:p>
          <a:p>
            <a:pPr lvl="1" eaLnBrk="1" hangingPunct="1">
              <a:tabLst>
                <a:tab pos="4124325" algn="l"/>
              </a:tabLst>
            </a:pPr>
            <a:r>
              <a:rPr lang="en-US" altLang="ar-AE" dirty="0"/>
              <a:t>You can imagine infinite 1's to the left of a negative number</a:t>
            </a:r>
          </a:p>
          <a:p>
            <a:pPr lvl="1" eaLnBrk="1" hangingPunct="1">
              <a:tabLst>
                <a:tab pos="4124325" algn="l"/>
              </a:tabLst>
            </a:pPr>
            <a:r>
              <a:rPr lang="en-US" altLang="ar-AE" dirty="0"/>
              <a:t>Adding the carry to the extended 1's produces extended zeros</a:t>
            </a:r>
          </a:p>
        </p:txBody>
      </p:sp>
      <p:sp>
        <p:nvSpPr>
          <p:cNvPr id="46084" name="Line 5"/>
          <p:cNvSpPr>
            <a:spLocks noChangeShapeType="1"/>
          </p:cNvSpPr>
          <p:nvPr/>
        </p:nvSpPr>
        <p:spPr bwMode="auto">
          <a:xfrm>
            <a:off x="885825" y="3141663"/>
            <a:ext cx="2130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ar-SA"/>
          </a:p>
        </p:txBody>
      </p:sp>
      <p:sp>
        <p:nvSpPr>
          <p:cNvPr id="46085" name="Line 6"/>
          <p:cNvSpPr>
            <a:spLocks noChangeShapeType="1"/>
          </p:cNvSpPr>
          <p:nvPr/>
        </p:nvSpPr>
        <p:spPr bwMode="auto">
          <a:xfrm>
            <a:off x="4572000" y="3141663"/>
            <a:ext cx="213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ar-SA"/>
          </a:p>
        </p:txBody>
      </p:sp>
      <p:sp>
        <p:nvSpPr>
          <p:cNvPr id="137223" name="Text Box 7"/>
          <p:cNvSpPr txBox="1">
            <a:spLocks noChangeArrowheads="1"/>
          </p:cNvSpPr>
          <p:nvPr/>
        </p:nvSpPr>
        <p:spPr bwMode="auto">
          <a:xfrm>
            <a:off x="2074863" y="5618163"/>
            <a:ext cx="4859337" cy="5413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sz="1700">
                <a:solidFill>
                  <a:schemeClr val="tx2"/>
                </a:solidFill>
              </a:rPr>
              <a:t>Practice: Subtract 00100101 from 01101001.</a:t>
            </a:r>
          </a:p>
        </p:txBody>
      </p:sp>
      <p:sp>
        <p:nvSpPr>
          <p:cNvPr id="46087" name="Rectangle 8"/>
          <p:cNvSpPr>
            <a:spLocks noChangeArrowheads="1"/>
          </p:cNvSpPr>
          <p:nvPr/>
        </p:nvSpPr>
        <p:spPr bwMode="auto">
          <a:xfrm>
            <a:off x="596900" y="23923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2400"/>
              <a:t>–</a:t>
            </a:r>
          </a:p>
        </p:txBody>
      </p:sp>
      <p:sp>
        <p:nvSpPr>
          <p:cNvPr id="46088" name="Rectangle 9"/>
          <p:cNvSpPr>
            <a:spLocks noChangeArrowheads="1"/>
          </p:cNvSpPr>
          <p:nvPr/>
        </p:nvSpPr>
        <p:spPr bwMode="auto">
          <a:xfrm>
            <a:off x="4284663" y="2449513"/>
            <a:ext cx="361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2400"/>
              <a:t>+</a:t>
            </a:r>
          </a:p>
        </p:txBody>
      </p:sp>
      <p:sp>
        <p:nvSpPr>
          <p:cNvPr id="46089" name="AutoShape 10"/>
          <p:cNvSpPr>
            <a:spLocks noChangeArrowheads="1"/>
          </p:cNvSpPr>
          <p:nvPr/>
        </p:nvSpPr>
        <p:spPr bwMode="auto">
          <a:xfrm>
            <a:off x="3362325" y="2508250"/>
            <a:ext cx="690563" cy="287338"/>
          </a:xfrm>
          <a:prstGeom prst="rightArrow">
            <a:avLst>
              <a:gd name="adj1" fmla="val 50000"/>
              <a:gd name="adj2" fmla="val 60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10" name="مستطيل 9"/>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7223"/>
                                        </p:tgtEl>
                                        <p:attrNameLst>
                                          <p:attrName>style.visibility</p:attrName>
                                        </p:attrNameLst>
                                      </p:cBhvr>
                                      <p:to>
                                        <p:strVal val="visible"/>
                                      </p:to>
                                    </p:set>
                                    <p:animEffect transition="in" filter="dissolve">
                                      <p:cBhvr>
                                        <p:cTn id="7" dur="500"/>
                                        <p:tgtEl>
                                          <p:spTgt spid="137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3"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274638"/>
            <a:ext cx="8229600" cy="792162"/>
          </a:xfrm>
        </p:spPr>
        <p:txBody>
          <a:bodyPr/>
          <a:lstStyle/>
          <a:p>
            <a:pPr eaLnBrk="1" hangingPunct="1"/>
            <a:r>
              <a:rPr lang="en-US" altLang="ar-AE"/>
              <a:t>Hexadecimal Subtraction</a:t>
            </a:r>
          </a:p>
        </p:txBody>
      </p:sp>
      <p:sp>
        <p:nvSpPr>
          <p:cNvPr id="47107" name="Rectangle 3"/>
          <p:cNvSpPr>
            <a:spLocks noGrp="1" noChangeArrowheads="1"/>
          </p:cNvSpPr>
          <p:nvPr>
            <p:ph type="body" idx="1"/>
          </p:nvPr>
        </p:nvSpPr>
        <p:spPr>
          <a:xfrm>
            <a:off x="539750" y="1144588"/>
            <a:ext cx="7777163" cy="3840162"/>
          </a:xfrm>
        </p:spPr>
        <p:txBody>
          <a:bodyPr/>
          <a:lstStyle/>
          <a:p>
            <a:pPr eaLnBrk="1" hangingPunct="1">
              <a:spcBef>
                <a:spcPct val="60000"/>
              </a:spcBef>
            </a:pPr>
            <a:r>
              <a:rPr lang="en-US" altLang="ar-AE"/>
              <a:t>When a borrow is required from the digit to the left, add 16 (decimal) to the current digit's value</a:t>
            </a:r>
          </a:p>
          <a:p>
            <a:pPr eaLnBrk="1" hangingPunct="1">
              <a:spcBef>
                <a:spcPct val="60000"/>
              </a:spcBef>
            </a:pPr>
            <a:endParaRPr lang="en-US" altLang="ar-AE"/>
          </a:p>
          <a:p>
            <a:pPr eaLnBrk="1" hangingPunct="1">
              <a:spcBef>
                <a:spcPct val="60000"/>
              </a:spcBef>
            </a:pPr>
            <a:endParaRPr lang="en-US" altLang="ar-AE"/>
          </a:p>
          <a:p>
            <a:pPr eaLnBrk="1" hangingPunct="1">
              <a:spcBef>
                <a:spcPct val="60000"/>
              </a:spcBef>
            </a:pPr>
            <a:endParaRPr lang="en-US" altLang="ar-AE"/>
          </a:p>
          <a:p>
            <a:pPr eaLnBrk="1" hangingPunct="1">
              <a:spcBef>
                <a:spcPct val="60000"/>
              </a:spcBef>
            </a:pPr>
            <a:endParaRPr lang="en-US" altLang="ar-AE"/>
          </a:p>
          <a:p>
            <a:pPr eaLnBrk="1" hangingPunct="1">
              <a:spcBef>
                <a:spcPct val="60000"/>
              </a:spcBef>
            </a:pPr>
            <a:r>
              <a:rPr lang="en-US" altLang="ar-AE"/>
              <a:t>Last Carry is ignored</a:t>
            </a:r>
          </a:p>
        </p:txBody>
      </p:sp>
      <p:sp>
        <p:nvSpPr>
          <p:cNvPr id="134153" name="Text Box 9"/>
          <p:cNvSpPr txBox="1">
            <a:spLocks noChangeArrowheads="1"/>
          </p:cNvSpPr>
          <p:nvPr/>
        </p:nvSpPr>
        <p:spPr bwMode="auto">
          <a:xfrm>
            <a:off x="866775" y="5157788"/>
            <a:ext cx="7391400" cy="800100"/>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1700"/>
              <a:t>Practice: The address of </a:t>
            </a:r>
            <a:r>
              <a:rPr lang="en-US" altLang="ar-AE" sz="1700" b="1">
                <a:solidFill>
                  <a:schemeClr val="tx2"/>
                </a:solidFill>
              </a:rPr>
              <a:t>var1</a:t>
            </a:r>
            <a:r>
              <a:rPr lang="en-US" altLang="ar-AE" sz="1700"/>
              <a:t> is 00400B20. The address of the next variable after var1 is 0040A06C. How many bytes are used by var1?</a:t>
            </a:r>
          </a:p>
        </p:txBody>
      </p:sp>
      <p:grpSp>
        <p:nvGrpSpPr>
          <p:cNvPr id="47109" name="Group 32"/>
          <p:cNvGrpSpPr>
            <a:grpSpLocks/>
          </p:cNvGrpSpPr>
          <p:nvPr/>
        </p:nvGrpSpPr>
        <p:grpSpPr bwMode="auto">
          <a:xfrm>
            <a:off x="1057275" y="2290763"/>
            <a:ext cx="6567488" cy="1887537"/>
            <a:chOff x="594" y="1942"/>
            <a:chExt cx="4137" cy="1189"/>
          </a:xfrm>
        </p:grpSpPr>
        <p:grpSp>
          <p:nvGrpSpPr>
            <p:cNvPr id="47111" name="Group 22"/>
            <p:cNvGrpSpPr>
              <a:grpSpLocks/>
            </p:cNvGrpSpPr>
            <p:nvPr/>
          </p:nvGrpSpPr>
          <p:grpSpPr bwMode="auto">
            <a:xfrm>
              <a:off x="594" y="1942"/>
              <a:ext cx="1125" cy="1189"/>
              <a:chOff x="594" y="1942"/>
              <a:chExt cx="1125" cy="1189"/>
            </a:xfrm>
          </p:grpSpPr>
          <p:sp>
            <p:nvSpPr>
              <p:cNvPr id="47119" name="Line 7"/>
              <p:cNvSpPr>
                <a:spLocks noChangeShapeType="1"/>
              </p:cNvSpPr>
              <p:nvPr/>
            </p:nvSpPr>
            <p:spPr bwMode="auto">
              <a:xfrm flipH="1">
                <a:off x="1247" y="2124"/>
                <a:ext cx="0" cy="20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ar-SA"/>
              </a:p>
            </p:txBody>
          </p:sp>
          <p:sp>
            <p:nvSpPr>
              <p:cNvPr id="47120" name="Text Box 4"/>
              <p:cNvSpPr txBox="1">
                <a:spLocks noChangeArrowheads="1"/>
              </p:cNvSpPr>
              <p:nvPr/>
            </p:nvSpPr>
            <p:spPr bwMode="auto">
              <a:xfrm>
                <a:off x="794" y="2269"/>
                <a:ext cx="925" cy="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2400" b="1">
                    <a:latin typeface="Courier New" panose="02070309020205020404" pitchFamily="49" charset="0"/>
                    <a:cs typeface="Courier New" panose="02070309020205020404" pitchFamily="49" charset="0"/>
                  </a:rPr>
                  <a:t>C675</a:t>
                </a:r>
              </a:p>
              <a:p>
                <a:pPr eaLnBrk="1" hangingPunct="1"/>
                <a:r>
                  <a:rPr lang="en-US" altLang="ar-AE" sz="2400" b="1">
                    <a:latin typeface="Courier New" panose="02070309020205020404" pitchFamily="49" charset="0"/>
                    <a:cs typeface="Courier New" panose="02070309020205020404" pitchFamily="49" charset="0"/>
                  </a:rPr>
                  <a:t>A247</a:t>
                </a:r>
              </a:p>
              <a:p>
                <a:pPr eaLnBrk="1" hangingPunct="1"/>
                <a:r>
                  <a:rPr lang="en-US" altLang="ar-AE" sz="2400" b="1">
                    <a:latin typeface="Courier New" panose="02070309020205020404" pitchFamily="49" charset="0"/>
                    <a:cs typeface="Courier New" panose="02070309020205020404" pitchFamily="49" charset="0"/>
                  </a:rPr>
                  <a:t>242E</a:t>
                </a:r>
              </a:p>
            </p:txBody>
          </p:sp>
          <p:sp>
            <p:nvSpPr>
              <p:cNvPr id="47121" name="Line 5"/>
              <p:cNvSpPr>
                <a:spLocks noChangeShapeType="1"/>
              </p:cNvSpPr>
              <p:nvPr/>
            </p:nvSpPr>
            <p:spPr bwMode="auto">
              <a:xfrm flipV="1">
                <a:off x="800" y="2813"/>
                <a:ext cx="55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ar-SA"/>
              </a:p>
            </p:txBody>
          </p:sp>
          <p:sp>
            <p:nvSpPr>
              <p:cNvPr id="47122" name="Text Box 6"/>
              <p:cNvSpPr txBox="1">
                <a:spLocks noChangeArrowheads="1"/>
              </p:cNvSpPr>
              <p:nvPr/>
            </p:nvSpPr>
            <p:spPr bwMode="auto">
              <a:xfrm>
                <a:off x="1066" y="2233"/>
                <a:ext cx="145"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1400" b="1">
                    <a:solidFill>
                      <a:schemeClr val="tx2"/>
                    </a:solidFill>
                    <a:latin typeface="Courier New" panose="02070309020205020404" pitchFamily="49" charset="0"/>
                    <a:cs typeface="Courier New" panose="02070309020205020404" pitchFamily="49" charset="0"/>
                  </a:rPr>
                  <a:t>-1</a:t>
                </a:r>
              </a:p>
            </p:txBody>
          </p:sp>
          <p:sp>
            <p:nvSpPr>
              <p:cNvPr id="47123" name="Text Box 12"/>
              <p:cNvSpPr txBox="1">
                <a:spLocks noChangeArrowheads="1"/>
              </p:cNvSpPr>
              <p:nvPr/>
            </p:nvSpPr>
            <p:spPr bwMode="auto">
              <a:xfrm>
                <a:off x="594" y="2378"/>
                <a:ext cx="191"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400" b="1">
                    <a:solidFill>
                      <a:schemeClr val="tx2"/>
                    </a:solidFill>
                    <a:latin typeface="Courier New" panose="02070309020205020404" pitchFamily="49" charset="0"/>
                    <a:cs typeface="Courier New" panose="02070309020205020404" pitchFamily="49" charset="0"/>
                  </a:rPr>
                  <a:t>-</a:t>
                </a:r>
              </a:p>
            </p:txBody>
          </p:sp>
          <p:sp>
            <p:nvSpPr>
              <p:cNvPr id="47124" name="Text Box 8"/>
              <p:cNvSpPr txBox="1">
                <a:spLocks noChangeArrowheads="1"/>
              </p:cNvSpPr>
              <p:nvPr/>
            </p:nvSpPr>
            <p:spPr bwMode="auto">
              <a:xfrm>
                <a:off x="848" y="1942"/>
                <a:ext cx="782" cy="21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3600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110000"/>
                  </a:lnSpc>
                  <a:spcBef>
                    <a:spcPct val="50000"/>
                  </a:spcBef>
                </a:pPr>
                <a:r>
                  <a:rPr lang="en-US" altLang="ar-AE" sz="1500"/>
                  <a:t>16 + 5 = 21</a:t>
                </a:r>
              </a:p>
            </p:txBody>
          </p:sp>
        </p:grpSp>
        <p:sp>
          <p:nvSpPr>
            <p:cNvPr id="47112" name="AutoShape 21"/>
            <p:cNvSpPr>
              <a:spLocks noChangeArrowheads="1"/>
            </p:cNvSpPr>
            <p:nvPr/>
          </p:nvSpPr>
          <p:spPr bwMode="auto">
            <a:xfrm>
              <a:off x="1828" y="2487"/>
              <a:ext cx="435" cy="181"/>
            </a:xfrm>
            <a:prstGeom prst="rightArrow">
              <a:avLst>
                <a:gd name="adj1" fmla="val 50000"/>
                <a:gd name="adj2" fmla="val 60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grpSp>
          <p:nvGrpSpPr>
            <p:cNvPr id="47113" name="Group 31"/>
            <p:cNvGrpSpPr>
              <a:grpSpLocks/>
            </p:cNvGrpSpPr>
            <p:nvPr/>
          </p:nvGrpSpPr>
          <p:grpSpPr bwMode="auto">
            <a:xfrm>
              <a:off x="2699" y="2233"/>
              <a:ext cx="2032" cy="898"/>
              <a:chOff x="3134" y="2233"/>
              <a:chExt cx="2032" cy="898"/>
            </a:xfrm>
          </p:grpSpPr>
          <p:sp>
            <p:nvSpPr>
              <p:cNvPr id="47114" name="Text Box 25"/>
              <p:cNvSpPr txBox="1">
                <a:spLocks noChangeArrowheads="1"/>
              </p:cNvSpPr>
              <p:nvPr/>
            </p:nvSpPr>
            <p:spPr bwMode="auto">
              <a:xfrm>
                <a:off x="3334" y="2269"/>
                <a:ext cx="1832" cy="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2400" b="1">
                    <a:latin typeface="Courier New" panose="02070309020205020404" pitchFamily="49" charset="0"/>
                    <a:cs typeface="Courier New" panose="02070309020205020404" pitchFamily="49" charset="0"/>
                  </a:rPr>
                  <a:t>C675</a:t>
                </a:r>
              </a:p>
              <a:p>
                <a:pPr eaLnBrk="1" hangingPunct="1"/>
                <a:r>
                  <a:rPr lang="en-US" altLang="ar-AE" sz="2400" b="1">
                    <a:solidFill>
                      <a:srgbClr val="FF0000"/>
                    </a:solidFill>
                    <a:latin typeface="Courier New" panose="02070309020205020404" pitchFamily="49" charset="0"/>
                    <a:cs typeface="Courier New" panose="02070309020205020404" pitchFamily="49" charset="0"/>
                  </a:rPr>
                  <a:t>5DB9</a:t>
                </a:r>
                <a:r>
                  <a:rPr lang="en-US" altLang="ar-AE" sz="2400" b="1">
                    <a:latin typeface="Courier New" panose="02070309020205020404" pitchFamily="49" charset="0"/>
                    <a:cs typeface="Courier New" panose="02070309020205020404" pitchFamily="49" charset="0"/>
                  </a:rPr>
                  <a:t> </a:t>
                </a:r>
                <a:r>
                  <a:rPr lang="en-US" altLang="ar-AE"/>
                  <a:t>(2's complement)</a:t>
                </a:r>
                <a:endParaRPr lang="en-US" altLang="ar-AE" sz="2400" b="1">
                  <a:latin typeface="Courier New" panose="02070309020205020404" pitchFamily="49" charset="0"/>
                  <a:cs typeface="Courier New" panose="02070309020205020404" pitchFamily="49" charset="0"/>
                </a:endParaRPr>
              </a:p>
              <a:p>
                <a:pPr eaLnBrk="1" hangingPunct="1"/>
                <a:r>
                  <a:rPr lang="en-US" altLang="ar-AE" sz="2400" b="1">
                    <a:latin typeface="Courier New" panose="02070309020205020404" pitchFamily="49" charset="0"/>
                    <a:cs typeface="Courier New" panose="02070309020205020404" pitchFamily="49" charset="0"/>
                  </a:rPr>
                  <a:t>242E </a:t>
                </a:r>
                <a:r>
                  <a:rPr lang="en-US" altLang="ar-AE"/>
                  <a:t>(same result)</a:t>
                </a:r>
              </a:p>
            </p:txBody>
          </p:sp>
          <p:sp>
            <p:nvSpPr>
              <p:cNvPr id="47115" name="Line 26"/>
              <p:cNvSpPr>
                <a:spLocks noChangeShapeType="1"/>
              </p:cNvSpPr>
              <p:nvPr/>
            </p:nvSpPr>
            <p:spPr bwMode="auto">
              <a:xfrm flipV="1">
                <a:off x="3340" y="2813"/>
                <a:ext cx="55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ar-SA"/>
              </a:p>
            </p:txBody>
          </p:sp>
          <p:sp>
            <p:nvSpPr>
              <p:cNvPr id="47116" name="Text Box 27"/>
              <p:cNvSpPr txBox="1">
                <a:spLocks noChangeArrowheads="1"/>
              </p:cNvSpPr>
              <p:nvPr/>
            </p:nvSpPr>
            <p:spPr bwMode="auto">
              <a:xfrm>
                <a:off x="3497" y="2233"/>
                <a:ext cx="145"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sz="1400" b="1">
                    <a:solidFill>
                      <a:schemeClr val="tx2"/>
                    </a:solidFill>
                    <a:latin typeface="Courier New" panose="02070309020205020404" pitchFamily="49" charset="0"/>
                    <a:cs typeface="Courier New" panose="02070309020205020404" pitchFamily="49" charset="0"/>
                  </a:rPr>
                  <a:t>1</a:t>
                </a:r>
              </a:p>
            </p:txBody>
          </p:sp>
          <p:sp>
            <p:nvSpPr>
              <p:cNvPr id="47117" name="Text Box 28"/>
              <p:cNvSpPr txBox="1">
                <a:spLocks noChangeArrowheads="1"/>
              </p:cNvSpPr>
              <p:nvPr/>
            </p:nvSpPr>
            <p:spPr bwMode="auto">
              <a:xfrm>
                <a:off x="3134" y="2378"/>
                <a:ext cx="191"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400" b="1">
                    <a:solidFill>
                      <a:schemeClr val="tx2"/>
                    </a:solidFill>
                    <a:latin typeface="Courier New" panose="02070309020205020404" pitchFamily="49" charset="0"/>
                    <a:cs typeface="Courier New" panose="02070309020205020404" pitchFamily="49" charset="0"/>
                  </a:rPr>
                  <a:t>+</a:t>
                </a:r>
              </a:p>
            </p:txBody>
          </p:sp>
          <p:sp>
            <p:nvSpPr>
              <p:cNvPr id="47118" name="Text Box 30"/>
              <p:cNvSpPr txBox="1">
                <a:spLocks noChangeArrowheads="1"/>
              </p:cNvSpPr>
              <p:nvPr/>
            </p:nvSpPr>
            <p:spPr bwMode="auto">
              <a:xfrm>
                <a:off x="3388" y="2233"/>
                <a:ext cx="145"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AE" sz="1400" b="1">
                    <a:solidFill>
                      <a:schemeClr val="tx2"/>
                    </a:solidFill>
                    <a:latin typeface="Courier New" panose="02070309020205020404" pitchFamily="49" charset="0"/>
                    <a:cs typeface="Courier New" panose="02070309020205020404" pitchFamily="49" charset="0"/>
                  </a:rPr>
                  <a:t>1</a:t>
                </a:r>
              </a:p>
            </p:txBody>
          </p:sp>
        </p:grpSp>
      </p:grpSp>
      <p:sp>
        <p:nvSpPr>
          <p:cNvPr id="20" name="مستطيل 19"/>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4153"/>
                                        </p:tgtEl>
                                        <p:attrNameLst>
                                          <p:attrName>style.visibility</p:attrName>
                                        </p:attrNameLst>
                                      </p:cBhvr>
                                      <p:to>
                                        <p:strVal val="visible"/>
                                      </p:to>
                                    </p:set>
                                    <p:animEffect transition="in" filter="dissolve">
                                      <p:cBhvr>
                                        <p:cTn id="7" dur="500"/>
                                        <p:tgtEl>
                                          <p:spTgt spid="134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3"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ar-AE"/>
              <a:t>Ranges of Signed Integers</a:t>
            </a:r>
          </a:p>
        </p:txBody>
      </p:sp>
      <p:pic>
        <p:nvPicPr>
          <p:cNvPr id="481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19325"/>
            <a:ext cx="8153400" cy="250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32" name="Text Box 4"/>
          <p:cNvSpPr txBox="1">
            <a:spLocks noChangeArrowheads="1"/>
          </p:cNvSpPr>
          <p:nvPr/>
        </p:nvSpPr>
        <p:spPr bwMode="auto">
          <a:xfrm>
            <a:off x="533400" y="1143000"/>
            <a:ext cx="8077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2100"/>
              <a:t>The unsigned range is divided into two signed ranges for positive and negative numbers</a:t>
            </a:r>
          </a:p>
        </p:txBody>
      </p:sp>
      <p:sp>
        <p:nvSpPr>
          <p:cNvPr id="139269" name="Text Box 5"/>
          <p:cNvSpPr txBox="1">
            <a:spLocks noChangeArrowheads="1"/>
          </p:cNvSpPr>
          <p:nvPr/>
        </p:nvSpPr>
        <p:spPr bwMode="auto">
          <a:xfrm>
            <a:off x="866775" y="5249863"/>
            <a:ext cx="7391400" cy="541337"/>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AE" sz="1700">
                <a:solidFill>
                  <a:schemeClr val="tx2"/>
                </a:solidFill>
              </a:rPr>
              <a:t>Practice: What is the range of signed values that may be stored in 20 bits?</a:t>
            </a:r>
          </a:p>
        </p:txBody>
      </p:sp>
      <p:sp>
        <p:nvSpPr>
          <p:cNvPr id="6" name="مستطيل 5"/>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9269"/>
                                        </p:tgtEl>
                                        <p:attrNameLst>
                                          <p:attrName>style.visibility</p:attrName>
                                        </p:attrNameLst>
                                      </p:cBhvr>
                                      <p:to>
                                        <p:strVal val="visible"/>
                                      </p:to>
                                    </p:set>
                                    <p:animEffect transition="in" filter="dissolve">
                                      <p:cBhvr>
                                        <p:cTn id="7" dur="500"/>
                                        <p:tgtEl>
                                          <p:spTgt spid="139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9"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274638"/>
            <a:ext cx="8229600" cy="792162"/>
          </a:xfrm>
        </p:spPr>
        <p:txBody>
          <a:bodyPr/>
          <a:lstStyle/>
          <a:p>
            <a:pPr eaLnBrk="1" hangingPunct="1"/>
            <a:r>
              <a:rPr lang="en-US" altLang="ar-AE"/>
              <a:t>Carry and Overflow</a:t>
            </a:r>
          </a:p>
        </p:txBody>
      </p:sp>
      <p:sp>
        <p:nvSpPr>
          <p:cNvPr id="49155" name="Rectangle 3"/>
          <p:cNvSpPr>
            <a:spLocks noGrp="1" noChangeArrowheads="1"/>
          </p:cNvSpPr>
          <p:nvPr>
            <p:ph type="body" idx="1"/>
          </p:nvPr>
        </p:nvSpPr>
        <p:spPr/>
        <p:txBody>
          <a:bodyPr/>
          <a:lstStyle/>
          <a:p>
            <a:pPr eaLnBrk="1" hangingPunct="1"/>
            <a:r>
              <a:rPr lang="en-US" altLang="ar-AE"/>
              <a:t>Carry is important when …</a:t>
            </a:r>
          </a:p>
          <a:p>
            <a:pPr lvl="1" eaLnBrk="1" hangingPunct="1"/>
            <a:r>
              <a:rPr lang="en-US" altLang="ar-AE"/>
              <a:t>Adding or subtracting </a:t>
            </a:r>
            <a:r>
              <a:rPr lang="en-US" altLang="ar-AE">
                <a:solidFill>
                  <a:srgbClr val="FF0000"/>
                </a:solidFill>
              </a:rPr>
              <a:t>unsigned integers</a:t>
            </a:r>
          </a:p>
          <a:p>
            <a:pPr lvl="1" eaLnBrk="1" hangingPunct="1"/>
            <a:r>
              <a:rPr lang="en-US" altLang="ar-AE"/>
              <a:t>Indicates that the </a:t>
            </a:r>
            <a:r>
              <a:rPr lang="en-US" altLang="ar-AE">
                <a:solidFill>
                  <a:srgbClr val="FF0000"/>
                </a:solidFill>
              </a:rPr>
              <a:t>unsigned sum</a:t>
            </a:r>
            <a:r>
              <a:rPr lang="en-US" altLang="ar-AE"/>
              <a:t> is out of range</a:t>
            </a:r>
          </a:p>
          <a:p>
            <a:pPr lvl="1" eaLnBrk="1" hangingPunct="1"/>
            <a:r>
              <a:rPr lang="en-US" altLang="ar-AE"/>
              <a:t>Either &lt; 0 or &gt;maximum unsigned </a:t>
            </a:r>
            <a:r>
              <a:rPr lang="en-US" altLang="ar-AE" i="1"/>
              <a:t>n</a:t>
            </a:r>
            <a:r>
              <a:rPr lang="en-US" altLang="ar-AE"/>
              <a:t>-bit value</a:t>
            </a:r>
          </a:p>
          <a:p>
            <a:pPr eaLnBrk="1" hangingPunct="1"/>
            <a:r>
              <a:rPr lang="en-US" altLang="ar-AE"/>
              <a:t>Overflow is important when …</a:t>
            </a:r>
          </a:p>
          <a:p>
            <a:pPr lvl="1" eaLnBrk="1" hangingPunct="1"/>
            <a:r>
              <a:rPr lang="en-US" altLang="ar-AE"/>
              <a:t>Adding or subtracting </a:t>
            </a:r>
            <a:r>
              <a:rPr lang="en-US" altLang="ar-AE">
                <a:solidFill>
                  <a:srgbClr val="FF0000"/>
                </a:solidFill>
              </a:rPr>
              <a:t>signed integers</a:t>
            </a:r>
          </a:p>
          <a:p>
            <a:pPr lvl="1" eaLnBrk="1" hangingPunct="1"/>
            <a:r>
              <a:rPr lang="en-US" altLang="ar-AE"/>
              <a:t>Indicates that the </a:t>
            </a:r>
            <a:r>
              <a:rPr lang="en-US" altLang="ar-AE">
                <a:solidFill>
                  <a:srgbClr val="FF0000"/>
                </a:solidFill>
              </a:rPr>
              <a:t>signed sum</a:t>
            </a:r>
            <a:r>
              <a:rPr lang="en-US" altLang="ar-AE"/>
              <a:t> is out of range</a:t>
            </a:r>
          </a:p>
          <a:p>
            <a:pPr eaLnBrk="1" hangingPunct="1"/>
            <a:r>
              <a:rPr lang="en-US" altLang="ar-AE"/>
              <a:t>Overflow occurs when</a:t>
            </a:r>
          </a:p>
          <a:p>
            <a:pPr lvl="1" eaLnBrk="1" hangingPunct="1"/>
            <a:r>
              <a:rPr lang="en-US" altLang="ar-AE"/>
              <a:t>Adding two positive numbers and the sum is negative</a:t>
            </a:r>
          </a:p>
          <a:p>
            <a:pPr lvl="1" eaLnBrk="1" hangingPunct="1"/>
            <a:r>
              <a:rPr lang="en-US" altLang="ar-AE"/>
              <a:t>Adding two negative numbers and the sum is positive</a:t>
            </a:r>
          </a:p>
          <a:p>
            <a:pPr lvl="1" eaLnBrk="1" hangingPunct="1"/>
            <a:r>
              <a:rPr lang="en-US" altLang="ar-AE"/>
              <a:t>Can happen because of the fixed number of sum bits</a:t>
            </a:r>
            <a:endParaRPr lang="en-US" altLang="ar-AE" i="1"/>
          </a:p>
        </p:txBody>
      </p:sp>
      <p:sp>
        <p:nvSpPr>
          <p:cNvPr id="4" name="مستطيل 3"/>
          <p:cNvSpPr/>
          <p:nvPr/>
        </p:nvSpPr>
        <p:spPr bwMode="auto">
          <a:xfrm>
            <a:off x="457200" y="6194425"/>
            <a:ext cx="8229600" cy="4603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rtlCol="1"/>
          <a:lstStyle/>
          <a:p>
            <a:pPr eaLnBrk="1" hangingPunct="1">
              <a:defRPr/>
            </a:pPr>
            <a:endParaRPr lang="ar-A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0178" name="Group 340"/>
          <p:cNvGrpSpPr>
            <a:grpSpLocks/>
          </p:cNvGrpSpPr>
          <p:nvPr/>
        </p:nvGrpSpPr>
        <p:grpSpPr bwMode="auto">
          <a:xfrm>
            <a:off x="482600" y="4235450"/>
            <a:ext cx="4032250" cy="2016125"/>
            <a:chOff x="2953" y="1398"/>
            <a:chExt cx="2540" cy="1270"/>
          </a:xfrm>
        </p:grpSpPr>
        <p:sp>
          <p:nvSpPr>
            <p:cNvPr id="50373" name="AutoShape 341"/>
            <p:cNvSpPr>
              <a:spLocks noChangeAspect="1" noChangeArrowheads="1" noTextEdit="1"/>
            </p:cNvSpPr>
            <p:nvPr/>
          </p:nvSpPr>
          <p:spPr bwMode="auto">
            <a:xfrm>
              <a:off x="2953" y="1398"/>
              <a:ext cx="2540" cy="127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SA"/>
            </a:p>
          </p:txBody>
        </p:sp>
        <p:sp>
          <p:nvSpPr>
            <p:cNvPr id="50374" name="Rectangle 342"/>
            <p:cNvSpPr>
              <a:spLocks noChangeArrowheads="1"/>
            </p:cNvSpPr>
            <p:nvPr/>
          </p:nvSpPr>
          <p:spPr bwMode="auto">
            <a:xfrm>
              <a:off x="3152"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75" name="Rectangle 343"/>
            <p:cNvSpPr>
              <a:spLocks noChangeArrowheads="1"/>
            </p:cNvSpPr>
            <p:nvPr/>
          </p:nvSpPr>
          <p:spPr bwMode="auto">
            <a:xfrm>
              <a:off x="3227"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76" name="Rectangle 344"/>
            <p:cNvSpPr>
              <a:spLocks noChangeArrowheads="1"/>
            </p:cNvSpPr>
            <p:nvPr/>
          </p:nvSpPr>
          <p:spPr bwMode="auto">
            <a:xfrm>
              <a:off x="3369"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77" name="Rectangle 345"/>
            <p:cNvSpPr>
              <a:spLocks noChangeArrowheads="1"/>
            </p:cNvSpPr>
            <p:nvPr/>
          </p:nvSpPr>
          <p:spPr bwMode="auto">
            <a:xfrm>
              <a:off x="3444"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78" name="Rectangle 346"/>
            <p:cNvSpPr>
              <a:spLocks noChangeArrowheads="1"/>
            </p:cNvSpPr>
            <p:nvPr/>
          </p:nvSpPr>
          <p:spPr bwMode="auto">
            <a:xfrm>
              <a:off x="3586"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79" name="Rectangle 347"/>
            <p:cNvSpPr>
              <a:spLocks noChangeArrowheads="1"/>
            </p:cNvSpPr>
            <p:nvPr/>
          </p:nvSpPr>
          <p:spPr bwMode="auto">
            <a:xfrm>
              <a:off x="3661"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80" name="Rectangle 348"/>
            <p:cNvSpPr>
              <a:spLocks noChangeArrowheads="1"/>
            </p:cNvSpPr>
            <p:nvPr/>
          </p:nvSpPr>
          <p:spPr bwMode="auto">
            <a:xfrm>
              <a:off x="3803"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81" name="Rectangle 349"/>
            <p:cNvSpPr>
              <a:spLocks noChangeArrowheads="1"/>
            </p:cNvSpPr>
            <p:nvPr/>
          </p:nvSpPr>
          <p:spPr bwMode="auto">
            <a:xfrm>
              <a:off x="3878"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82" name="Rectangle 350"/>
            <p:cNvSpPr>
              <a:spLocks noChangeArrowheads="1"/>
            </p:cNvSpPr>
            <p:nvPr/>
          </p:nvSpPr>
          <p:spPr bwMode="auto">
            <a:xfrm>
              <a:off x="4020"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83" name="Rectangle 351"/>
            <p:cNvSpPr>
              <a:spLocks noChangeArrowheads="1"/>
            </p:cNvSpPr>
            <p:nvPr/>
          </p:nvSpPr>
          <p:spPr bwMode="auto">
            <a:xfrm>
              <a:off x="4095"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84" name="Rectangle 352"/>
            <p:cNvSpPr>
              <a:spLocks noChangeArrowheads="1"/>
            </p:cNvSpPr>
            <p:nvPr/>
          </p:nvSpPr>
          <p:spPr bwMode="auto">
            <a:xfrm>
              <a:off x="4237"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85" name="Rectangle 353"/>
            <p:cNvSpPr>
              <a:spLocks noChangeArrowheads="1"/>
            </p:cNvSpPr>
            <p:nvPr/>
          </p:nvSpPr>
          <p:spPr bwMode="auto">
            <a:xfrm>
              <a:off x="4312"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86" name="Rectangle 354"/>
            <p:cNvSpPr>
              <a:spLocks noChangeArrowheads="1"/>
            </p:cNvSpPr>
            <p:nvPr/>
          </p:nvSpPr>
          <p:spPr bwMode="auto">
            <a:xfrm>
              <a:off x="4454"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87" name="Rectangle 355"/>
            <p:cNvSpPr>
              <a:spLocks noChangeArrowheads="1"/>
            </p:cNvSpPr>
            <p:nvPr/>
          </p:nvSpPr>
          <p:spPr bwMode="auto">
            <a:xfrm>
              <a:off x="4529"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88" name="Rectangle 356"/>
            <p:cNvSpPr>
              <a:spLocks noChangeArrowheads="1"/>
            </p:cNvSpPr>
            <p:nvPr/>
          </p:nvSpPr>
          <p:spPr bwMode="auto">
            <a:xfrm>
              <a:off x="4671"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89" name="Rectangle 357"/>
            <p:cNvSpPr>
              <a:spLocks noChangeArrowheads="1"/>
            </p:cNvSpPr>
            <p:nvPr/>
          </p:nvSpPr>
          <p:spPr bwMode="auto">
            <a:xfrm>
              <a:off x="4746"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90" name="Rectangle 358"/>
            <p:cNvSpPr>
              <a:spLocks noChangeArrowheads="1"/>
            </p:cNvSpPr>
            <p:nvPr/>
          </p:nvSpPr>
          <p:spPr bwMode="auto">
            <a:xfrm>
              <a:off x="3152"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91" name="Rectangle 359"/>
            <p:cNvSpPr>
              <a:spLocks noChangeArrowheads="1"/>
            </p:cNvSpPr>
            <p:nvPr/>
          </p:nvSpPr>
          <p:spPr bwMode="auto">
            <a:xfrm>
              <a:off x="3227"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92" name="Rectangle 360"/>
            <p:cNvSpPr>
              <a:spLocks noChangeArrowheads="1"/>
            </p:cNvSpPr>
            <p:nvPr/>
          </p:nvSpPr>
          <p:spPr bwMode="auto">
            <a:xfrm>
              <a:off x="3369"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93" name="Rectangle 361"/>
            <p:cNvSpPr>
              <a:spLocks noChangeArrowheads="1"/>
            </p:cNvSpPr>
            <p:nvPr/>
          </p:nvSpPr>
          <p:spPr bwMode="auto">
            <a:xfrm>
              <a:off x="3444"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94" name="Rectangle 362"/>
            <p:cNvSpPr>
              <a:spLocks noChangeArrowheads="1"/>
            </p:cNvSpPr>
            <p:nvPr/>
          </p:nvSpPr>
          <p:spPr bwMode="auto">
            <a:xfrm>
              <a:off x="3586"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95" name="Rectangle 363"/>
            <p:cNvSpPr>
              <a:spLocks noChangeArrowheads="1"/>
            </p:cNvSpPr>
            <p:nvPr/>
          </p:nvSpPr>
          <p:spPr bwMode="auto">
            <a:xfrm>
              <a:off x="3661"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96" name="Rectangle 364"/>
            <p:cNvSpPr>
              <a:spLocks noChangeArrowheads="1"/>
            </p:cNvSpPr>
            <p:nvPr/>
          </p:nvSpPr>
          <p:spPr bwMode="auto">
            <a:xfrm>
              <a:off x="3803"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97" name="Rectangle 365"/>
            <p:cNvSpPr>
              <a:spLocks noChangeArrowheads="1"/>
            </p:cNvSpPr>
            <p:nvPr/>
          </p:nvSpPr>
          <p:spPr bwMode="auto">
            <a:xfrm>
              <a:off x="3878"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98" name="Rectangle 366"/>
            <p:cNvSpPr>
              <a:spLocks noChangeArrowheads="1"/>
            </p:cNvSpPr>
            <p:nvPr/>
          </p:nvSpPr>
          <p:spPr bwMode="auto">
            <a:xfrm>
              <a:off x="4020"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99" name="Rectangle 367"/>
            <p:cNvSpPr>
              <a:spLocks noChangeArrowheads="1"/>
            </p:cNvSpPr>
            <p:nvPr/>
          </p:nvSpPr>
          <p:spPr bwMode="auto">
            <a:xfrm>
              <a:off x="4095"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400" name="Rectangle 368"/>
            <p:cNvSpPr>
              <a:spLocks noChangeArrowheads="1"/>
            </p:cNvSpPr>
            <p:nvPr/>
          </p:nvSpPr>
          <p:spPr bwMode="auto">
            <a:xfrm>
              <a:off x="4237"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01" name="Rectangle 369"/>
            <p:cNvSpPr>
              <a:spLocks noChangeArrowheads="1"/>
            </p:cNvSpPr>
            <p:nvPr/>
          </p:nvSpPr>
          <p:spPr bwMode="auto">
            <a:xfrm>
              <a:off x="4312"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402" name="Rectangle 370"/>
            <p:cNvSpPr>
              <a:spLocks noChangeArrowheads="1"/>
            </p:cNvSpPr>
            <p:nvPr/>
          </p:nvSpPr>
          <p:spPr bwMode="auto">
            <a:xfrm>
              <a:off x="4454"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03" name="Rectangle 371"/>
            <p:cNvSpPr>
              <a:spLocks noChangeArrowheads="1"/>
            </p:cNvSpPr>
            <p:nvPr/>
          </p:nvSpPr>
          <p:spPr bwMode="auto">
            <a:xfrm>
              <a:off x="4529"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404" name="Rectangle 372"/>
            <p:cNvSpPr>
              <a:spLocks noChangeArrowheads="1"/>
            </p:cNvSpPr>
            <p:nvPr/>
          </p:nvSpPr>
          <p:spPr bwMode="auto">
            <a:xfrm>
              <a:off x="4671"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05" name="Rectangle 373"/>
            <p:cNvSpPr>
              <a:spLocks noChangeArrowheads="1"/>
            </p:cNvSpPr>
            <p:nvPr/>
          </p:nvSpPr>
          <p:spPr bwMode="auto">
            <a:xfrm>
              <a:off x="4746"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406" name="Line 374"/>
            <p:cNvSpPr>
              <a:spLocks noChangeShapeType="1"/>
            </p:cNvSpPr>
            <p:nvPr/>
          </p:nvSpPr>
          <p:spPr bwMode="auto">
            <a:xfrm>
              <a:off x="3098" y="2123"/>
              <a:ext cx="217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ar-SA"/>
            </a:p>
          </p:txBody>
        </p:sp>
        <p:sp>
          <p:nvSpPr>
            <p:cNvPr id="50407" name="Rectangle 375"/>
            <p:cNvSpPr>
              <a:spLocks noChangeArrowheads="1"/>
            </p:cNvSpPr>
            <p:nvPr/>
          </p:nvSpPr>
          <p:spPr bwMode="auto">
            <a:xfrm>
              <a:off x="3014" y="1733"/>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a:solidFill>
                    <a:srgbClr val="000000"/>
                  </a:solidFill>
                  <a:latin typeface="Helvetica" panose="020B0604020202020204" pitchFamily="34" charset="0"/>
                </a:rPr>
                <a:t>+</a:t>
              </a:r>
              <a:endParaRPr lang="en-US" altLang="ar-AE"/>
            </a:p>
          </p:txBody>
        </p:sp>
        <p:sp>
          <p:nvSpPr>
            <p:cNvPr id="50408" name="Rectangle 376"/>
            <p:cNvSpPr>
              <a:spLocks noChangeArrowheads="1"/>
            </p:cNvSpPr>
            <p:nvPr/>
          </p:nvSpPr>
          <p:spPr bwMode="auto">
            <a:xfrm>
              <a:off x="3152"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09" name="Rectangle 377"/>
            <p:cNvSpPr>
              <a:spLocks noChangeArrowheads="1"/>
            </p:cNvSpPr>
            <p:nvPr/>
          </p:nvSpPr>
          <p:spPr bwMode="auto">
            <a:xfrm>
              <a:off x="3227"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410" name="Rectangle 378"/>
            <p:cNvSpPr>
              <a:spLocks noChangeArrowheads="1"/>
            </p:cNvSpPr>
            <p:nvPr/>
          </p:nvSpPr>
          <p:spPr bwMode="auto">
            <a:xfrm>
              <a:off x="3369"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11" name="Rectangle 379"/>
            <p:cNvSpPr>
              <a:spLocks noChangeArrowheads="1"/>
            </p:cNvSpPr>
            <p:nvPr/>
          </p:nvSpPr>
          <p:spPr bwMode="auto">
            <a:xfrm>
              <a:off x="3444"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412" name="Rectangle 380"/>
            <p:cNvSpPr>
              <a:spLocks noChangeArrowheads="1"/>
            </p:cNvSpPr>
            <p:nvPr/>
          </p:nvSpPr>
          <p:spPr bwMode="auto">
            <a:xfrm>
              <a:off x="3586"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13" name="Rectangle 381"/>
            <p:cNvSpPr>
              <a:spLocks noChangeArrowheads="1"/>
            </p:cNvSpPr>
            <p:nvPr/>
          </p:nvSpPr>
          <p:spPr bwMode="auto">
            <a:xfrm>
              <a:off x="3661"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414" name="Rectangle 382"/>
            <p:cNvSpPr>
              <a:spLocks noChangeArrowheads="1"/>
            </p:cNvSpPr>
            <p:nvPr/>
          </p:nvSpPr>
          <p:spPr bwMode="auto">
            <a:xfrm>
              <a:off x="3803"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15" name="Rectangle 383"/>
            <p:cNvSpPr>
              <a:spLocks noChangeArrowheads="1"/>
            </p:cNvSpPr>
            <p:nvPr/>
          </p:nvSpPr>
          <p:spPr bwMode="auto">
            <a:xfrm>
              <a:off x="3878"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416" name="Rectangle 384"/>
            <p:cNvSpPr>
              <a:spLocks noChangeArrowheads="1"/>
            </p:cNvSpPr>
            <p:nvPr/>
          </p:nvSpPr>
          <p:spPr bwMode="auto">
            <a:xfrm>
              <a:off x="4020"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17" name="Rectangle 385"/>
            <p:cNvSpPr>
              <a:spLocks noChangeArrowheads="1"/>
            </p:cNvSpPr>
            <p:nvPr/>
          </p:nvSpPr>
          <p:spPr bwMode="auto">
            <a:xfrm>
              <a:off x="4095"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418" name="Rectangle 386"/>
            <p:cNvSpPr>
              <a:spLocks noChangeArrowheads="1"/>
            </p:cNvSpPr>
            <p:nvPr/>
          </p:nvSpPr>
          <p:spPr bwMode="auto">
            <a:xfrm>
              <a:off x="4237"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19" name="Rectangle 387"/>
            <p:cNvSpPr>
              <a:spLocks noChangeArrowheads="1"/>
            </p:cNvSpPr>
            <p:nvPr/>
          </p:nvSpPr>
          <p:spPr bwMode="auto">
            <a:xfrm>
              <a:off x="4312"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420" name="Rectangle 388"/>
            <p:cNvSpPr>
              <a:spLocks noChangeArrowheads="1"/>
            </p:cNvSpPr>
            <p:nvPr/>
          </p:nvSpPr>
          <p:spPr bwMode="auto">
            <a:xfrm>
              <a:off x="4454"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21" name="Rectangle 389"/>
            <p:cNvSpPr>
              <a:spLocks noChangeArrowheads="1"/>
            </p:cNvSpPr>
            <p:nvPr/>
          </p:nvSpPr>
          <p:spPr bwMode="auto">
            <a:xfrm>
              <a:off x="4529"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422" name="Rectangle 390"/>
            <p:cNvSpPr>
              <a:spLocks noChangeArrowheads="1"/>
            </p:cNvSpPr>
            <p:nvPr/>
          </p:nvSpPr>
          <p:spPr bwMode="auto">
            <a:xfrm>
              <a:off x="4671"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423" name="Rectangle 391"/>
            <p:cNvSpPr>
              <a:spLocks noChangeArrowheads="1"/>
            </p:cNvSpPr>
            <p:nvPr/>
          </p:nvSpPr>
          <p:spPr bwMode="auto">
            <a:xfrm>
              <a:off x="4746"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424" name="Rectangle 392"/>
            <p:cNvSpPr>
              <a:spLocks noChangeArrowheads="1"/>
            </p:cNvSpPr>
            <p:nvPr/>
          </p:nvSpPr>
          <p:spPr bwMode="auto">
            <a:xfrm>
              <a:off x="409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425" name="Rectangle 393"/>
            <p:cNvSpPr>
              <a:spLocks noChangeArrowheads="1"/>
            </p:cNvSpPr>
            <p:nvPr/>
          </p:nvSpPr>
          <p:spPr bwMode="auto">
            <a:xfrm>
              <a:off x="4913" y="1616"/>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79</a:t>
              </a:r>
              <a:endParaRPr lang="en-US" altLang="ar-AE"/>
            </a:p>
          </p:txBody>
        </p:sp>
        <p:sp>
          <p:nvSpPr>
            <p:cNvPr id="50426" name="Rectangle 394"/>
            <p:cNvSpPr>
              <a:spLocks noChangeArrowheads="1"/>
            </p:cNvSpPr>
            <p:nvPr/>
          </p:nvSpPr>
          <p:spPr bwMode="auto">
            <a:xfrm>
              <a:off x="4913" y="1894"/>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64</a:t>
              </a:r>
              <a:endParaRPr lang="en-US" altLang="ar-AE"/>
            </a:p>
          </p:txBody>
        </p:sp>
        <p:sp>
          <p:nvSpPr>
            <p:cNvPr id="50427" name="Rectangle 395"/>
            <p:cNvSpPr>
              <a:spLocks noChangeArrowheads="1"/>
            </p:cNvSpPr>
            <p:nvPr/>
          </p:nvSpPr>
          <p:spPr bwMode="auto">
            <a:xfrm>
              <a:off x="4913" y="2198"/>
              <a:ext cx="50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143</a:t>
              </a:r>
            </a:p>
            <a:p>
              <a:pPr algn="ctr" eaLnBrk="1" hangingPunct="1"/>
              <a:r>
                <a:rPr lang="en-US" altLang="ar-AE" sz="1500">
                  <a:solidFill>
                    <a:srgbClr val="000000"/>
                  </a:solidFill>
                  <a:latin typeface="Helvetica" panose="020B0604020202020204" pitchFamily="34" charset="0"/>
                </a:rPr>
                <a:t>(-113)</a:t>
              </a:r>
              <a:endParaRPr lang="en-US" altLang="ar-AE"/>
            </a:p>
          </p:txBody>
        </p:sp>
        <p:sp>
          <p:nvSpPr>
            <p:cNvPr id="50428" name="Rectangle 396"/>
            <p:cNvSpPr>
              <a:spLocks noChangeArrowheads="1"/>
            </p:cNvSpPr>
            <p:nvPr/>
          </p:nvSpPr>
          <p:spPr bwMode="auto">
            <a:xfrm>
              <a:off x="3062" y="2464"/>
              <a:ext cx="185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600">
                  <a:solidFill>
                    <a:srgbClr val="000000"/>
                  </a:solidFill>
                  <a:latin typeface="Helvetica" panose="020B0604020202020204" pitchFamily="34" charset="0"/>
                </a:rPr>
                <a:t>Carry = 0    Overflow = 1</a:t>
              </a:r>
              <a:endParaRPr lang="en-US" altLang="ar-AE" sz="1600"/>
            </a:p>
          </p:txBody>
        </p:sp>
        <p:sp>
          <p:nvSpPr>
            <p:cNvPr id="50429" name="Rectangle 397"/>
            <p:cNvSpPr>
              <a:spLocks noChangeArrowheads="1"/>
            </p:cNvSpPr>
            <p:nvPr/>
          </p:nvSpPr>
          <p:spPr bwMode="auto">
            <a:xfrm>
              <a:off x="431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430" name="Rectangle 398"/>
            <p:cNvSpPr>
              <a:spLocks noChangeArrowheads="1"/>
            </p:cNvSpPr>
            <p:nvPr/>
          </p:nvSpPr>
          <p:spPr bwMode="auto">
            <a:xfrm>
              <a:off x="453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431" name="Rectangle 399"/>
            <p:cNvSpPr>
              <a:spLocks noChangeArrowheads="1"/>
            </p:cNvSpPr>
            <p:nvPr/>
          </p:nvSpPr>
          <p:spPr bwMode="auto">
            <a:xfrm>
              <a:off x="3880"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432" name="Rectangle 400"/>
            <p:cNvSpPr>
              <a:spLocks noChangeArrowheads="1"/>
            </p:cNvSpPr>
            <p:nvPr/>
          </p:nvSpPr>
          <p:spPr bwMode="auto">
            <a:xfrm>
              <a:off x="3662" y="1434"/>
              <a:ext cx="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sz="1200" b="1"/>
            </a:p>
          </p:txBody>
        </p:sp>
        <p:sp>
          <p:nvSpPr>
            <p:cNvPr id="50433" name="Rectangle 401"/>
            <p:cNvSpPr>
              <a:spLocks noChangeArrowheads="1"/>
            </p:cNvSpPr>
            <p:nvPr/>
          </p:nvSpPr>
          <p:spPr bwMode="auto">
            <a:xfrm>
              <a:off x="3444" y="1434"/>
              <a:ext cx="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sz="1200" b="1"/>
            </a:p>
          </p:txBody>
        </p:sp>
        <p:sp>
          <p:nvSpPr>
            <p:cNvPr id="50434" name="Rectangle 402"/>
            <p:cNvSpPr>
              <a:spLocks noChangeArrowheads="1"/>
            </p:cNvSpPr>
            <p:nvPr/>
          </p:nvSpPr>
          <p:spPr bwMode="auto">
            <a:xfrm>
              <a:off x="3226"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t>1</a:t>
              </a:r>
            </a:p>
          </p:txBody>
        </p:sp>
        <p:sp>
          <p:nvSpPr>
            <p:cNvPr id="50435" name="Rectangle 403"/>
            <p:cNvSpPr>
              <a:spLocks noChangeArrowheads="1"/>
            </p:cNvSpPr>
            <p:nvPr/>
          </p:nvSpPr>
          <p:spPr bwMode="auto">
            <a:xfrm>
              <a:off x="3026" y="1434"/>
              <a:ext cx="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sz="1200" b="1"/>
            </a:p>
          </p:txBody>
        </p:sp>
      </p:grpSp>
      <p:grpSp>
        <p:nvGrpSpPr>
          <p:cNvPr id="50179" name="Group 276"/>
          <p:cNvGrpSpPr>
            <a:grpSpLocks/>
          </p:cNvGrpSpPr>
          <p:nvPr/>
        </p:nvGrpSpPr>
        <p:grpSpPr bwMode="auto">
          <a:xfrm>
            <a:off x="4629150" y="4235450"/>
            <a:ext cx="4032250" cy="2016125"/>
            <a:chOff x="2953" y="1398"/>
            <a:chExt cx="2540" cy="1270"/>
          </a:xfrm>
        </p:grpSpPr>
        <p:sp>
          <p:nvSpPr>
            <p:cNvPr id="50310" name="AutoShape 277"/>
            <p:cNvSpPr>
              <a:spLocks noChangeAspect="1" noChangeArrowheads="1" noTextEdit="1"/>
            </p:cNvSpPr>
            <p:nvPr/>
          </p:nvSpPr>
          <p:spPr bwMode="auto">
            <a:xfrm>
              <a:off x="2953" y="1398"/>
              <a:ext cx="2540" cy="127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SA"/>
            </a:p>
          </p:txBody>
        </p:sp>
        <p:sp>
          <p:nvSpPr>
            <p:cNvPr id="50311" name="Rectangle 278"/>
            <p:cNvSpPr>
              <a:spLocks noChangeArrowheads="1"/>
            </p:cNvSpPr>
            <p:nvPr/>
          </p:nvSpPr>
          <p:spPr bwMode="auto">
            <a:xfrm>
              <a:off x="3152"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12" name="Rectangle 279"/>
            <p:cNvSpPr>
              <a:spLocks noChangeArrowheads="1"/>
            </p:cNvSpPr>
            <p:nvPr/>
          </p:nvSpPr>
          <p:spPr bwMode="auto">
            <a:xfrm>
              <a:off x="3227"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13" name="Rectangle 280"/>
            <p:cNvSpPr>
              <a:spLocks noChangeArrowheads="1"/>
            </p:cNvSpPr>
            <p:nvPr/>
          </p:nvSpPr>
          <p:spPr bwMode="auto">
            <a:xfrm>
              <a:off x="3369"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14" name="Rectangle 281"/>
            <p:cNvSpPr>
              <a:spLocks noChangeArrowheads="1"/>
            </p:cNvSpPr>
            <p:nvPr/>
          </p:nvSpPr>
          <p:spPr bwMode="auto">
            <a:xfrm>
              <a:off x="3444"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15" name="Rectangle 282"/>
            <p:cNvSpPr>
              <a:spLocks noChangeArrowheads="1"/>
            </p:cNvSpPr>
            <p:nvPr/>
          </p:nvSpPr>
          <p:spPr bwMode="auto">
            <a:xfrm>
              <a:off x="3586"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16" name="Rectangle 283"/>
            <p:cNvSpPr>
              <a:spLocks noChangeArrowheads="1"/>
            </p:cNvSpPr>
            <p:nvPr/>
          </p:nvSpPr>
          <p:spPr bwMode="auto">
            <a:xfrm>
              <a:off x="3661"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17" name="Rectangle 284"/>
            <p:cNvSpPr>
              <a:spLocks noChangeArrowheads="1"/>
            </p:cNvSpPr>
            <p:nvPr/>
          </p:nvSpPr>
          <p:spPr bwMode="auto">
            <a:xfrm>
              <a:off x="3803"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18" name="Rectangle 285"/>
            <p:cNvSpPr>
              <a:spLocks noChangeArrowheads="1"/>
            </p:cNvSpPr>
            <p:nvPr/>
          </p:nvSpPr>
          <p:spPr bwMode="auto">
            <a:xfrm>
              <a:off x="3878"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19" name="Rectangle 286"/>
            <p:cNvSpPr>
              <a:spLocks noChangeArrowheads="1"/>
            </p:cNvSpPr>
            <p:nvPr/>
          </p:nvSpPr>
          <p:spPr bwMode="auto">
            <a:xfrm>
              <a:off x="4020"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20" name="Rectangle 287"/>
            <p:cNvSpPr>
              <a:spLocks noChangeArrowheads="1"/>
            </p:cNvSpPr>
            <p:nvPr/>
          </p:nvSpPr>
          <p:spPr bwMode="auto">
            <a:xfrm>
              <a:off x="4095"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21" name="Rectangle 288"/>
            <p:cNvSpPr>
              <a:spLocks noChangeArrowheads="1"/>
            </p:cNvSpPr>
            <p:nvPr/>
          </p:nvSpPr>
          <p:spPr bwMode="auto">
            <a:xfrm>
              <a:off x="4237"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22" name="Rectangle 289"/>
            <p:cNvSpPr>
              <a:spLocks noChangeArrowheads="1"/>
            </p:cNvSpPr>
            <p:nvPr/>
          </p:nvSpPr>
          <p:spPr bwMode="auto">
            <a:xfrm>
              <a:off x="4312"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23" name="Rectangle 290"/>
            <p:cNvSpPr>
              <a:spLocks noChangeArrowheads="1"/>
            </p:cNvSpPr>
            <p:nvPr/>
          </p:nvSpPr>
          <p:spPr bwMode="auto">
            <a:xfrm>
              <a:off x="4454"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24" name="Rectangle 291"/>
            <p:cNvSpPr>
              <a:spLocks noChangeArrowheads="1"/>
            </p:cNvSpPr>
            <p:nvPr/>
          </p:nvSpPr>
          <p:spPr bwMode="auto">
            <a:xfrm>
              <a:off x="4529"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25" name="Rectangle 292"/>
            <p:cNvSpPr>
              <a:spLocks noChangeArrowheads="1"/>
            </p:cNvSpPr>
            <p:nvPr/>
          </p:nvSpPr>
          <p:spPr bwMode="auto">
            <a:xfrm>
              <a:off x="4671"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26" name="Rectangle 293"/>
            <p:cNvSpPr>
              <a:spLocks noChangeArrowheads="1"/>
            </p:cNvSpPr>
            <p:nvPr/>
          </p:nvSpPr>
          <p:spPr bwMode="auto">
            <a:xfrm>
              <a:off x="4746"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27" name="Rectangle 294"/>
            <p:cNvSpPr>
              <a:spLocks noChangeArrowheads="1"/>
            </p:cNvSpPr>
            <p:nvPr/>
          </p:nvSpPr>
          <p:spPr bwMode="auto">
            <a:xfrm>
              <a:off x="3152"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28" name="Rectangle 295"/>
            <p:cNvSpPr>
              <a:spLocks noChangeArrowheads="1"/>
            </p:cNvSpPr>
            <p:nvPr/>
          </p:nvSpPr>
          <p:spPr bwMode="auto">
            <a:xfrm>
              <a:off x="3227"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29" name="Rectangle 296"/>
            <p:cNvSpPr>
              <a:spLocks noChangeArrowheads="1"/>
            </p:cNvSpPr>
            <p:nvPr/>
          </p:nvSpPr>
          <p:spPr bwMode="auto">
            <a:xfrm>
              <a:off x="3369"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30" name="Rectangle 297"/>
            <p:cNvSpPr>
              <a:spLocks noChangeArrowheads="1"/>
            </p:cNvSpPr>
            <p:nvPr/>
          </p:nvSpPr>
          <p:spPr bwMode="auto">
            <a:xfrm>
              <a:off x="3444"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31" name="Rectangle 298"/>
            <p:cNvSpPr>
              <a:spLocks noChangeArrowheads="1"/>
            </p:cNvSpPr>
            <p:nvPr/>
          </p:nvSpPr>
          <p:spPr bwMode="auto">
            <a:xfrm>
              <a:off x="3586"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32" name="Rectangle 299"/>
            <p:cNvSpPr>
              <a:spLocks noChangeArrowheads="1"/>
            </p:cNvSpPr>
            <p:nvPr/>
          </p:nvSpPr>
          <p:spPr bwMode="auto">
            <a:xfrm>
              <a:off x="3661"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33" name="Rectangle 300"/>
            <p:cNvSpPr>
              <a:spLocks noChangeArrowheads="1"/>
            </p:cNvSpPr>
            <p:nvPr/>
          </p:nvSpPr>
          <p:spPr bwMode="auto">
            <a:xfrm>
              <a:off x="3803"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34" name="Rectangle 301"/>
            <p:cNvSpPr>
              <a:spLocks noChangeArrowheads="1"/>
            </p:cNvSpPr>
            <p:nvPr/>
          </p:nvSpPr>
          <p:spPr bwMode="auto">
            <a:xfrm>
              <a:off x="3878"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35" name="Rectangle 302"/>
            <p:cNvSpPr>
              <a:spLocks noChangeArrowheads="1"/>
            </p:cNvSpPr>
            <p:nvPr/>
          </p:nvSpPr>
          <p:spPr bwMode="auto">
            <a:xfrm>
              <a:off x="4020"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36" name="Rectangle 303"/>
            <p:cNvSpPr>
              <a:spLocks noChangeArrowheads="1"/>
            </p:cNvSpPr>
            <p:nvPr/>
          </p:nvSpPr>
          <p:spPr bwMode="auto">
            <a:xfrm>
              <a:off x="4095"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37" name="Rectangle 304"/>
            <p:cNvSpPr>
              <a:spLocks noChangeArrowheads="1"/>
            </p:cNvSpPr>
            <p:nvPr/>
          </p:nvSpPr>
          <p:spPr bwMode="auto">
            <a:xfrm>
              <a:off x="4237"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38" name="Rectangle 305"/>
            <p:cNvSpPr>
              <a:spLocks noChangeArrowheads="1"/>
            </p:cNvSpPr>
            <p:nvPr/>
          </p:nvSpPr>
          <p:spPr bwMode="auto">
            <a:xfrm>
              <a:off x="4312"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39" name="Rectangle 306"/>
            <p:cNvSpPr>
              <a:spLocks noChangeArrowheads="1"/>
            </p:cNvSpPr>
            <p:nvPr/>
          </p:nvSpPr>
          <p:spPr bwMode="auto">
            <a:xfrm>
              <a:off x="4454"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40" name="Rectangle 307"/>
            <p:cNvSpPr>
              <a:spLocks noChangeArrowheads="1"/>
            </p:cNvSpPr>
            <p:nvPr/>
          </p:nvSpPr>
          <p:spPr bwMode="auto">
            <a:xfrm>
              <a:off x="4529"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41" name="Rectangle 308"/>
            <p:cNvSpPr>
              <a:spLocks noChangeArrowheads="1"/>
            </p:cNvSpPr>
            <p:nvPr/>
          </p:nvSpPr>
          <p:spPr bwMode="auto">
            <a:xfrm>
              <a:off x="4671"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42" name="Rectangle 309"/>
            <p:cNvSpPr>
              <a:spLocks noChangeArrowheads="1"/>
            </p:cNvSpPr>
            <p:nvPr/>
          </p:nvSpPr>
          <p:spPr bwMode="auto">
            <a:xfrm>
              <a:off x="4746"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43" name="Line 310"/>
            <p:cNvSpPr>
              <a:spLocks noChangeShapeType="1"/>
            </p:cNvSpPr>
            <p:nvPr/>
          </p:nvSpPr>
          <p:spPr bwMode="auto">
            <a:xfrm>
              <a:off x="3098" y="2123"/>
              <a:ext cx="217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ar-SA"/>
            </a:p>
          </p:txBody>
        </p:sp>
        <p:sp>
          <p:nvSpPr>
            <p:cNvPr id="50344" name="Rectangle 311"/>
            <p:cNvSpPr>
              <a:spLocks noChangeArrowheads="1"/>
            </p:cNvSpPr>
            <p:nvPr/>
          </p:nvSpPr>
          <p:spPr bwMode="auto">
            <a:xfrm>
              <a:off x="3014" y="1733"/>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a:solidFill>
                    <a:srgbClr val="000000"/>
                  </a:solidFill>
                  <a:latin typeface="Helvetica" panose="020B0604020202020204" pitchFamily="34" charset="0"/>
                </a:rPr>
                <a:t>+</a:t>
              </a:r>
              <a:endParaRPr lang="en-US" altLang="ar-AE"/>
            </a:p>
          </p:txBody>
        </p:sp>
        <p:sp>
          <p:nvSpPr>
            <p:cNvPr id="50345" name="Rectangle 312"/>
            <p:cNvSpPr>
              <a:spLocks noChangeArrowheads="1"/>
            </p:cNvSpPr>
            <p:nvPr/>
          </p:nvSpPr>
          <p:spPr bwMode="auto">
            <a:xfrm>
              <a:off x="3152"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46" name="Rectangle 313"/>
            <p:cNvSpPr>
              <a:spLocks noChangeArrowheads="1"/>
            </p:cNvSpPr>
            <p:nvPr/>
          </p:nvSpPr>
          <p:spPr bwMode="auto">
            <a:xfrm>
              <a:off x="3227"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47" name="Rectangle 314"/>
            <p:cNvSpPr>
              <a:spLocks noChangeArrowheads="1"/>
            </p:cNvSpPr>
            <p:nvPr/>
          </p:nvSpPr>
          <p:spPr bwMode="auto">
            <a:xfrm>
              <a:off x="3369"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48" name="Rectangle 315"/>
            <p:cNvSpPr>
              <a:spLocks noChangeArrowheads="1"/>
            </p:cNvSpPr>
            <p:nvPr/>
          </p:nvSpPr>
          <p:spPr bwMode="auto">
            <a:xfrm>
              <a:off x="3444"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49" name="Rectangle 316"/>
            <p:cNvSpPr>
              <a:spLocks noChangeArrowheads="1"/>
            </p:cNvSpPr>
            <p:nvPr/>
          </p:nvSpPr>
          <p:spPr bwMode="auto">
            <a:xfrm>
              <a:off x="3586"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50" name="Rectangle 317"/>
            <p:cNvSpPr>
              <a:spLocks noChangeArrowheads="1"/>
            </p:cNvSpPr>
            <p:nvPr/>
          </p:nvSpPr>
          <p:spPr bwMode="auto">
            <a:xfrm>
              <a:off x="3661"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51" name="Rectangle 318"/>
            <p:cNvSpPr>
              <a:spLocks noChangeArrowheads="1"/>
            </p:cNvSpPr>
            <p:nvPr/>
          </p:nvSpPr>
          <p:spPr bwMode="auto">
            <a:xfrm>
              <a:off x="3803"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52" name="Rectangle 319"/>
            <p:cNvSpPr>
              <a:spLocks noChangeArrowheads="1"/>
            </p:cNvSpPr>
            <p:nvPr/>
          </p:nvSpPr>
          <p:spPr bwMode="auto">
            <a:xfrm>
              <a:off x="3878"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53" name="Rectangle 320"/>
            <p:cNvSpPr>
              <a:spLocks noChangeArrowheads="1"/>
            </p:cNvSpPr>
            <p:nvPr/>
          </p:nvSpPr>
          <p:spPr bwMode="auto">
            <a:xfrm>
              <a:off x="4020"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54" name="Rectangle 321"/>
            <p:cNvSpPr>
              <a:spLocks noChangeArrowheads="1"/>
            </p:cNvSpPr>
            <p:nvPr/>
          </p:nvSpPr>
          <p:spPr bwMode="auto">
            <a:xfrm>
              <a:off x="4095"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355" name="Rectangle 322"/>
            <p:cNvSpPr>
              <a:spLocks noChangeArrowheads="1"/>
            </p:cNvSpPr>
            <p:nvPr/>
          </p:nvSpPr>
          <p:spPr bwMode="auto">
            <a:xfrm>
              <a:off x="4237"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56" name="Rectangle 323"/>
            <p:cNvSpPr>
              <a:spLocks noChangeArrowheads="1"/>
            </p:cNvSpPr>
            <p:nvPr/>
          </p:nvSpPr>
          <p:spPr bwMode="auto">
            <a:xfrm>
              <a:off x="4312"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57" name="Rectangle 324"/>
            <p:cNvSpPr>
              <a:spLocks noChangeArrowheads="1"/>
            </p:cNvSpPr>
            <p:nvPr/>
          </p:nvSpPr>
          <p:spPr bwMode="auto">
            <a:xfrm>
              <a:off x="4454"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58" name="Rectangle 325"/>
            <p:cNvSpPr>
              <a:spLocks noChangeArrowheads="1"/>
            </p:cNvSpPr>
            <p:nvPr/>
          </p:nvSpPr>
          <p:spPr bwMode="auto">
            <a:xfrm>
              <a:off x="4529"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59" name="Rectangle 326"/>
            <p:cNvSpPr>
              <a:spLocks noChangeArrowheads="1"/>
            </p:cNvSpPr>
            <p:nvPr/>
          </p:nvSpPr>
          <p:spPr bwMode="auto">
            <a:xfrm>
              <a:off x="4671"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360" name="Rectangle 327"/>
            <p:cNvSpPr>
              <a:spLocks noChangeArrowheads="1"/>
            </p:cNvSpPr>
            <p:nvPr/>
          </p:nvSpPr>
          <p:spPr bwMode="auto">
            <a:xfrm>
              <a:off x="4746"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361" name="Rectangle 328"/>
            <p:cNvSpPr>
              <a:spLocks noChangeArrowheads="1"/>
            </p:cNvSpPr>
            <p:nvPr/>
          </p:nvSpPr>
          <p:spPr bwMode="auto">
            <a:xfrm>
              <a:off x="409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362" name="Rectangle 329"/>
            <p:cNvSpPr>
              <a:spLocks noChangeArrowheads="1"/>
            </p:cNvSpPr>
            <p:nvPr/>
          </p:nvSpPr>
          <p:spPr bwMode="auto">
            <a:xfrm>
              <a:off x="4913" y="1616"/>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218 (-38)</a:t>
              </a:r>
              <a:endParaRPr lang="en-US" altLang="ar-AE"/>
            </a:p>
          </p:txBody>
        </p:sp>
        <p:sp>
          <p:nvSpPr>
            <p:cNvPr id="50363" name="Rectangle 330"/>
            <p:cNvSpPr>
              <a:spLocks noChangeArrowheads="1"/>
            </p:cNvSpPr>
            <p:nvPr/>
          </p:nvSpPr>
          <p:spPr bwMode="auto">
            <a:xfrm>
              <a:off x="4913" y="1894"/>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157 (-99)</a:t>
              </a:r>
              <a:endParaRPr lang="en-US" altLang="ar-AE"/>
            </a:p>
          </p:txBody>
        </p:sp>
        <p:sp>
          <p:nvSpPr>
            <p:cNvPr id="50364" name="Rectangle 331"/>
            <p:cNvSpPr>
              <a:spLocks noChangeArrowheads="1"/>
            </p:cNvSpPr>
            <p:nvPr/>
          </p:nvSpPr>
          <p:spPr bwMode="auto">
            <a:xfrm>
              <a:off x="4913" y="2198"/>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119</a:t>
              </a:r>
              <a:endParaRPr lang="en-US" altLang="ar-AE"/>
            </a:p>
          </p:txBody>
        </p:sp>
        <p:sp>
          <p:nvSpPr>
            <p:cNvPr id="50365" name="Rectangle 332"/>
            <p:cNvSpPr>
              <a:spLocks noChangeArrowheads="1"/>
            </p:cNvSpPr>
            <p:nvPr/>
          </p:nvSpPr>
          <p:spPr bwMode="auto">
            <a:xfrm>
              <a:off x="3062" y="2464"/>
              <a:ext cx="185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600">
                  <a:solidFill>
                    <a:srgbClr val="000000"/>
                  </a:solidFill>
                  <a:latin typeface="Helvetica" panose="020B0604020202020204" pitchFamily="34" charset="0"/>
                </a:rPr>
                <a:t>Carry = 1    Overflow = 1</a:t>
              </a:r>
              <a:endParaRPr lang="en-US" altLang="ar-AE" sz="1600"/>
            </a:p>
          </p:txBody>
        </p:sp>
        <p:sp>
          <p:nvSpPr>
            <p:cNvPr id="50366" name="Rectangle 333"/>
            <p:cNvSpPr>
              <a:spLocks noChangeArrowheads="1"/>
            </p:cNvSpPr>
            <p:nvPr/>
          </p:nvSpPr>
          <p:spPr bwMode="auto">
            <a:xfrm>
              <a:off x="431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367" name="Rectangle 334"/>
            <p:cNvSpPr>
              <a:spLocks noChangeArrowheads="1"/>
            </p:cNvSpPr>
            <p:nvPr/>
          </p:nvSpPr>
          <p:spPr bwMode="auto">
            <a:xfrm>
              <a:off x="453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368" name="Rectangle 335"/>
            <p:cNvSpPr>
              <a:spLocks noChangeArrowheads="1"/>
            </p:cNvSpPr>
            <p:nvPr/>
          </p:nvSpPr>
          <p:spPr bwMode="auto">
            <a:xfrm>
              <a:off x="3880"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1</a:t>
              </a:r>
              <a:endParaRPr lang="en-US" altLang="ar-AE" b="1"/>
            </a:p>
          </p:txBody>
        </p:sp>
        <p:sp>
          <p:nvSpPr>
            <p:cNvPr id="50369" name="Rectangle 336"/>
            <p:cNvSpPr>
              <a:spLocks noChangeArrowheads="1"/>
            </p:cNvSpPr>
            <p:nvPr/>
          </p:nvSpPr>
          <p:spPr bwMode="auto">
            <a:xfrm>
              <a:off x="3662"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t>1</a:t>
              </a:r>
            </a:p>
          </p:txBody>
        </p:sp>
        <p:sp>
          <p:nvSpPr>
            <p:cNvPr id="50370" name="Rectangle 337"/>
            <p:cNvSpPr>
              <a:spLocks noChangeArrowheads="1"/>
            </p:cNvSpPr>
            <p:nvPr/>
          </p:nvSpPr>
          <p:spPr bwMode="auto">
            <a:xfrm>
              <a:off x="3444" y="1434"/>
              <a:ext cx="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sz="1200" b="1"/>
            </a:p>
          </p:txBody>
        </p:sp>
        <p:sp>
          <p:nvSpPr>
            <p:cNvPr id="50371" name="Rectangle 338"/>
            <p:cNvSpPr>
              <a:spLocks noChangeArrowheads="1"/>
            </p:cNvSpPr>
            <p:nvPr/>
          </p:nvSpPr>
          <p:spPr bwMode="auto">
            <a:xfrm>
              <a:off x="3226" y="1434"/>
              <a:ext cx="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sz="1200" b="1"/>
            </a:p>
          </p:txBody>
        </p:sp>
        <p:sp>
          <p:nvSpPr>
            <p:cNvPr id="50372" name="Rectangle 339"/>
            <p:cNvSpPr>
              <a:spLocks noChangeArrowheads="1"/>
            </p:cNvSpPr>
            <p:nvPr/>
          </p:nvSpPr>
          <p:spPr bwMode="auto">
            <a:xfrm>
              <a:off x="3026"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t>1</a:t>
              </a:r>
            </a:p>
          </p:txBody>
        </p:sp>
      </p:grpSp>
      <p:sp>
        <p:nvSpPr>
          <p:cNvPr id="50180" name="Rectangle 2"/>
          <p:cNvSpPr>
            <a:spLocks noGrp="1" noChangeArrowheads="1"/>
          </p:cNvSpPr>
          <p:nvPr>
            <p:ph type="title"/>
          </p:nvPr>
        </p:nvSpPr>
        <p:spPr>
          <a:xfrm>
            <a:off x="457200" y="274638"/>
            <a:ext cx="8229600" cy="792162"/>
          </a:xfrm>
        </p:spPr>
        <p:txBody>
          <a:bodyPr/>
          <a:lstStyle/>
          <a:p>
            <a:pPr eaLnBrk="1" hangingPunct="1"/>
            <a:r>
              <a:rPr lang="en-US" altLang="ar-AE"/>
              <a:t>Carry and Overflow Examples</a:t>
            </a:r>
          </a:p>
        </p:txBody>
      </p:sp>
      <p:sp>
        <p:nvSpPr>
          <p:cNvPr id="50181" name="Rectangle 3"/>
          <p:cNvSpPr>
            <a:spLocks noGrp="1" noChangeArrowheads="1"/>
          </p:cNvSpPr>
          <p:nvPr>
            <p:ph type="body" idx="1"/>
          </p:nvPr>
        </p:nvSpPr>
        <p:spPr>
          <a:xfrm>
            <a:off x="457200" y="1143000"/>
            <a:ext cx="8229600" cy="903288"/>
          </a:xfrm>
          <a:noFill/>
        </p:spPr>
        <p:txBody>
          <a:bodyPr lIns="0" rIns="0"/>
          <a:lstStyle/>
          <a:p>
            <a:pPr eaLnBrk="1" hangingPunct="1">
              <a:lnSpc>
                <a:spcPct val="90000"/>
              </a:lnSpc>
            </a:pPr>
            <a:r>
              <a:rPr lang="en-US" altLang="ar-AE" dirty="0"/>
              <a:t>We can have carry without overflow and vice-versa</a:t>
            </a:r>
          </a:p>
          <a:p>
            <a:pPr eaLnBrk="1" hangingPunct="1">
              <a:lnSpc>
                <a:spcPct val="90000"/>
              </a:lnSpc>
            </a:pPr>
            <a:r>
              <a:rPr lang="en-US" altLang="ar-AE" dirty="0"/>
              <a:t>Four cases are possible</a:t>
            </a:r>
          </a:p>
        </p:txBody>
      </p:sp>
      <p:grpSp>
        <p:nvGrpSpPr>
          <p:cNvPr id="50182" name="Group 211"/>
          <p:cNvGrpSpPr>
            <a:grpSpLocks/>
          </p:cNvGrpSpPr>
          <p:nvPr/>
        </p:nvGrpSpPr>
        <p:grpSpPr bwMode="auto">
          <a:xfrm>
            <a:off x="4629150" y="2103438"/>
            <a:ext cx="4032250" cy="2016125"/>
            <a:chOff x="2953" y="1398"/>
            <a:chExt cx="2540" cy="1270"/>
          </a:xfrm>
        </p:grpSpPr>
        <p:sp>
          <p:nvSpPr>
            <p:cNvPr id="50247" name="AutoShape 147"/>
            <p:cNvSpPr>
              <a:spLocks noChangeAspect="1" noChangeArrowheads="1" noTextEdit="1"/>
            </p:cNvSpPr>
            <p:nvPr/>
          </p:nvSpPr>
          <p:spPr bwMode="auto">
            <a:xfrm>
              <a:off x="2953" y="1398"/>
              <a:ext cx="2540" cy="127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SA"/>
            </a:p>
          </p:txBody>
        </p:sp>
        <p:sp>
          <p:nvSpPr>
            <p:cNvPr id="50248" name="Rectangle 148"/>
            <p:cNvSpPr>
              <a:spLocks noChangeArrowheads="1"/>
            </p:cNvSpPr>
            <p:nvPr/>
          </p:nvSpPr>
          <p:spPr bwMode="auto">
            <a:xfrm>
              <a:off x="3152"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49" name="Rectangle 149"/>
            <p:cNvSpPr>
              <a:spLocks noChangeArrowheads="1"/>
            </p:cNvSpPr>
            <p:nvPr/>
          </p:nvSpPr>
          <p:spPr bwMode="auto">
            <a:xfrm>
              <a:off x="3227"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50" name="Rectangle 150"/>
            <p:cNvSpPr>
              <a:spLocks noChangeArrowheads="1"/>
            </p:cNvSpPr>
            <p:nvPr/>
          </p:nvSpPr>
          <p:spPr bwMode="auto">
            <a:xfrm>
              <a:off x="3369"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51" name="Rectangle 151"/>
            <p:cNvSpPr>
              <a:spLocks noChangeArrowheads="1"/>
            </p:cNvSpPr>
            <p:nvPr/>
          </p:nvSpPr>
          <p:spPr bwMode="auto">
            <a:xfrm>
              <a:off x="3444"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52" name="Rectangle 152"/>
            <p:cNvSpPr>
              <a:spLocks noChangeArrowheads="1"/>
            </p:cNvSpPr>
            <p:nvPr/>
          </p:nvSpPr>
          <p:spPr bwMode="auto">
            <a:xfrm>
              <a:off x="3586"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53" name="Rectangle 153"/>
            <p:cNvSpPr>
              <a:spLocks noChangeArrowheads="1"/>
            </p:cNvSpPr>
            <p:nvPr/>
          </p:nvSpPr>
          <p:spPr bwMode="auto">
            <a:xfrm>
              <a:off x="3661"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54" name="Rectangle 154"/>
            <p:cNvSpPr>
              <a:spLocks noChangeArrowheads="1"/>
            </p:cNvSpPr>
            <p:nvPr/>
          </p:nvSpPr>
          <p:spPr bwMode="auto">
            <a:xfrm>
              <a:off x="3803"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55" name="Rectangle 155"/>
            <p:cNvSpPr>
              <a:spLocks noChangeArrowheads="1"/>
            </p:cNvSpPr>
            <p:nvPr/>
          </p:nvSpPr>
          <p:spPr bwMode="auto">
            <a:xfrm>
              <a:off x="3878"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56" name="Rectangle 156"/>
            <p:cNvSpPr>
              <a:spLocks noChangeArrowheads="1"/>
            </p:cNvSpPr>
            <p:nvPr/>
          </p:nvSpPr>
          <p:spPr bwMode="auto">
            <a:xfrm>
              <a:off x="4020"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57" name="Rectangle 157"/>
            <p:cNvSpPr>
              <a:spLocks noChangeArrowheads="1"/>
            </p:cNvSpPr>
            <p:nvPr/>
          </p:nvSpPr>
          <p:spPr bwMode="auto">
            <a:xfrm>
              <a:off x="4095"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58" name="Rectangle 158"/>
            <p:cNvSpPr>
              <a:spLocks noChangeArrowheads="1"/>
            </p:cNvSpPr>
            <p:nvPr/>
          </p:nvSpPr>
          <p:spPr bwMode="auto">
            <a:xfrm>
              <a:off x="4237"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59" name="Rectangle 159"/>
            <p:cNvSpPr>
              <a:spLocks noChangeArrowheads="1"/>
            </p:cNvSpPr>
            <p:nvPr/>
          </p:nvSpPr>
          <p:spPr bwMode="auto">
            <a:xfrm>
              <a:off x="4312"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60" name="Rectangle 160"/>
            <p:cNvSpPr>
              <a:spLocks noChangeArrowheads="1"/>
            </p:cNvSpPr>
            <p:nvPr/>
          </p:nvSpPr>
          <p:spPr bwMode="auto">
            <a:xfrm>
              <a:off x="4454"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61" name="Rectangle 161"/>
            <p:cNvSpPr>
              <a:spLocks noChangeArrowheads="1"/>
            </p:cNvSpPr>
            <p:nvPr/>
          </p:nvSpPr>
          <p:spPr bwMode="auto">
            <a:xfrm>
              <a:off x="4529"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62" name="Rectangle 162"/>
            <p:cNvSpPr>
              <a:spLocks noChangeArrowheads="1"/>
            </p:cNvSpPr>
            <p:nvPr/>
          </p:nvSpPr>
          <p:spPr bwMode="auto">
            <a:xfrm>
              <a:off x="4671"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63" name="Rectangle 163"/>
            <p:cNvSpPr>
              <a:spLocks noChangeArrowheads="1"/>
            </p:cNvSpPr>
            <p:nvPr/>
          </p:nvSpPr>
          <p:spPr bwMode="auto">
            <a:xfrm>
              <a:off x="4746"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64" name="Rectangle 164"/>
            <p:cNvSpPr>
              <a:spLocks noChangeArrowheads="1"/>
            </p:cNvSpPr>
            <p:nvPr/>
          </p:nvSpPr>
          <p:spPr bwMode="auto">
            <a:xfrm>
              <a:off x="3152"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65" name="Rectangle 165"/>
            <p:cNvSpPr>
              <a:spLocks noChangeArrowheads="1"/>
            </p:cNvSpPr>
            <p:nvPr/>
          </p:nvSpPr>
          <p:spPr bwMode="auto">
            <a:xfrm>
              <a:off x="3227"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66" name="Rectangle 166"/>
            <p:cNvSpPr>
              <a:spLocks noChangeArrowheads="1"/>
            </p:cNvSpPr>
            <p:nvPr/>
          </p:nvSpPr>
          <p:spPr bwMode="auto">
            <a:xfrm>
              <a:off x="3369"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67" name="Rectangle 167"/>
            <p:cNvSpPr>
              <a:spLocks noChangeArrowheads="1"/>
            </p:cNvSpPr>
            <p:nvPr/>
          </p:nvSpPr>
          <p:spPr bwMode="auto">
            <a:xfrm>
              <a:off x="3444"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68" name="Rectangle 168"/>
            <p:cNvSpPr>
              <a:spLocks noChangeArrowheads="1"/>
            </p:cNvSpPr>
            <p:nvPr/>
          </p:nvSpPr>
          <p:spPr bwMode="auto">
            <a:xfrm>
              <a:off x="3586"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69" name="Rectangle 169"/>
            <p:cNvSpPr>
              <a:spLocks noChangeArrowheads="1"/>
            </p:cNvSpPr>
            <p:nvPr/>
          </p:nvSpPr>
          <p:spPr bwMode="auto">
            <a:xfrm>
              <a:off x="3661"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70" name="Rectangle 170"/>
            <p:cNvSpPr>
              <a:spLocks noChangeArrowheads="1"/>
            </p:cNvSpPr>
            <p:nvPr/>
          </p:nvSpPr>
          <p:spPr bwMode="auto">
            <a:xfrm>
              <a:off x="3803"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71" name="Rectangle 171"/>
            <p:cNvSpPr>
              <a:spLocks noChangeArrowheads="1"/>
            </p:cNvSpPr>
            <p:nvPr/>
          </p:nvSpPr>
          <p:spPr bwMode="auto">
            <a:xfrm>
              <a:off x="3878"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72" name="Rectangle 172"/>
            <p:cNvSpPr>
              <a:spLocks noChangeArrowheads="1"/>
            </p:cNvSpPr>
            <p:nvPr/>
          </p:nvSpPr>
          <p:spPr bwMode="auto">
            <a:xfrm>
              <a:off x="4020"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73" name="Rectangle 173"/>
            <p:cNvSpPr>
              <a:spLocks noChangeArrowheads="1"/>
            </p:cNvSpPr>
            <p:nvPr/>
          </p:nvSpPr>
          <p:spPr bwMode="auto">
            <a:xfrm>
              <a:off x="4095"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74" name="Rectangle 174"/>
            <p:cNvSpPr>
              <a:spLocks noChangeArrowheads="1"/>
            </p:cNvSpPr>
            <p:nvPr/>
          </p:nvSpPr>
          <p:spPr bwMode="auto">
            <a:xfrm>
              <a:off x="4237"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75" name="Rectangle 175"/>
            <p:cNvSpPr>
              <a:spLocks noChangeArrowheads="1"/>
            </p:cNvSpPr>
            <p:nvPr/>
          </p:nvSpPr>
          <p:spPr bwMode="auto">
            <a:xfrm>
              <a:off x="4312"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76" name="Rectangle 176"/>
            <p:cNvSpPr>
              <a:spLocks noChangeArrowheads="1"/>
            </p:cNvSpPr>
            <p:nvPr/>
          </p:nvSpPr>
          <p:spPr bwMode="auto">
            <a:xfrm>
              <a:off x="4454"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77" name="Rectangle 177"/>
            <p:cNvSpPr>
              <a:spLocks noChangeArrowheads="1"/>
            </p:cNvSpPr>
            <p:nvPr/>
          </p:nvSpPr>
          <p:spPr bwMode="auto">
            <a:xfrm>
              <a:off x="4529"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78" name="Rectangle 178"/>
            <p:cNvSpPr>
              <a:spLocks noChangeArrowheads="1"/>
            </p:cNvSpPr>
            <p:nvPr/>
          </p:nvSpPr>
          <p:spPr bwMode="auto">
            <a:xfrm>
              <a:off x="4671"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79" name="Rectangle 179"/>
            <p:cNvSpPr>
              <a:spLocks noChangeArrowheads="1"/>
            </p:cNvSpPr>
            <p:nvPr/>
          </p:nvSpPr>
          <p:spPr bwMode="auto">
            <a:xfrm>
              <a:off x="4746"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80" name="Line 180"/>
            <p:cNvSpPr>
              <a:spLocks noChangeShapeType="1"/>
            </p:cNvSpPr>
            <p:nvPr/>
          </p:nvSpPr>
          <p:spPr bwMode="auto">
            <a:xfrm>
              <a:off x="3098" y="2123"/>
              <a:ext cx="217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ar-SA"/>
            </a:p>
          </p:txBody>
        </p:sp>
        <p:sp>
          <p:nvSpPr>
            <p:cNvPr id="50281" name="Rectangle 181"/>
            <p:cNvSpPr>
              <a:spLocks noChangeArrowheads="1"/>
            </p:cNvSpPr>
            <p:nvPr/>
          </p:nvSpPr>
          <p:spPr bwMode="auto">
            <a:xfrm>
              <a:off x="3014" y="1733"/>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a:solidFill>
                    <a:srgbClr val="000000"/>
                  </a:solidFill>
                  <a:latin typeface="Helvetica" panose="020B0604020202020204" pitchFamily="34" charset="0"/>
                </a:rPr>
                <a:t>+</a:t>
              </a:r>
              <a:endParaRPr lang="en-US" altLang="ar-AE"/>
            </a:p>
          </p:txBody>
        </p:sp>
        <p:sp>
          <p:nvSpPr>
            <p:cNvPr id="50282" name="Rectangle 182"/>
            <p:cNvSpPr>
              <a:spLocks noChangeArrowheads="1"/>
            </p:cNvSpPr>
            <p:nvPr/>
          </p:nvSpPr>
          <p:spPr bwMode="auto">
            <a:xfrm>
              <a:off x="3152"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83" name="Rectangle 183"/>
            <p:cNvSpPr>
              <a:spLocks noChangeArrowheads="1"/>
            </p:cNvSpPr>
            <p:nvPr/>
          </p:nvSpPr>
          <p:spPr bwMode="auto">
            <a:xfrm>
              <a:off x="3227"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84" name="Rectangle 184"/>
            <p:cNvSpPr>
              <a:spLocks noChangeArrowheads="1"/>
            </p:cNvSpPr>
            <p:nvPr/>
          </p:nvSpPr>
          <p:spPr bwMode="auto">
            <a:xfrm>
              <a:off x="3369"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85" name="Rectangle 185"/>
            <p:cNvSpPr>
              <a:spLocks noChangeArrowheads="1"/>
            </p:cNvSpPr>
            <p:nvPr/>
          </p:nvSpPr>
          <p:spPr bwMode="auto">
            <a:xfrm>
              <a:off x="3444"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86" name="Rectangle 186"/>
            <p:cNvSpPr>
              <a:spLocks noChangeArrowheads="1"/>
            </p:cNvSpPr>
            <p:nvPr/>
          </p:nvSpPr>
          <p:spPr bwMode="auto">
            <a:xfrm>
              <a:off x="3586"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87" name="Rectangle 187"/>
            <p:cNvSpPr>
              <a:spLocks noChangeArrowheads="1"/>
            </p:cNvSpPr>
            <p:nvPr/>
          </p:nvSpPr>
          <p:spPr bwMode="auto">
            <a:xfrm>
              <a:off x="3661"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88" name="Rectangle 188"/>
            <p:cNvSpPr>
              <a:spLocks noChangeArrowheads="1"/>
            </p:cNvSpPr>
            <p:nvPr/>
          </p:nvSpPr>
          <p:spPr bwMode="auto">
            <a:xfrm>
              <a:off x="3803"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89" name="Rectangle 189"/>
            <p:cNvSpPr>
              <a:spLocks noChangeArrowheads="1"/>
            </p:cNvSpPr>
            <p:nvPr/>
          </p:nvSpPr>
          <p:spPr bwMode="auto">
            <a:xfrm>
              <a:off x="3878"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90" name="Rectangle 190"/>
            <p:cNvSpPr>
              <a:spLocks noChangeArrowheads="1"/>
            </p:cNvSpPr>
            <p:nvPr/>
          </p:nvSpPr>
          <p:spPr bwMode="auto">
            <a:xfrm>
              <a:off x="4020"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91" name="Rectangle 191"/>
            <p:cNvSpPr>
              <a:spLocks noChangeArrowheads="1"/>
            </p:cNvSpPr>
            <p:nvPr/>
          </p:nvSpPr>
          <p:spPr bwMode="auto">
            <a:xfrm>
              <a:off x="4095"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92" name="Rectangle 192"/>
            <p:cNvSpPr>
              <a:spLocks noChangeArrowheads="1"/>
            </p:cNvSpPr>
            <p:nvPr/>
          </p:nvSpPr>
          <p:spPr bwMode="auto">
            <a:xfrm>
              <a:off x="4237"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93" name="Rectangle 193"/>
            <p:cNvSpPr>
              <a:spLocks noChangeArrowheads="1"/>
            </p:cNvSpPr>
            <p:nvPr/>
          </p:nvSpPr>
          <p:spPr bwMode="auto">
            <a:xfrm>
              <a:off x="4312"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94" name="Rectangle 194"/>
            <p:cNvSpPr>
              <a:spLocks noChangeArrowheads="1"/>
            </p:cNvSpPr>
            <p:nvPr/>
          </p:nvSpPr>
          <p:spPr bwMode="auto">
            <a:xfrm>
              <a:off x="4454"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95" name="Rectangle 195"/>
            <p:cNvSpPr>
              <a:spLocks noChangeArrowheads="1"/>
            </p:cNvSpPr>
            <p:nvPr/>
          </p:nvSpPr>
          <p:spPr bwMode="auto">
            <a:xfrm>
              <a:off x="4529"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96" name="Rectangle 196"/>
            <p:cNvSpPr>
              <a:spLocks noChangeArrowheads="1"/>
            </p:cNvSpPr>
            <p:nvPr/>
          </p:nvSpPr>
          <p:spPr bwMode="auto">
            <a:xfrm>
              <a:off x="4671"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97" name="Rectangle 197"/>
            <p:cNvSpPr>
              <a:spLocks noChangeArrowheads="1"/>
            </p:cNvSpPr>
            <p:nvPr/>
          </p:nvSpPr>
          <p:spPr bwMode="auto">
            <a:xfrm>
              <a:off x="4746"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98" name="Rectangle 198"/>
            <p:cNvSpPr>
              <a:spLocks noChangeArrowheads="1"/>
            </p:cNvSpPr>
            <p:nvPr/>
          </p:nvSpPr>
          <p:spPr bwMode="auto">
            <a:xfrm>
              <a:off x="409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299" name="Rectangle 199"/>
            <p:cNvSpPr>
              <a:spLocks noChangeArrowheads="1"/>
            </p:cNvSpPr>
            <p:nvPr/>
          </p:nvSpPr>
          <p:spPr bwMode="auto">
            <a:xfrm>
              <a:off x="4913" y="1616"/>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15</a:t>
              </a:r>
              <a:endParaRPr lang="en-US" altLang="ar-AE"/>
            </a:p>
          </p:txBody>
        </p:sp>
        <p:sp>
          <p:nvSpPr>
            <p:cNvPr id="50300" name="Rectangle 200"/>
            <p:cNvSpPr>
              <a:spLocks noChangeArrowheads="1"/>
            </p:cNvSpPr>
            <p:nvPr/>
          </p:nvSpPr>
          <p:spPr bwMode="auto">
            <a:xfrm>
              <a:off x="4913" y="1894"/>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245 (-8)</a:t>
              </a:r>
              <a:endParaRPr lang="en-US" altLang="ar-AE"/>
            </a:p>
          </p:txBody>
        </p:sp>
        <p:sp>
          <p:nvSpPr>
            <p:cNvPr id="50301" name="Rectangle 201"/>
            <p:cNvSpPr>
              <a:spLocks noChangeArrowheads="1"/>
            </p:cNvSpPr>
            <p:nvPr/>
          </p:nvSpPr>
          <p:spPr bwMode="auto">
            <a:xfrm>
              <a:off x="4913" y="2198"/>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7</a:t>
              </a:r>
              <a:endParaRPr lang="en-US" altLang="ar-AE"/>
            </a:p>
          </p:txBody>
        </p:sp>
        <p:sp>
          <p:nvSpPr>
            <p:cNvPr id="50302" name="Rectangle 202"/>
            <p:cNvSpPr>
              <a:spLocks noChangeArrowheads="1"/>
            </p:cNvSpPr>
            <p:nvPr/>
          </p:nvSpPr>
          <p:spPr bwMode="auto">
            <a:xfrm>
              <a:off x="3062" y="2464"/>
              <a:ext cx="185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600">
                  <a:solidFill>
                    <a:srgbClr val="000000"/>
                  </a:solidFill>
                  <a:latin typeface="Helvetica" panose="020B0604020202020204" pitchFamily="34" charset="0"/>
                </a:rPr>
                <a:t>Carry = 1    Overflow = 0</a:t>
              </a:r>
              <a:endParaRPr lang="en-US" altLang="ar-AE" sz="1600"/>
            </a:p>
          </p:txBody>
        </p:sp>
        <p:sp>
          <p:nvSpPr>
            <p:cNvPr id="50303" name="Rectangle 203"/>
            <p:cNvSpPr>
              <a:spLocks noChangeArrowheads="1"/>
            </p:cNvSpPr>
            <p:nvPr/>
          </p:nvSpPr>
          <p:spPr bwMode="auto">
            <a:xfrm>
              <a:off x="431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304" name="Rectangle 204"/>
            <p:cNvSpPr>
              <a:spLocks noChangeArrowheads="1"/>
            </p:cNvSpPr>
            <p:nvPr/>
          </p:nvSpPr>
          <p:spPr bwMode="auto">
            <a:xfrm>
              <a:off x="453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305" name="Rectangle 205"/>
            <p:cNvSpPr>
              <a:spLocks noChangeArrowheads="1"/>
            </p:cNvSpPr>
            <p:nvPr/>
          </p:nvSpPr>
          <p:spPr bwMode="auto">
            <a:xfrm>
              <a:off x="3880"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1</a:t>
              </a:r>
              <a:endParaRPr lang="en-US" altLang="ar-AE" b="1"/>
            </a:p>
          </p:txBody>
        </p:sp>
        <p:sp>
          <p:nvSpPr>
            <p:cNvPr id="50306" name="Rectangle 206"/>
            <p:cNvSpPr>
              <a:spLocks noChangeArrowheads="1"/>
            </p:cNvSpPr>
            <p:nvPr/>
          </p:nvSpPr>
          <p:spPr bwMode="auto">
            <a:xfrm>
              <a:off x="3662"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t>1</a:t>
              </a:r>
            </a:p>
          </p:txBody>
        </p:sp>
        <p:sp>
          <p:nvSpPr>
            <p:cNvPr id="50307" name="Rectangle 207"/>
            <p:cNvSpPr>
              <a:spLocks noChangeArrowheads="1"/>
            </p:cNvSpPr>
            <p:nvPr/>
          </p:nvSpPr>
          <p:spPr bwMode="auto">
            <a:xfrm>
              <a:off x="3444"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t>1</a:t>
              </a:r>
            </a:p>
          </p:txBody>
        </p:sp>
        <p:sp>
          <p:nvSpPr>
            <p:cNvPr id="50308" name="Rectangle 208"/>
            <p:cNvSpPr>
              <a:spLocks noChangeArrowheads="1"/>
            </p:cNvSpPr>
            <p:nvPr/>
          </p:nvSpPr>
          <p:spPr bwMode="auto">
            <a:xfrm>
              <a:off x="3226"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t>1</a:t>
              </a:r>
            </a:p>
          </p:txBody>
        </p:sp>
        <p:sp>
          <p:nvSpPr>
            <p:cNvPr id="50309" name="Rectangle 209"/>
            <p:cNvSpPr>
              <a:spLocks noChangeArrowheads="1"/>
            </p:cNvSpPr>
            <p:nvPr/>
          </p:nvSpPr>
          <p:spPr bwMode="auto">
            <a:xfrm>
              <a:off x="3026"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t>1</a:t>
              </a:r>
            </a:p>
          </p:txBody>
        </p:sp>
      </p:grpSp>
      <p:grpSp>
        <p:nvGrpSpPr>
          <p:cNvPr id="50183" name="Group 404"/>
          <p:cNvGrpSpPr>
            <a:grpSpLocks/>
          </p:cNvGrpSpPr>
          <p:nvPr/>
        </p:nvGrpSpPr>
        <p:grpSpPr bwMode="auto">
          <a:xfrm>
            <a:off x="482600" y="2103438"/>
            <a:ext cx="4032250" cy="2016125"/>
            <a:chOff x="2953" y="1398"/>
            <a:chExt cx="2540" cy="1270"/>
          </a:xfrm>
        </p:grpSpPr>
        <p:sp>
          <p:nvSpPr>
            <p:cNvPr id="50184" name="AutoShape 405"/>
            <p:cNvSpPr>
              <a:spLocks noChangeAspect="1" noChangeArrowheads="1" noTextEdit="1"/>
            </p:cNvSpPr>
            <p:nvPr/>
          </p:nvSpPr>
          <p:spPr bwMode="auto">
            <a:xfrm>
              <a:off x="2953" y="1398"/>
              <a:ext cx="2540" cy="127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SA"/>
            </a:p>
          </p:txBody>
        </p:sp>
        <p:sp>
          <p:nvSpPr>
            <p:cNvPr id="50185" name="Rectangle 406"/>
            <p:cNvSpPr>
              <a:spLocks noChangeArrowheads="1"/>
            </p:cNvSpPr>
            <p:nvPr/>
          </p:nvSpPr>
          <p:spPr bwMode="auto">
            <a:xfrm>
              <a:off x="3152"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186" name="Rectangle 407"/>
            <p:cNvSpPr>
              <a:spLocks noChangeArrowheads="1"/>
            </p:cNvSpPr>
            <p:nvPr/>
          </p:nvSpPr>
          <p:spPr bwMode="auto">
            <a:xfrm>
              <a:off x="3227"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187" name="Rectangle 408"/>
            <p:cNvSpPr>
              <a:spLocks noChangeArrowheads="1"/>
            </p:cNvSpPr>
            <p:nvPr/>
          </p:nvSpPr>
          <p:spPr bwMode="auto">
            <a:xfrm>
              <a:off x="3369"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188" name="Rectangle 409"/>
            <p:cNvSpPr>
              <a:spLocks noChangeArrowheads="1"/>
            </p:cNvSpPr>
            <p:nvPr/>
          </p:nvSpPr>
          <p:spPr bwMode="auto">
            <a:xfrm>
              <a:off x="3444"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189" name="Rectangle 410"/>
            <p:cNvSpPr>
              <a:spLocks noChangeArrowheads="1"/>
            </p:cNvSpPr>
            <p:nvPr/>
          </p:nvSpPr>
          <p:spPr bwMode="auto">
            <a:xfrm>
              <a:off x="3586"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190" name="Rectangle 411"/>
            <p:cNvSpPr>
              <a:spLocks noChangeArrowheads="1"/>
            </p:cNvSpPr>
            <p:nvPr/>
          </p:nvSpPr>
          <p:spPr bwMode="auto">
            <a:xfrm>
              <a:off x="3661"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191" name="Rectangle 412"/>
            <p:cNvSpPr>
              <a:spLocks noChangeArrowheads="1"/>
            </p:cNvSpPr>
            <p:nvPr/>
          </p:nvSpPr>
          <p:spPr bwMode="auto">
            <a:xfrm>
              <a:off x="3803"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192" name="Rectangle 413"/>
            <p:cNvSpPr>
              <a:spLocks noChangeArrowheads="1"/>
            </p:cNvSpPr>
            <p:nvPr/>
          </p:nvSpPr>
          <p:spPr bwMode="auto">
            <a:xfrm>
              <a:off x="3878"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193" name="Rectangle 414"/>
            <p:cNvSpPr>
              <a:spLocks noChangeArrowheads="1"/>
            </p:cNvSpPr>
            <p:nvPr/>
          </p:nvSpPr>
          <p:spPr bwMode="auto">
            <a:xfrm>
              <a:off x="4020"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194" name="Rectangle 415"/>
            <p:cNvSpPr>
              <a:spLocks noChangeArrowheads="1"/>
            </p:cNvSpPr>
            <p:nvPr/>
          </p:nvSpPr>
          <p:spPr bwMode="auto">
            <a:xfrm>
              <a:off x="4095"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195" name="Rectangle 416"/>
            <p:cNvSpPr>
              <a:spLocks noChangeArrowheads="1"/>
            </p:cNvSpPr>
            <p:nvPr/>
          </p:nvSpPr>
          <p:spPr bwMode="auto">
            <a:xfrm>
              <a:off x="4237"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196" name="Rectangle 417"/>
            <p:cNvSpPr>
              <a:spLocks noChangeArrowheads="1"/>
            </p:cNvSpPr>
            <p:nvPr/>
          </p:nvSpPr>
          <p:spPr bwMode="auto">
            <a:xfrm>
              <a:off x="4312"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197" name="Rectangle 418"/>
            <p:cNvSpPr>
              <a:spLocks noChangeArrowheads="1"/>
            </p:cNvSpPr>
            <p:nvPr/>
          </p:nvSpPr>
          <p:spPr bwMode="auto">
            <a:xfrm>
              <a:off x="4454"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198" name="Rectangle 419"/>
            <p:cNvSpPr>
              <a:spLocks noChangeArrowheads="1"/>
            </p:cNvSpPr>
            <p:nvPr/>
          </p:nvSpPr>
          <p:spPr bwMode="auto">
            <a:xfrm>
              <a:off x="4529"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199" name="Rectangle 420"/>
            <p:cNvSpPr>
              <a:spLocks noChangeArrowheads="1"/>
            </p:cNvSpPr>
            <p:nvPr/>
          </p:nvSpPr>
          <p:spPr bwMode="auto">
            <a:xfrm>
              <a:off x="4671" y="1856"/>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00" name="Rectangle 421"/>
            <p:cNvSpPr>
              <a:spLocks noChangeArrowheads="1"/>
            </p:cNvSpPr>
            <p:nvPr/>
          </p:nvSpPr>
          <p:spPr bwMode="auto">
            <a:xfrm>
              <a:off x="4746"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01" name="Rectangle 422"/>
            <p:cNvSpPr>
              <a:spLocks noChangeArrowheads="1"/>
            </p:cNvSpPr>
            <p:nvPr/>
          </p:nvSpPr>
          <p:spPr bwMode="auto">
            <a:xfrm>
              <a:off x="3152"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02" name="Rectangle 423"/>
            <p:cNvSpPr>
              <a:spLocks noChangeArrowheads="1"/>
            </p:cNvSpPr>
            <p:nvPr/>
          </p:nvSpPr>
          <p:spPr bwMode="auto">
            <a:xfrm>
              <a:off x="3227"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03" name="Rectangle 424"/>
            <p:cNvSpPr>
              <a:spLocks noChangeArrowheads="1"/>
            </p:cNvSpPr>
            <p:nvPr/>
          </p:nvSpPr>
          <p:spPr bwMode="auto">
            <a:xfrm>
              <a:off x="3369"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04" name="Rectangle 425"/>
            <p:cNvSpPr>
              <a:spLocks noChangeArrowheads="1"/>
            </p:cNvSpPr>
            <p:nvPr/>
          </p:nvSpPr>
          <p:spPr bwMode="auto">
            <a:xfrm>
              <a:off x="3444"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05" name="Rectangle 426"/>
            <p:cNvSpPr>
              <a:spLocks noChangeArrowheads="1"/>
            </p:cNvSpPr>
            <p:nvPr/>
          </p:nvSpPr>
          <p:spPr bwMode="auto">
            <a:xfrm>
              <a:off x="3586"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06" name="Rectangle 427"/>
            <p:cNvSpPr>
              <a:spLocks noChangeArrowheads="1"/>
            </p:cNvSpPr>
            <p:nvPr/>
          </p:nvSpPr>
          <p:spPr bwMode="auto">
            <a:xfrm>
              <a:off x="3661"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07" name="Rectangle 428"/>
            <p:cNvSpPr>
              <a:spLocks noChangeArrowheads="1"/>
            </p:cNvSpPr>
            <p:nvPr/>
          </p:nvSpPr>
          <p:spPr bwMode="auto">
            <a:xfrm>
              <a:off x="3803"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08" name="Rectangle 429"/>
            <p:cNvSpPr>
              <a:spLocks noChangeArrowheads="1"/>
            </p:cNvSpPr>
            <p:nvPr/>
          </p:nvSpPr>
          <p:spPr bwMode="auto">
            <a:xfrm>
              <a:off x="3878"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09" name="Rectangle 430"/>
            <p:cNvSpPr>
              <a:spLocks noChangeArrowheads="1"/>
            </p:cNvSpPr>
            <p:nvPr/>
          </p:nvSpPr>
          <p:spPr bwMode="auto">
            <a:xfrm>
              <a:off x="4020"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10" name="Rectangle 431"/>
            <p:cNvSpPr>
              <a:spLocks noChangeArrowheads="1"/>
            </p:cNvSpPr>
            <p:nvPr/>
          </p:nvSpPr>
          <p:spPr bwMode="auto">
            <a:xfrm>
              <a:off x="4095"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11" name="Rectangle 432"/>
            <p:cNvSpPr>
              <a:spLocks noChangeArrowheads="1"/>
            </p:cNvSpPr>
            <p:nvPr/>
          </p:nvSpPr>
          <p:spPr bwMode="auto">
            <a:xfrm>
              <a:off x="4237"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12" name="Rectangle 433"/>
            <p:cNvSpPr>
              <a:spLocks noChangeArrowheads="1"/>
            </p:cNvSpPr>
            <p:nvPr/>
          </p:nvSpPr>
          <p:spPr bwMode="auto">
            <a:xfrm>
              <a:off x="4312"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13" name="Rectangle 434"/>
            <p:cNvSpPr>
              <a:spLocks noChangeArrowheads="1"/>
            </p:cNvSpPr>
            <p:nvPr/>
          </p:nvSpPr>
          <p:spPr bwMode="auto">
            <a:xfrm>
              <a:off x="4454"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14" name="Rectangle 435"/>
            <p:cNvSpPr>
              <a:spLocks noChangeArrowheads="1"/>
            </p:cNvSpPr>
            <p:nvPr/>
          </p:nvSpPr>
          <p:spPr bwMode="auto">
            <a:xfrm>
              <a:off x="4529"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15" name="Rectangle 436"/>
            <p:cNvSpPr>
              <a:spLocks noChangeArrowheads="1"/>
            </p:cNvSpPr>
            <p:nvPr/>
          </p:nvSpPr>
          <p:spPr bwMode="auto">
            <a:xfrm>
              <a:off x="4671" y="1580"/>
              <a:ext cx="217" cy="217"/>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16" name="Rectangle 437"/>
            <p:cNvSpPr>
              <a:spLocks noChangeArrowheads="1"/>
            </p:cNvSpPr>
            <p:nvPr/>
          </p:nvSpPr>
          <p:spPr bwMode="auto">
            <a:xfrm>
              <a:off x="4746"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17" name="Line 438"/>
            <p:cNvSpPr>
              <a:spLocks noChangeShapeType="1"/>
            </p:cNvSpPr>
            <p:nvPr/>
          </p:nvSpPr>
          <p:spPr bwMode="auto">
            <a:xfrm>
              <a:off x="3098" y="2123"/>
              <a:ext cx="217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ar-SA"/>
            </a:p>
          </p:txBody>
        </p:sp>
        <p:sp>
          <p:nvSpPr>
            <p:cNvPr id="50218" name="Rectangle 439"/>
            <p:cNvSpPr>
              <a:spLocks noChangeArrowheads="1"/>
            </p:cNvSpPr>
            <p:nvPr/>
          </p:nvSpPr>
          <p:spPr bwMode="auto">
            <a:xfrm>
              <a:off x="3014" y="1733"/>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a:solidFill>
                    <a:srgbClr val="000000"/>
                  </a:solidFill>
                  <a:latin typeface="Helvetica" panose="020B0604020202020204" pitchFamily="34" charset="0"/>
                </a:rPr>
                <a:t>+</a:t>
              </a:r>
              <a:endParaRPr lang="en-US" altLang="ar-AE"/>
            </a:p>
          </p:txBody>
        </p:sp>
        <p:sp>
          <p:nvSpPr>
            <p:cNvPr id="50219" name="Rectangle 440"/>
            <p:cNvSpPr>
              <a:spLocks noChangeArrowheads="1"/>
            </p:cNvSpPr>
            <p:nvPr/>
          </p:nvSpPr>
          <p:spPr bwMode="auto">
            <a:xfrm>
              <a:off x="3152"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20" name="Rectangle 441"/>
            <p:cNvSpPr>
              <a:spLocks noChangeArrowheads="1"/>
            </p:cNvSpPr>
            <p:nvPr/>
          </p:nvSpPr>
          <p:spPr bwMode="auto">
            <a:xfrm>
              <a:off x="3227"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21" name="Rectangle 442"/>
            <p:cNvSpPr>
              <a:spLocks noChangeArrowheads="1"/>
            </p:cNvSpPr>
            <p:nvPr/>
          </p:nvSpPr>
          <p:spPr bwMode="auto">
            <a:xfrm>
              <a:off x="3369"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22" name="Rectangle 443"/>
            <p:cNvSpPr>
              <a:spLocks noChangeArrowheads="1"/>
            </p:cNvSpPr>
            <p:nvPr/>
          </p:nvSpPr>
          <p:spPr bwMode="auto">
            <a:xfrm>
              <a:off x="3444"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23" name="Rectangle 444"/>
            <p:cNvSpPr>
              <a:spLocks noChangeArrowheads="1"/>
            </p:cNvSpPr>
            <p:nvPr/>
          </p:nvSpPr>
          <p:spPr bwMode="auto">
            <a:xfrm>
              <a:off x="3586"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24" name="Rectangle 445"/>
            <p:cNvSpPr>
              <a:spLocks noChangeArrowheads="1"/>
            </p:cNvSpPr>
            <p:nvPr/>
          </p:nvSpPr>
          <p:spPr bwMode="auto">
            <a:xfrm>
              <a:off x="3661"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25" name="Rectangle 446"/>
            <p:cNvSpPr>
              <a:spLocks noChangeArrowheads="1"/>
            </p:cNvSpPr>
            <p:nvPr/>
          </p:nvSpPr>
          <p:spPr bwMode="auto">
            <a:xfrm>
              <a:off x="3803"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26" name="Rectangle 447"/>
            <p:cNvSpPr>
              <a:spLocks noChangeArrowheads="1"/>
            </p:cNvSpPr>
            <p:nvPr/>
          </p:nvSpPr>
          <p:spPr bwMode="auto">
            <a:xfrm>
              <a:off x="3878"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27" name="Rectangle 448"/>
            <p:cNvSpPr>
              <a:spLocks noChangeArrowheads="1"/>
            </p:cNvSpPr>
            <p:nvPr/>
          </p:nvSpPr>
          <p:spPr bwMode="auto">
            <a:xfrm>
              <a:off x="4020"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28" name="Rectangle 449"/>
            <p:cNvSpPr>
              <a:spLocks noChangeArrowheads="1"/>
            </p:cNvSpPr>
            <p:nvPr/>
          </p:nvSpPr>
          <p:spPr bwMode="auto">
            <a:xfrm>
              <a:off x="4095"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0</a:t>
              </a:r>
              <a:endParaRPr lang="en-US" altLang="ar-AE"/>
            </a:p>
          </p:txBody>
        </p:sp>
        <p:sp>
          <p:nvSpPr>
            <p:cNvPr id="50229" name="Rectangle 450"/>
            <p:cNvSpPr>
              <a:spLocks noChangeArrowheads="1"/>
            </p:cNvSpPr>
            <p:nvPr/>
          </p:nvSpPr>
          <p:spPr bwMode="auto">
            <a:xfrm>
              <a:off x="4237"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30" name="Rectangle 451"/>
            <p:cNvSpPr>
              <a:spLocks noChangeArrowheads="1"/>
            </p:cNvSpPr>
            <p:nvPr/>
          </p:nvSpPr>
          <p:spPr bwMode="auto">
            <a:xfrm>
              <a:off x="4312"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31" name="Rectangle 452"/>
            <p:cNvSpPr>
              <a:spLocks noChangeArrowheads="1"/>
            </p:cNvSpPr>
            <p:nvPr/>
          </p:nvSpPr>
          <p:spPr bwMode="auto">
            <a:xfrm>
              <a:off x="4454"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32" name="Rectangle 453"/>
            <p:cNvSpPr>
              <a:spLocks noChangeArrowheads="1"/>
            </p:cNvSpPr>
            <p:nvPr/>
          </p:nvSpPr>
          <p:spPr bwMode="auto">
            <a:xfrm>
              <a:off x="4529"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33" name="Rectangle 454"/>
            <p:cNvSpPr>
              <a:spLocks noChangeArrowheads="1"/>
            </p:cNvSpPr>
            <p:nvPr/>
          </p:nvSpPr>
          <p:spPr bwMode="auto">
            <a:xfrm>
              <a:off x="4671" y="2160"/>
              <a:ext cx="217" cy="218"/>
            </a:xfrm>
            <a:prstGeom prst="rect">
              <a:avLst/>
            </a:prstGeom>
            <a:solidFill>
              <a:srgbClr val="FFFFFF"/>
            </a:solidFill>
            <a:ln w="4763">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p>
          </p:txBody>
        </p:sp>
        <p:sp>
          <p:nvSpPr>
            <p:cNvPr id="50234" name="Rectangle 455"/>
            <p:cNvSpPr>
              <a:spLocks noChangeArrowheads="1"/>
            </p:cNvSpPr>
            <p:nvPr/>
          </p:nvSpPr>
          <p:spPr bwMode="auto">
            <a:xfrm>
              <a:off x="4746"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500">
                  <a:solidFill>
                    <a:srgbClr val="000000"/>
                  </a:solidFill>
                  <a:latin typeface="Helvetica" panose="020B0604020202020204" pitchFamily="34" charset="0"/>
                </a:rPr>
                <a:t>1</a:t>
              </a:r>
              <a:endParaRPr lang="en-US" altLang="ar-AE"/>
            </a:p>
          </p:txBody>
        </p:sp>
        <p:sp>
          <p:nvSpPr>
            <p:cNvPr id="50235" name="Rectangle 456"/>
            <p:cNvSpPr>
              <a:spLocks noChangeArrowheads="1"/>
            </p:cNvSpPr>
            <p:nvPr/>
          </p:nvSpPr>
          <p:spPr bwMode="auto">
            <a:xfrm>
              <a:off x="409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236" name="Rectangle 457"/>
            <p:cNvSpPr>
              <a:spLocks noChangeArrowheads="1"/>
            </p:cNvSpPr>
            <p:nvPr/>
          </p:nvSpPr>
          <p:spPr bwMode="auto">
            <a:xfrm>
              <a:off x="4913" y="1616"/>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15</a:t>
              </a:r>
              <a:endParaRPr lang="en-US" altLang="ar-AE"/>
            </a:p>
          </p:txBody>
        </p:sp>
        <p:sp>
          <p:nvSpPr>
            <p:cNvPr id="50237" name="Rectangle 458"/>
            <p:cNvSpPr>
              <a:spLocks noChangeArrowheads="1"/>
            </p:cNvSpPr>
            <p:nvPr/>
          </p:nvSpPr>
          <p:spPr bwMode="auto">
            <a:xfrm>
              <a:off x="4913" y="1894"/>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8</a:t>
              </a:r>
              <a:endParaRPr lang="en-US" altLang="ar-AE"/>
            </a:p>
          </p:txBody>
        </p:sp>
        <p:sp>
          <p:nvSpPr>
            <p:cNvPr id="50238" name="Rectangle 459"/>
            <p:cNvSpPr>
              <a:spLocks noChangeArrowheads="1"/>
            </p:cNvSpPr>
            <p:nvPr/>
          </p:nvSpPr>
          <p:spPr bwMode="auto">
            <a:xfrm>
              <a:off x="4913" y="2198"/>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500">
                  <a:solidFill>
                    <a:srgbClr val="000000"/>
                  </a:solidFill>
                  <a:latin typeface="Helvetica" panose="020B0604020202020204" pitchFamily="34" charset="0"/>
                </a:rPr>
                <a:t>23</a:t>
              </a:r>
              <a:endParaRPr lang="en-US" altLang="ar-AE"/>
            </a:p>
          </p:txBody>
        </p:sp>
        <p:sp>
          <p:nvSpPr>
            <p:cNvPr id="50239" name="Rectangle 460"/>
            <p:cNvSpPr>
              <a:spLocks noChangeArrowheads="1"/>
            </p:cNvSpPr>
            <p:nvPr/>
          </p:nvSpPr>
          <p:spPr bwMode="auto">
            <a:xfrm>
              <a:off x="3062" y="2464"/>
              <a:ext cx="185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AE" sz="1600">
                  <a:solidFill>
                    <a:srgbClr val="000000"/>
                  </a:solidFill>
                  <a:latin typeface="Helvetica" panose="020B0604020202020204" pitchFamily="34" charset="0"/>
                </a:rPr>
                <a:t>Carry = 0    Overflow = 0</a:t>
              </a:r>
              <a:endParaRPr lang="en-US" altLang="ar-AE" sz="1600"/>
            </a:p>
          </p:txBody>
        </p:sp>
        <p:sp>
          <p:nvSpPr>
            <p:cNvPr id="50240" name="Rectangle 461"/>
            <p:cNvSpPr>
              <a:spLocks noChangeArrowheads="1"/>
            </p:cNvSpPr>
            <p:nvPr/>
          </p:nvSpPr>
          <p:spPr bwMode="auto">
            <a:xfrm>
              <a:off x="431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241" name="Rectangle 462"/>
            <p:cNvSpPr>
              <a:spLocks noChangeArrowheads="1"/>
            </p:cNvSpPr>
            <p:nvPr/>
          </p:nvSpPr>
          <p:spPr bwMode="auto">
            <a:xfrm>
              <a:off x="4535" y="1434"/>
              <a:ext cx="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b="1"/>
            </a:p>
          </p:txBody>
        </p:sp>
        <p:sp>
          <p:nvSpPr>
            <p:cNvPr id="50242" name="Rectangle 463"/>
            <p:cNvSpPr>
              <a:spLocks noChangeArrowheads="1"/>
            </p:cNvSpPr>
            <p:nvPr/>
          </p:nvSpPr>
          <p:spPr bwMode="auto">
            <a:xfrm>
              <a:off x="3880" y="143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AE" sz="1200" b="1">
                  <a:solidFill>
                    <a:srgbClr val="000000"/>
                  </a:solidFill>
                  <a:latin typeface="Helvetica" panose="020B0604020202020204" pitchFamily="34" charset="0"/>
                </a:rPr>
                <a:t>1</a:t>
              </a:r>
              <a:endParaRPr lang="en-US" altLang="ar-AE" b="1"/>
            </a:p>
          </p:txBody>
        </p:sp>
        <p:sp>
          <p:nvSpPr>
            <p:cNvPr id="50243" name="Rectangle 464"/>
            <p:cNvSpPr>
              <a:spLocks noChangeArrowheads="1"/>
            </p:cNvSpPr>
            <p:nvPr/>
          </p:nvSpPr>
          <p:spPr bwMode="auto">
            <a:xfrm>
              <a:off x="3662" y="1434"/>
              <a:ext cx="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sz="1200" b="1"/>
            </a:p>
          </p:txBody>
        </p:sp>
        <p:sp>
          <p:nvSpPr>
            <p:cNvPr id="50244" name="Rectangle 465"/>
            <p:cNvSpPr>
              <a:spLocks noChangeArrowheads="1"/>
            </p:cNvSpPr>
            <p:nvPr/>
          </p:nvSpPr>
          <p:spPr bwMode="auto">
            <a:xfrm>
              <a:off x="3444" y="1434"/>
              <a:ext cx="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sz="1200" b="1"/>
            </a:p>
          </p:txBody>
        </p:sp>
        <p:sp>
          <p:nvSpPr>
            <p:cNvPr id="50245" name="Rectangle 466"/>
            <p:cNvSpPr>
              <a:spLocks noChangeArrowheads="1"/>
            </p:cNvSpPr>
            <p:nvPr/>
          </p:nvSpPr>
          <p:spPr bwMode="auto">
            <a:xfrm>
              <a:off x="3226" y="1434"/>
              <a:ext cx="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sz="1200" b="1"/>
            </a:p>
          </p:txBody>
        </p:sp>
        <p:sp>
          <p:nvSpPr>
            <p:cNvPr id="50246" name="Rectangle 467"/>
            <p:cNvSpPr>
              <a:spLocks noChangeArrowheads="1"/>
            </p:cNvSpPr>
            <p:nvPr/>
          </p:nvSpPr>
          <p:spPr bwMode="auto">
            <a:xfrm>
              <a:off x="3026" y="1434"/>
              <a:ext cx="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ar-AE" altLang="ar-AE" sz="1200" b="1"/>
            </a:p>
          </p:txBody>
        </p:sp>
      </p:grpSp>
      <p:sp>
        <p:nvSpPr>
          <p:cNvPr id="2" name="مستطيل 1">
            <a:extLst>
              <a:ext uri="{FF2B5EF4-FFF2-40B4-BE49-F238E27FC236}">
                <a16:creationId xmlns:a16="http://schemas.microsoft.com/office/drawing/2014/main" id="{A7762F97-4234-4F2A-93ED-C7F75369E3B8}"/>
              </a:ext>
            </a:extLst>
          </p:cNvPr>
          <p:cNvSpPr/>
          <p:nvPr/>
        </p:nvSpPr>
        <p:spPr>
          <a:xfrm>
            <a:off x="2345460" y="6377973"/>
            <a:ext cx="3422223" cy="40011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altLang="ar-AE" sz="2000" dirty="0" err="1"/>
              <a:t>OverFlow</a:t>
            </a:r>
            <a:r>
              <a:rPr lang="en-US" altLang="ar-AE" sz="2000" dirty="0"/>
              <a:t> = C</a:t>
            </a:r>
            <a:r>
              <a:rPr lang="en-US" altLang="ar-AE" sz="2000" baseline="-25000" dirty="0"/>
              <a:t>n</a:t>
            </a:r>
            <a:r>
              <a:rPr lang="en-US" altLang="ar-AE" sz="2000" dirty="0"/>
              <a:t> XOR C</a:t>
            </a:r>
            <a:r>
              <a:rPr lang="en-US" altLang="ar-AE" sz="2000" baseline="-25000" dirty="0"/>
              <a:t>n-1</a:t>
            </a:r>
            <a:endParaRPr lang="ar-SA" sz="2000" baseline="-25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274638"/>
            <a:ext cx="8229600" cy="792162"/>
          </a:xfrm>
        </p:spPr>
        <p:txBody>
          <a:bodyPr/>
          <a:lstStyle/>
          <a:p>
            <a:pPr eaLnBrk="1" hangingPunct="1"/>
            <a:r>
              <a:rPr lang="en-US" altLang="ar-AE"/>
              <a:t>Character Storage</a:t>
            </a:r>
          </a:p>
        </p:txBody>
      </p:sp>
      <p:sp>
        <p:nvSpPr>
          <p:cNvPr id="51203" name="Rectangle 3"/>
          <p:cNvSpPr>
            <a:spLocks noGrp="1" noChangeArrowheads="1"/>
          </p:cNvSpPr>
          <p:nvPr>
            <p:ph type="body" idx="1"/>
          </p:nvPr>
        </p:nvSpPr>
        <p:spPr>
          <a:xfrm>
            <a:off x="423863" y="1143000"/>
            <a:ext cx="8237537" cy="5143500"/>
          </a:xfrm>
        </p:spPr>
        <p:txBody>
          <a:bodyPr/>
          <a:lstStyle/>
          <a:p>
            <a:pPr eaLnBrk="1" hangingPunct="1"/>
            <a:r>
              <a:rPr lang="en-US" altLang="ar-AE"/>
              <a:t>Character sets</a:t>
            </a:r>
          </a:p>
          <a:p>
            <a:pPr lvl="1" eaLnBrk="1" hangingPunct="1"/>
            <a:r>
              <a:rPr lang="en-US" altLang="ar-AE"/>
              <a:t>Standard ASCII: 7-bit character codes (0 – 127)</a:t>
            </a:r>
          </a:p>
          <a:p>
            <a:pPr lvl="1" eaLnBrk="1" hangingPunct="1"/>
            <a:r>
              <a:rPr lang="en-US" altLang="ar-AE"/>
              <a:t>Extended ASCII: 8-bit character codes (0 – 255)</a:t>
            </a:r>
          </a:p>
          <a:p>
            <a:pPr lvl="1" eaLnBrk="1" hangingPunct="1"/>
            <a:r>
              <a:rPr lang="en-US" altLang="ar-AE"/>
              <a:t>Unicode: 16-bit character codes (0 – 65,535)</a:t>
            </a:r>
          </a:p>
          <a:p>
            <a:pPr lvl="1" eaLnBrk="1" hangingPunct="1"/>
            <a:r>
              <a:rPr lang="en-US" altLang="ar-AE"/>
              <a:t>Unicode standard represents a universal character set</a:t>
            </a:r>
          </a:p>
          <a:p>
            <a:pPr lvl="2" eaLnBrk="1" hangingPunct="1"/>
            <a:r>
              <a:rPr lang="en-US" altLang="ar-AE"/>
              <a:t>Defines codes for characters used in all major languages</a:t>
            </a:r>
          </a:p>
          <a:p>
            <a:pPr lvl="2" eaLnBrk="1" hangingPunct="1"/>
            <a:r>
              <a:rPr lang="en-US" altLang="ar-AE"/>
              <a:t>Used in Windows-XP: each character is encoded as 16 bits</a:t>
            </a:r>
          </a:p>
          <a:p>
            <a:pPr lvl="1" eaLnBrk="1" hangingPunct="1"/>
            <a:r>
              <a:rPr lang="en-US" altLang="ar-AE"/>
              <a:t>UTF-8: variable-length encoding used in HTML</a:t>
            </a:r>
          </a:p>
          <a:p>
            <a:pPr lvl="2" eaLnBrk="1" hangingPunct="1"/>
            <a:r>
              <a:rPr lang="en-US" altLang="ar-AE"/>
              <a:t>Encodes all Unicode characters</a:t>
            </a:r>
          </a:p>
          <a:p>
            <a:pPr lvl="2" eaLnBrk="1" hangingPunct="1"/>
            <a:r>
              <a:rPr lang="en-US" altLang="ar-AE"/>
              <a:t>Uses 1 byte for ASCII, but multiple bytes for other characters</a:t>
            </a:r>
          </a:p>
          <a:p>
            <a:pPr eaLnBrk="1" hangingPunct="1"/>
            <a:r>
              <a:rPr lang="en-US" altLang="ar-AE"/>
              <a:t>Null-terminated String</a:t>
            </a:r>
          </a:p>
          <a:p>
            <a:pPr lvl="1" eaLnBrk="1" hangingPunct="1"/>
            <a:r>
              <a:rPr lang="en-US" altLang="ar-AE"/>
              <a:t>Array of characters followed by a NULL character</a:t>
            </a:r>
            <a:endParaRPr lang="en-US" altLang="ar-AE" i="1"/>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187"/>
          <p:cNvSpPr>
            <a:spLocks noGrp="1" noChangeArrowheads="1"/>
          </p:cNvSpPr>
          <p:nvPr>
            <p:ph type="title"/>
          </p:nvPr>
        </p:nvSpPr>
        <p:spPr/>
        <p:txBody>
          <a:bodyPr/>
          <a:lstStyle/>
          <a:p>
            <a:pPr eaLnBrk="1" hangingPunct="1"/>
            <a:r>
              <a:rPr lang="en-US" altLang="ar-AE"/>
              <a:t>Printable ASCII Codes</a:t>
            </a:r>
          </a:p>
        </p:txBody>
      </p:sp>
      <p:graphicFrame>
        <p:nvGraphicFramePr>
          <p:cNvPr id="181534" name="Group 286"/>
          <p:cNvGraphicFramePr>
            <a:graphicFrameLocks noGrp="1"/>
          </p:cNvGraphicFramePr>
          <p:nvPr>
            <p:ph idx="1"/>
          </p:nvPr>
        </p:nvGraphicFramePr>
        <p:xfrm>
          <a:off x="457200" y="1143000"/>
          <a:ext cx="8229600" cy="3321051"/>
        </p:xfrm>
        <a:graphic>
          <a:graphicData uri="http://schemas.openxmlformats.org/drawingml/2006/table">
            <a:tbl>
              <a:tblPr/>
              <a:tblGrid>
                <a:gridCol w="484188">
                  <a:extLst>
                    <a:ext uri="{9D8B030D-6E8A-4147-A177-3AD203B41FA5}">
                      <a16:colId xmlns:a16="http://schemas.microsoft.com/office/drawing/2014/main" val="20000"/>
                    </a:ext>
                  </a:extLst>
                </a:gridCol>
                <a:gridCol w="484187">
                  <a:extLst>
                    <a:ext uri="{9D8B030D-6E8A-4147-A177-3AD203B41FA5}">
                      <a16:colId xmlns:a16="http://schemas.microsoft.com/office/drawing/2014/main" val="20001"/>
                    </a:ext>
                  </a:extLst>
                </a:gridCol>
                <a:gridCol w="484188">
                  <a:extLst>
                    <a:ext uri="{9D8B030D-6E8A-4147-A177-3AD203B41FA5}">
                      <a16:colId xmlns:a16="http://schemas.microsoft.com/office/drawing/2014/main" val="20002"/>
                    </a:ext>
                  </a:extLst>
                </a:gridCol>
                <a:gridCol w="473075">
                  <a:extLst>
                    <a:ext uri="{9D8B030D-6E8A-4147-A177-3AD203B41FA5}">
                      <a16:colId xmlns:a16="http://schemas.microsoft.com/office/drawing/2014/main" val="20003"/>
                    </a:ext>
                  </a:extLst>
                </a:gridCol>
                <a:gridCol w="493712">
                  <a:extLst>
                    <a:ext uri="{9D8B030D-6E8A-4147-A177-3AD203B41FA5}">
                      <a16:colId xmlns:a16="http://schemas.microsoft.com/office/drawing/2014/main" val="20004"/>
                    </a:ext>
                  </a:extLst>
                </a:gridCol>
                <a:gridCol w="484188">
                  <a:extLst>
                    <a:ext uri="{9D8B030D-6E8A-4147-A177-3AD203B41FA5}">
                      <a16:colId xmlns:a16="http://schemas.microsoft.com/office/drawing/2014/main" val="20005"/>
                    </a:ext>
                  </a:extLst>
                </a:gridCol>
                <a:gridCol w="484187">
                  <a:extLst>
                    <a:ext uri="{9D8B030D-6E8A-4147-A177-3AD203B41FA5}">
                      <a16:colId xmlns:a16="http://schemas.microsoft.com/office/drawing/2014/main" val="20006"/>
                    </a:ext>
                  </a:extLst>
                </a:gridCol>
                <a:gridCol w="484188">
                  <a:extLst>
                    <a:ext uri="{9D8B030D-6E8A-4147-A177-3AD203B41FA5}">
                      <a16:colId xmlns:a16="http://schemas.microsoft.com/office/drawing/2014/main" val="20007"/>
                    </a:ext>
                  </a:extLst>
                </a:gridCol>
                <a:gridCol w="485775">
                  <a:extLst>
                    <a:ext uri="{9D8B030D-6E8A-4147-A177-3AD203B41FA5}">
                      <a16:colId xmlns:a16="http://schemas.microsoft.com/office/drawing/2014/main" val="20008"/>
                    </a:ext>
                  </a:extLst>
                </a:gridCol>
                <a:gridCol w="484187">
                  <a:extLst>
                    <a:ext uri="{9D8B030D-6E8A-4147-A177-3AD203B41FA5}">
                      <a16:colId xmlns:a16="http://schemas.microsoft.com/office/drawing/2014/main" val="20009"/>
                    </a:ext>
                  </a:extLst>
                </a:gridCol>
                <a:gridCol w="484188">
                  <a:extLst>
                    <a:ext uri="{9D8B030D-6E8A-4147-A177-3AD203B41FA5}">
                      <a16:colId xmlns:a16="http://schemas.microsoft.com/office/drawing/2014/main" val="20010"/>
                    </a:ext>
                  </a:extLst>
                </a:gridCol>
                <a:gridCol w="484187">
                  <a:extLst>
                    <a:ext uri="{9D8B030D-6E8A-4147-A177-3AD203B41FA5}">
                      <a16:colId xmlns:a16="http://schemas.microsoft.com/office/drawing/2014/main" val="20011"/>
                    </a:ext>
                  </a:extLst>
                </a:gridCol>
                <a:gridCol w="482600">
                  <a:extLst>
                    <a:ext uri="{9D8B030D-6E8A-4147-A177-3AD203B41FA5}">
                      <a16:colId xmlns:a16="http://schemas.microsoft.com/office/drawing/2014/main" val="20012"/>
                    </a:ext>
                  </a:extLst>
                </a:gridCol>
                <a:gridCol w="484188">
                  <a:extLst>
                    <a:ext uri="{9D8B030D-6E8A-4147-A177-3AD203B41FA5}">
                      <a16:colId xmlns:a16="http://schemas.microsoft.com/office/drawing/2014/main" val="20013"/>
                    </a:ext>
                  </a:extLst>
                </a:gridCol>
                <a:gridCol w="484187">
                  <a:extLst>
                    <a:ext uri="{9D8B030D-6E8A-4147-A177-3AD203B41FA5}">
                      <a16:colId xmlns:a16="http://schemas.microsoft.com/office/drawing/2014/main" val="20014"/>
                    </a:ext>
                  </a:extLst>
                </a:gridCol>
                <a:gridCol w="484188">
                  <a:extLst>
                    <a:ext uri="{9D8B030D-6E8A-4147-A177-3AD203B41FA5}">
                      <a16:colId xmlns:a16="http://schemas.microsoft.com/office/drawing/2014/main" val="20015"/>
                    </a:ext>
                  </a:extLst>
                </a:gridCol>
                <a:gridCol w="484187">
                  <a:extLst>
                    <a:ext uri="{9D8B030D-6E8A-4147-A177-3AD203B41FA5}">
                      <a16:colId xmlns:a16="http://schemas.microsoft.com/office/drawing/2014/main" val="20016"/>
                    </a:ext>
                  </a:extLst>
                </a:gridCol>
              </a:tblGrid>
              <a:tr h="463550">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endParaRPr kumimoji="0" lang="ar-AE"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0</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6</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F</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513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200" b="0" i="0" u="none" strike="noStrike" cap="none" normalizeH="0" baseline="0">
                          <a:ln>
                            <a:noFill/>
                          </a:ln>
                          <a:solidFill>
                            <a:schemeClr val="tx1"/>
                          </a:solidFill>
                          <a:effectLst/>
                          <a:latin typeface="Arial" panose="020B0604020202020204" pitchFamily="34" charset="0"/>
                          <a:cs typeface="Arial" panose="020B0604020202020204" pitchFamily="34" charset="0"/>
                        </a:rPr>
                        <a:t>space</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&amp;</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3</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0</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6</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&lt;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&gt;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13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4</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G</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H</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I</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K</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L</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M</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N</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O</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02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5</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P</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Q</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R</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U</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V</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W</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X</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Y</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Z</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_</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7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6</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g</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h</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i</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k</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l</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m</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n</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o</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3550">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0" i="0" u="none" strike="noStrike" cap="none" normalizeH="0" baseline="0">
                          <a:ln>
                            <a:noFill/>
                          </a:ln>
                          <a:solidFill>
                            <a:srgbClr val="FF0000"/>
                          </a:solidFill>
                          <a:effectLst/>
                          <a:latin typeface="Arial" panose="020B0604020202020204" pitchFamily="34" charset="0"/>
                          <a:cs typeface="Arial" panose="020B0604020202020204" pitchFamily="34" charset="0"/>
                        </a:rPr>
                        <a:t>7</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p</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q</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r</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u</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v</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w</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x</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y</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z</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algn="l" rtl="0"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altLang="ar-AE" sz="1600" b="0" i="0" u="none" strike="noStrike" cap="none" normalizeH="0" baseline="0">
                          <a:ln>
                            <a:noFill/>
                          </a:ln>
                          <a:solidFill>
                            <a:schemeClr val="tx1"/>
                          </a:solidFill>
                          <a:effectLst/>
                          <a:latin typeface="Arial" panose="020B0604020202020204" pitchFamily="34" charset="0"/>
                          <a:cs typeface="Arial" panose="020B0604020202020204" pitchFamily="34" charset="0"/>
                        </a:rPr>
                        <a:t>DEL</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2373" name="Rectangle 289"/>
          <p:cNvSpPr>
            <a:spLocks noChangeArrowheads="1"/>
          </p:cNvSpPr>
          <p:nvPr/>
        </p:nvSpPr>
        <p:spPr bwMode="auto">
          <a:xfrm>
            <a:off x="457200" y="4522788"/>
            <a:ext cx="8229600" cy="176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7663" indent="-347663">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98513" indent="-3365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4588" indent="-231775">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481138" indent="-222250">
              <a:spcBef>
                <a:spcPct val="40000"/>
              </a:spcBef>
              <a:buChar char="–"/>
              <a:defRPr sz="1600">
                <a:solidFill>
                  <a:schemeClr val="tx1"/>
                </a:solidFill>
                <a:latin typeface="Arial" panose="020B0604020202020204" pitchFamily="34" charset="0"/>
                <a:cs typeface="Arial" panose="020B0604020202020204" pitchFamily="34" charset="0"/>
              </a:defRPr>
            </a:lvl4pPr>
            <a:lvl5pPr indent="-233363">
              <a:spcBef>
                <a:spcPct val="40000"/>
              </a:spcBef>
              <a:buChar char="»"/>
              <a:defRPr sz="1600">
                <a:solidFill>
                  <a:schemeClr val="tx1"/>
                </a:solidFill>
                <a:latin typeface="Arial" panose="020B0604020202020204" pitchFamily="34" charset="0"/>
                <a:cs typeface="Arial" panose="020B0604020202020204" pitchFamily="34" charset="0"/>
              </a:defRPr>
            </a:lvl5pPr>
            <a:lvl6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indent="-233363" algn="l" rtl="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eaLnBrk="1" hangingPunct="1"/>
            <a:r>
              <a:rPr lang="en-US" altLang="ar-AE"/>
              <a:t>Examples:</a:t>
            </a:r>
          </a:p>
          <a:p>
            <a:pPr lvl="1" eaLnBrk="1" hangingPunct="1"/>
            <a:r>
              <a:rPr lang="en-US" altLang="ar-AE"/>
              <a:t>ASCII code for space character = 20 (hex) = 32 (decimal)</a:t>
            </a:r>
          </a:p>
          <a:p>
            <a:pPr lvl="1" eaLnBrk="1" hangingPunct="1"/>
            <a:r>
              <a:rPr lang="en-US" altLang="ar-AE"/>
              <a:t>ASCII code for 'L' = 4C (hex) = 76 (decimal)</a:t>
            </a:r>
          </a:p>
          <a:p>
            <a:pPr lvl="1" eaLnBrk="1" hangingPunct="1"/>
            <a:r>
              <a:rPr lang="en-US" altLang="ar-AE"/>
              <a:t>ASCII code for 'a' = 61 (hex) = 97 (decimal)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274638"/>
            <a:ext cx="8229600" cy="792162"/>
          </a:xfrm>
        </p:spPr>
        <p:txBody>
          <a:bodyPr/>
          <a:lstStyle/>
          <a:p>
            <a:pPr eaLnBrk="1" hangingPunct="1"/>
            <a:r>
              <a:rPr lang="en-US" altLang="ar-AE"/>
              <a:t>Control Characters</a:t>
            </a:r>
          </a:p>
        </p:txBody>
      </p:sp>
      <p:sp>
        <p:nvSpPr>
          <p:cNvPr id="53251" name="Rectangle 3"/>
          <p:cNvSpPr>
            <a:spLocks noGrp="1" noChangeArrowheads="1"/>
          </p:cNvSpPr>
          <p:nvPr>
            <p:ph type="body" idx="1"/>
          </p:nvPr>
        </p:nvSpPr>
        <p:spPr>
          <a:noFill/>
        </p:spPr>
        <p:txBody>
          <a:bodyPr lIns="0" rIns="0"/>
          <a:lstStyle/>
          <a:p>
            <a:pPr eaLnBrk="1" hangingPunct="1">
              <a:spcBef>
                <a:spcPct val="30000"/>
              </a:spcBef>
            </a:pPr>
            <a:r>
              <a:rPr lang="en-US" altLang="ar-AE"/>
              <a:t>The first 32 characters of ASCII table are used for control</a:t>
            </a:r>
          </a:p>
          <a:p>
            <a:pPr eaLnBrk="1" hangingPunct="1">
              <a:spcBef>
                <a:spcPct val="30000"/>
              </a:spcBef>
            </a:pPr>
            <a:r>
              <a:rPr lang="en-US" altLang="ar-AE"/>
              <a:t>Control character codes = 00 to 1F (hex)</a:t>
            </a:r>
          </a:p>
          <a:p>
            <a:pPr lvl="1" eaLnBrk="1" hangingPunct="1">
              <a:spcBef>
                <a:spcPct val="30000"/>
              </a:spcBef>
            </a:pPr>
            <a:r>
              <a:rPr lang="en-US" altLang="ar-AE"/>
              <a:t>Not shown in previous slide</a:t>
            </a:r>
          </a:p>
          <a:p>
            <a:pPr eaLnBrk="1" hangingPunct="1">
              <a:spcBef>
                <a:spcPct val="30000"/>
              </a:spcBef>
            </a:pPr>
            <a:r>
              <a:rPr lang="en-US" altLang="ar-AE"/>
              <a:t>Examples of Control Characters</a:t>
            </a:r>
          </a:p>
          <a:p>
            <a:pPr lvl="1" eaLnBrk="1" hangingPunct="1">
              <a:spcBef>
                <a:spcPct val="30000"/>
              </a:spcBef>
            </a:pPr>
            <a:r>
              <a:rPr lang="en-US" altLang="ar-AE"/>
              <a:t>Character 0 is the </a:t>
            </a:r>
            <a:r>
              <a:rPr lang="en-US" altLang="ar-AE">
                <a:solidFill>
                  <a:srgbClr val="FF0000"/>
                </a:solidFill>
              </a:rPr>
              <a:t>NULL</a:t>
            </a:r>
            <a:r>
              <a:rPr lang="en-US" altLang="ar-AE"/>
              <a:t> character </a:t>
            </a:r>
            <a:r>
              <a:rPr lang="en-US" altLang="ar-AE">
                <a:sym typeface="Symbol" panose="05050102010706020507" pitchFamily="18" charset="2"/>
              </a:rPr>
              <a:t></a:t>
            </a:r>
            <a:r>
              <a:rPr lang="en-US" altLang="ar-AE"/>
              <a:t> used to terminate a string</a:t>
            </a:r>
          </a:p>
          <a:p>
            <a:pPr lvl="1" eaLnBrk="1" hangingPunct="1">
              <a:spcBef>
                <a:spcPct val="30000"/>
              </a:spcBef>
            </a:pPr>
            <a:r>
              <a:rPr lang="en-US" altLang="ar-AE"/>
              <a:t>Character 9 is the </a:t>
            </a:r>
            <a:r>
              <a:rPr lang="en-US" altLang="ar-AE">
                <a:solidFill>
                  <a:srgbClr val="FF0000"/>
                </a:solidFill>
              </a:rPr>
              <a:t>Horizontal Tab (HT)</a:t>
            </a:r>
            <a:r>
              <a:rPr lang="en-US" altLang="ar-AE"/>
              <a:t> character</a:t>
            </a:r>
          </a:p>
          <a:p>
            <a:pPr lvl="1" eaLnBrk="1" hangingPunct="1">
              <a:spcBef>
                <a:spcPct val="30000"/>
              </a:spcBef>
            </a:pPr>
            <a:r>
              <a:rPr lang="en-US" altLang="ar-AE"/>
              <a:t>Character 0A (hex) = 10 (decimal) is the </a:t>
            </a:r>
            <a:r>
              <a:rPr lang="en-US" altLang="ar-AE">
                <a:solidFill>
                  <a:srgbClr val="FF0000"/>
                </a:solidFill>
              </a:rPr>
              <a:t>Line Feed (LF)</a:t>
            </a:r>
          </a:p>
          <a:p>
            <a:pPr lvl="1" eaLnBrk="1" hangingPunct="1">
              <a:spcBef>
                <a:spcPct val="30000"/>
              </a:spcBef>
            </a:pPr>
            <a:r>
              <a:rPr lang="en-US" altLang="ar-AE"/>
              <a:t>Character 0D (hex) = 13 (decimal) is the </a:t>
            </a:r>
            <a:r>
              <a:rPr lang="en-US" altLang="ar-AE">
                <a:solidFill>
                  <a:srgbClr val="FF0000"/>
                </a:solidFill>
              </a:rPr>
              <a:t>Carriage Return (CR)</a:t>
            </a:r>
          </a:p>
          <a:p>
            <a:pPr lvl="1" eaLnBrk="1" hangingPunct="1">
              <a:spcBef>
                <a:spcPct val="30000"/>
              </a:spcBef>
            </a:pPr>
            <a:r>
              <a:rPr lang="en-US" altLang="ar-AE"/>
              <a:t>The LF and CR characters are used together</a:t>
            </a:r>
          </a:p>
          <a:p>
            <a:pPr lvl="2" eaLnBrk="1" hangingPunct="1">
              <a:spcBef>
                <a:spcPct val="30000"/>
              </a:spcBef>
            </a:pPr>
            <a:r>
              <a:rPr lang="en-US" altLang="ar-AE"/>
              <a:t>They advance the cursor to the beginning of next line</a:t>
            </a:r>
          </a:p>
          <a:p>
            <a:pPr eaLnBrk="1" hangingPunct="1">
              <a:spcBef>
                <a:spcPct val="30000"/>
              </a:spcBef>
            </a:pPr>
            <a:r>
              <a:rPr lang="en-US" altLang="ar-AE"/>
              <a:t>One control character appears at end of ASCII table</a:t>
            </a:r>
          </a:p>
          <a:p>
            <a:pPr lvl="1" eaLnBrk="1" hangingPunct="1">
              <a:spcBef>
                <a:spcPct val="30000"/>
              </a:spcBef>
            </a:pPr>
            <a:r>
              <a:rPr lang="en-US" altLang="ar-AE"/>
              <a:t>Character 7F (hex) is the </a:t>
            </a:r>
            <a:r>
              <a:rPr lang="en-US" altLang="ar-AE">
                <a:solidFill>
                  <a:srgbClr val="FF0000"/>
                </a:solidFill>
              </a:rPr>
              <a:t>Delete (DEL)</a:t>
            </a:r>
            <a:r>
              <a:rPr lang="en-US" altLang="ar-AE"/>
              <a:t> character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274638"/>
            <a:ext cx="8229600" cy="792162"/>
          </a:xfrm>
        </p:spPr>
        <p:txBody>
          <a:bodyPr/>
          <a:lstStyle/>
          <a:p>
            <a:pPr eaLnBrk="1" hangingPunct="1"/>
            <a:r>
              <a:rPr lang="en-US" altLang="ar-AE"/>
              <a:t>Terminology for Data Representation</a:t>
            </a:r>
          </a:p>
        </p:txBody>
      </p:sp>
      <p:sp>
        <p:nvSpPr>
          <p:cNvPr id="54275" name="Rectangle 3"/>
          <p:cNvSpPr>
            <a:spLocks noGrp="1" noChangeArrowheads="1"/>
          </p:cNvSpPr>
          <p:nvPr>
            <p:ph type="body" idx="1"/>
          </p:nvPr>
        </p:nvSpPr>
        <p:spPr>
          <a:xfrm>
            <a:off x="539750" y="1123950"/>
            <a:ext cx="8121650" cy="5127625"/>
          </a:xfrm>
        </p:spPr>
        <p:txBody>
          <a:bodyPr/>
          <a:lstStyle/>
          <a:p>
            <a:pPr eaLnBrk="1" hangingPunct="1"/>
            <a:r>
              <a:rPr lang="en-US" altLang="ar-AE"/>
              <a:t>Binary Integer</a:t>
            </a:r>
          </a:p>
          <a:p>
            <a:pPr lvl="1" eaLnBrk="1" hangingPunct="1"/>
            <a:r>
              <a:rPr lang="en-US" altLang="ar-AE"/>
              <a:t>Integer stored in memory in its binary format</a:t>
            </a:r>
          </a:p>
          <a:p>
            <a:pPr lvl="1" eaLnBrk="1" hangingPunct="1"/>
            <a:r>
              <a:rPr lang="en-US" altLang="ar-AE"/>
              <a:t>Ready to be used in binary calculations</a:t>
            </a:r>
          </a:p>
          <a:p>
            <a:pPr eaLnBrk="1" hangingPunct="1"/>
            <a:r>
              <a:rPr lang="en-US" altLang="ar-AE"/>
              <a:t>ASCII Digit String</a:t>
            </a:r>
          </a:p>
          <a:p>
            <a:pPr lvl="1" eaLnBrk="1" hangingPunct="1"/>
            <a:r>
              <a:rPr lang="en-US" altLang="ar-AE"/>
              <a:t>A string of ASCII digits, such as "123"</a:t>
            </a:r>
          </a:p>
          <a:p>
            <a:pPr eaLnBrk="1" hangingPunct="1"/>
            <a:r>
              <a:rPr lang="en-US" altLang="ar-AE"/>
              <a:t>ASCII binary</a:t>
            </a:r>
          </a:p>
          <a:p>
            <a:pPr lvl="1" eaLnBrk="1" hangingPunct="1"/>
            <a:r>
              <a:rPr lang="en-US" altLang="ar-AE"/>
              <a:t>String of binary digits: "01010101"</a:t>
            </a:r>
          </a:p>
          <a:p>
            <a:pPr eaLnBrk="1" hangingPunct="1"/>
            <a:r>
              <a:rPr lang="en-US" altLang="ar-AE"/>
              <a:t>ASCII decimal</a:t>
            </a:r>
          </a:p>
          <a:p>
            <a:pPr lvl="1" eaLnBrk="1" hangingPunct="1"/>
            <a:r>
              <a:rPr lang="en-US" altLang="ar-AE"/>
              <a:t>String of decimal digits: "6517"</a:t>
            </a:r>
          </a:p>
          <a:p>
            <a:pPr eaLnBrk="1" hangingPunct="1"/>
            <a:r>
              <a:rPr lang="en-US" altLang="ar-AE"/>
              <a:t>ASCII hexadecimal</a:t>
            </a:r>
          </a:p>
          <a:p>
            <a:pPr lvl="1" eaLnBrk="1" hangingPunct="1"/>
            <a:r>
              <a:rPr lang="en-US" altLang="ar-AE"/>
              <a:t>String of hexadecimal digits: "9C7B"</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274638"/>
            <a:ext cx="8229600" cy="792162"/>
          </a:xfrm>
        </p:spPr>
        <p:txBody>
          <a:bodyPr/>
          <a:lstStyle/>
          <a:p>
            <a:pPr eaLnBrk="1" hangingPunct="1"/>
            <a:r>
              <a:rPr lang="en-US" altLang="ar-AE"/>
              <a:t>Summary</a:t>
            </a:r>
          </a:p>
        </p:txBody>
      </p:sp>
      <p:sp>
        <p:nvSpPr>
          <p:cNvPr id="55299" name="Rectangle 3"/>
          <p:cNvSpPr>
            <a:spLocks noGrp="1" noChangeArrowheads="1"/>
          </p:cNvSpPr>
          <p:nvPr>
            <p:ph type="body" idx="1"/>
          </p:nvPr>
        </p:nvSpPr>
        <p:spPr>
          <a:xfrm>
            <a:off x="457200" y="1123950"/>
            <a:ext cx="8229600" cy="5184775"/>
          </a:xfrm>
          <a:noFill/>
        </p:spPr>
        <p:txBody>
          <a:bodyPr lIns="0" rIns="0"/>
          <a:lstStyle/>
          <a:p>
            <a:pPr eaLnBrk="1" hangingPunct="1"/>
            <a:r>
              <a:rPr lang="en-US" altLang="ar-AE" sz="2000" dirty="0"/>
              <a:t>Assembly language helps you learn how software is constructed at the lowest levels</a:t>
            </a:r>
          </a:p>
          <a:p>
            <a:pPr eaLnBrk="1" hangingPunct="1"/>
            <a:r>
              <a:rPr lang="en-US" altLang="ar-AE" sz="2000" dirty="0"/>
              <a:t>Assembly language has a one-to-one relationship with machine language</a:t>
            </a:r>
          </a:p>
          <a:p>
            <a:pPr eaLnBrk="1" hangingPunct="1"/>
            <a:r>
              <a:rPr lang="en-US" altLang="ar-AE" sz="2000" dirty="0"/>
              <a:t>An assembler is a program that converts assembly language programs into machine language</a:t>
            </a:r>
          </a:p>
          <a:p>
            <a:pPr eaLnBrk="1" hangingPunct="1"/>
            <a:r>
              <a:rPr lang="en-US" altLang="ar-AE" sz="2000" dirty="0"/>
              <a:t>A linker combines individual files created by an assembler into a single executable file</a:t>
            </a:r>
          </a:p>
          <a:p>
            <a:pPr eaLnBrk="1" hangingPunct="1"/>
            <a:r>
              <a:rPr lang="en-US" altLang="ar-AE" sz="2000" dirty="0"/>
              <a:t>A debugger provides a way for a programmer to trace the execution of a program and examine the contents of memory and registers</a:t>
            </a:r>
          </a:p>
          <a:p>
            <a:pPr eaLnBrk="1" hangingPunct="1"/>
            <a:r>
              <a:rPr lang="en-US" altLang="ar-AE" sz="2000" dirty="0"/>
              <a:t>A computer system can be viewed as consisting of layers. Programs at one layer are translated or interpreted by the next lower-level layer</a:t>
            </a:r>
          </a:p>
          <a:p>
            <a:pPr eaLnBrk="1" hangingPunct="1"/>
            <a:r>
              <a:rPr lang="en-US" altLang="ar-AE" sz="2000" dirty="0"/>
              <a:t>Binary and Hexadecimal numbers are essential for programmers working at the machine level.</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Comic Sans MS"/>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ar-AE"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ar-AE"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نسق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10121</TotalTime>
  <Words>3301</Words>
  <Application>Microsoft Office PowerPoint</Application>
  <PresentationFormat>On-screen Show (4:3)</PresentationFormat>
  <Paragraphs>666</Paragraphs>
  <Slides>45</Slides>
  <Notes>0</Notes>
  <HiddenSlides>0</HiddenSlides>
  <MMClips>0</MMClips>
  <ScaleCrop>false</ScaleCrop>
  <HeadingPairs>
    <vt:vector size="10"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45</vt:i4>
      </vt:variant>
      <vt:variant>
        <vt:lpstr>Custom Shows</vt:lpstr>
      </vt:variant>
      <vt:variant>
        <vt:i4>1</vt:i4>
      </vt:variant>
    </vt:vector>
  </HeadingPairs>
  <TitlesOfParts>
    <vt:vector size="58" baseType="lpstr">
      <vt:lpstr>Arial</vt:lpstr>
      <vt:lpstr>Comic Sans MS</vt:lpstr>
      <vt:lpstr>Courier New</vt:lpstr>
      <vt:lpstr>Georgia</vt:lpstr>
      <vt:lpstr>Helvetica</vt:lpstr>
      <vt:lpstr>LiberationSerif</vt:lpstr>
      <vt:lpstr>Symbol</vt:lpstr>
      <vt:lpstr>Times New Roman</vt:lpstr>
      <vt:lpstr>Wingdings</vt:lpstr>
      <vt:lpstr>Default Design</vt:lpstr>
      <vt:lpstr>Clarity</vt:lpstr>
      <vt:lpstr>VISIO</vt:lpstr>
      <vt:lpstr>  ECOM 4412 Computer Organization &amp;  Assembly Language </vt:lpstr>
      <vt:lpstr>Basic Concepts </vt:lpstr>
      <vt:lpstr>Welcome to Assembly Language</vt:lpstr>
      <vt:lpstr>Welcome to Assembly Language</vt:lpstr>
      <vt:lpstr>A Hierarchy of Languages</vt:lpstr>
      <vt:lpstr>Assembly and Machine Language</vt:lpstr>
      <vt:lpstr>Translating Languages</vt:lpstr>
      <vt:lpstr>Advantages of High-Level Languages</vt:lpstr>
      <vt:lpstr>Why Learn Assembly Language?</vt:lpstr>
      <vt:lpstr>Why Learn Assembly Language?</vt:lpstr>
      <vt:lpstr>Why Learn Assembly Language?</vt:lpstr>
      <vt:lpstr>Why Learn Assembly Language?</vt:lpstr>
      <vt:lpstr>Is Assembly Language Portable?</vt:lpstr>
      <vt:lpstr>Assembler</vt:lpstr>
      <vt:lpstr>Linker and Link Libraries</vt:lpstr>
      <vt:lpstr>Debugger</vt:lpstr>
      <vt:lpstr>Data Representation</vt:lpstr>
      <vt:lpstr>Binary Numbers</vt:lpstr>
      <vt:lpstr>Binary Numbers</vt:lpstr>
      <vt:lpstr>Converting Binary to Decimal</vt:lpstr>
      <vt:lpstr>Convert Unsigned Decimal to Binary</vt:lpstr>
      <vt:lpstr>Hexadecimal Integers</vt:lpstr>
      <vt:lpstr>Converting Binary to Hexadecimal</vt:lpstr>
      <vt:lpstr>Converting Hexadecimal to Decimal</vt:lpstr>
      <vt:lpstr>Converting Decimal to Hexadecimal</vt:lpstr>
      <vt:lpstr>Integer Storage Sizes</vt:lpstr>
      <vt:lpstr>Binary Addition</vt:lpstr>
      <vt:lpstr>Hexadecimal Addition</vt:lpstr>
      <vt:lpstr>Signed Integers</vt:lpstr>
      <vt:lpstr>Two's Complement Representation</vt:lpstr>
      <vt:lpstr>Forming the Two's Complement</vt:lpstr>
      <vt:lpstr>Sign Bit</vt:lpstr>
      <vt:lpstr>Maximum and Minimum Values</vt:lpstr>
      <vt:lpstr>Sign Extension</vt:lpstr>
      <vt:lpstr>Two's Complement of a Hexadecimal</vt:lpstr>
      <vt:lpstr>Binary Subtraction</vt:lpstr>
      <vt:lpstr>Hexadecimal Subtraction</vt:lpstr>
      <vt:lpstr>Ranges of Signed Integers</vt:lpstr>
      <vt:lpstr>Carry and Overflow</vt:lpstr>
      <vt:lpstr>Carry and Overflow Examples</vt:lpstr>
      <vt:lpstr>Character Storage</vt:lpstr>
      <vt:lpstr>Printable ASCII Codes</vt:lpstr>
      <vt:lpstr>Control Characters</vt:lpstr>
      <vt:lpstr>Terminology for Data Representation</vt:lpstr>
      <vt:lpstr>Summary</vt:lpstr>
      <vt:lpstr>Shl</vt:lpstr>
    </vt:vector>
  </TitlesOfParts>
  <Company>KFUPM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creator>Dr. Muhamed Mudawar</dc:creator>
  <cp:lastModifiedBy>hp</cp:lastModifiedBy>
  <cp:revision>293</cp:revision>
  <dcterms:created xsi:type="dcterms:W3CDTF">2004-09-12T13:54:39Z</dcterms:created>
  <dcterms:modified xsi:type="dcterms:W3CDTF">2021-09-14T06:35:46Z</dcterms:modified>
</cp:coreProperties>
</file>