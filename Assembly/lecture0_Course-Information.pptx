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382" r:id="rId3"/>
    <p:sldId id="383" r:id="rId4"/>
    <p:sldId id="384" r:id="rId5"/>
    <p:sldId id="387" r:id="rId6"/>
    <p:sldId id="388" r:id="rId7"/>
    <p:sldId id="374" r:id="rId8"/>
    <p:sldId id="386" r:id="rId9"/>
    <p:sldId id="375" r:id="rId10"/>
    <p:sldId id="376" r:id="rId11"/>
    <p:sldId id="38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 " initials="MSOffic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نمط متوسط 2 - تميي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14A39-8B11-4498-AA75-5BC4F7922F59}" type="datetimeFigureOut">
              <a:rPr lang="en-US" smtClean="0"/>
              <a:pPr/>
              <a:t>9/11/2021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35FBA-7750-4D22-BFAA-7BD85761A3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52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87F128E-4B1E-42E8-ACFA-EFBE36FB53CE}" type="slidenum">
              <a:rPr lang="en-US" altLang="ar-SA" sz="1200"/>
              <a:pPr/>
              <a:t>7</a:t>
            </a:fld>
            <a:endParaRPr lang="en-US" altLang="ar-SA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ar-SA" altLang="ar-SA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15987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04EB6741-F1EC-4414-BCE0-A8486A5A8821}" type="slidenum">
              <a:rPr lang="en-US" altLang="ar-SA" sz="1200"/>
              <a:pPr/>
              <a:t>9</a:t>
            </a:fld>
            <a:endParaRPr lang="en-US" altLang="ar-SA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ar-SA" altLang="ar-SA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5483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32286126-F03F-48AF-9766-645E8A58BBCB}" type="slidenum">
              <a:rPr lang="en-US" altLang="ar-SA" sz="1200"/>
              <a:pPr/>
              <a:t>10</a:t>
            </a:fld>
            <a:endParaRPr lang="en-US" altLang="ar-SA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ar-SA" altLang="ar-SA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49272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F6B50-5E91-4605-9D37-8406A275717D}" type="datetime1">
              <a:rPr lang="en-US" smtClean="0"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33400"/>
            <a:ext cx="8229600" cy="762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/>
          <a:lstStyle>
            <a:lvl1pPr algn="just">
              <a:lnSpc>
                <a:spcPct val="150000"/>
              </a:lnSpc>
              <a:spcAft>
                <a:spcPts val="600"/>
              </a:spcAft>
              <a:defRPr/>
            </a:lvl1pPr>
            <a:lvl2pPr algn="just">
              <a:lnSpc>
                <a:spcPct val="150000"/>
              </a:lnSpc>
              <a:spcAft>
                <a:spcPts val="600"/>
              </a:spcAft>
              <a:defRPr/>
            </a:lvl2pPr>
            <a:lvl3pPr algn="just">
              <a:lnSpc>
                <a:spcPct val="150000"/>
              </a:lnSpc>
              <a:spcAft>
                <a:spcPts val="600"/>
              </a:spcAft>
              <a:defRPr/>
            </a:lvl3pPr>
            <a:lvl4pPr algn="just">
              <a:lnSpc>
                <a:spcPct val="150000"/>
              </a:lnSpc>
              <a:spcAft>
                <a:spcPts val="600"/>
              </a:spcAft>
              <a:defRPr/>
            </a:lvl4pPr>
            <a:lvl5pPr algn="just">
              <a:lnSpc>
                <a:spcPct val="15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48B7-1E77-432A-9049-0856800EDA16}" type="datetime1">
              <a:rPr lang="en-US" smtClean="0"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BB873-9632-46F3-ABE4-EC190BFD7A6A}" type="datetime1">
              <a:rPr lang="en-US" smtClean="0"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081B7-0BE5-4D8D-880D-9690024BF588}" type="datetime1">
              <a:rPr lang="en-US" smtClean="0"/>
              <a:t>9/11/2021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F91C2-3547-4235-9235-D2ADADC87180}" type="datetime1">
              <a:rPr lang="en-US" smtClean="0"/>
              <a:t>9/11/2021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A3FCA-98BC-4083-9751-24EBA9796362}" type="datetime1">
              <a:rPr lang="en-US" smtClean="0"/>
              <a:t>9/11/2021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8687-AF83-4B09-8674-F05C2D49D0A0}" type="datetime1">
              <a:rPr lang="en-US" smtClean="0"/>
              <a:t>9/11/2021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BA74-1869-48D5-9B1B-C9A14093BFF0}" type="datetime1">
              <a:rPr lang="en-US" smtClean="0"/>
              <a:t>9/11/2021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0B70-4AFC-408A-BEE2-F69B77B7C0DC}" type="datetime1">
              <a:rPr lang="en-US" smtClean="0"/>
              <a:t>9/11/2021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EBD3D-5292-465A-BAD4-70E970E652B9}" type="datetime1">
              <a:rPr lang="en-US" smtClean="0"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FDAD-F46A-4AF9-8EE0-AFA822260CDB}" type="datetime1">
              <a:rPr lang="en-US" smtClean="0"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625" y="609600"/>
            <a:ext cx="8080375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2625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B7C7D2-6F6A-4B77-BA77-73A32FE9CD90}" type="datetime1">
              <a:rPr lang="en-US" smtClean="0"/>
              <a:t>9/11/2021</a:t>
            </a:fld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2pPr lvl="1">
              <a:defRPr/>
            </a:lvl2pPr>
          </a:lstStyle>
          <a:p>
            <a:pPr lvl="1"/>
            <a:fld id="{63CF995C-646F-4B16-AA25-97E38F4213FD}" type="slidenum">
              <a:rPr lang="en-US" altLang="ar-SA"/>
              <a:pPr lvl="1"/>
              <a:t>‹#›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9356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7052FA94-77D0-46F4-8CE1-F1504851DF73}" type="datetime1">
              <a:rPr lang="en-US" smtClean="0"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9D4822BE-9DF2-44C9-B12A-5C7415AD85A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299" y="1501775"/>
            <a:ext cx="8153400" cy="1927225"/>
          </a:xfrm>
        </p:spPr>
        <p:txBody>
          <a:bodyPr/>
          <a:lstStyle/>
          <a:p>
            <a:pPr algn="ctr" fontAlgn="base"/>
            <a:r>
              <a:rPr lang="en-US" sz="4400" dirty="0"/>
              <a:t>ECOM 4412</a:t>
            </a:r>
            <a:br>
              <a:rPr lang="en-US" sz="4400" dirty="0"/>
            </a:br>
            <a:r>
              <a:rPr lang="en-US" sz="4400" dirty="0"/>
              <a:t>Computer Organization &amp; Assembly Language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8061" y="3649811"/>
            <a:ext cx="6400800" cy="1752600"/>
          </a:xfrm>
        </p:spPr>
        <p:txBody>
          <a:bodyPr>
            <a:noAutofit/>
          </a:bodyPr>
          <a:lstStyle/>
          <a:p>
            <a:r>
              <a:rPr lang="en-US" altLang="ar-SA" sz="2800" dirty="0">
                <a:solidFill>
                  <a:srgbClr val="002060"/>
                </a:solidFill>
              </a:rPr>
              <a:t>Assembly Language for X86 Processors</a:t>
            </a:r>
          </a:p>
          <a:p>
            <a:endParaRPr lang="en-US" sz="2800" dirty="0"/>
          </a:p>
          <a:p>
            <a:r>
              <a:rPr lang="en-US" sz="2800" dirty="0"/>
              <a:t>Instructor: Ruba A. </a:t>
            </a:r>
            <a:r>
              <a:rPr lang="en-US" sz="2800" dirty="0" err="1"/>
              <a:t>Salamah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Islamic University of Gaza</a:t>
            </a:r>
          </a:p>
        </p:txBody>
      </p:sp>
      <p:pic>
        <p:nvPicPr>
          <p:cNvPr id="4" name="Picture 2" descr="C:\Users\Jehad\Desktop\d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27"/>
          <a:stretch/>
        </p:blipFill>
        <p:spPr bwMode="auto">
          <a:xfrm>
            <a:off x="297224" y="404664"/>
            <a:ext cx="1898511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صورة 4">
            <a:extLst>
              <a:ext uri="{FF2B5EF4-FFF2-40B4-BE49-F238E27FC236}">
                <a16:creationId xmlns:a16="http://schemas.microsoft.com/office/drawing/2014/main" id="{B6F4D363-7CCB-44C7-AC46-44AC3197F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702" y="4581128"/>
            <a:ext cx="3788786" cy="2083395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4CB64-40EE-4042-9063-7FB85CCA3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04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 Information</a:t>
            </a:r>
            <a:endParaRPr lang="ar-SA" dirty="0"/>
          </a:p>
        </p:txBody>
      </p:sp>
      <p:graphicFrame>
        <p:nvGraphicFramePr>
          <p:cNvPr id="4" name="عنصر نائب للمحتوى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6319353"/>
              </p:ext>
            </p:extLst>
          </p:nvPr>
        </p:nvGraphicFramePr>
        <p:xfrm>
          <a:off x="457200" y="1295400"/>
          <a:ext cx="8229600" cy="5301951"/>
        </p:xfrm>
        <a:graphic>
          <a:graphicData uri="http://schemas.openxmlformats.org/drawingml/2006/table">
            <a:tbl>
              <a:tblPr firstRow="1" firstCol="1" bandRow="1" bandCol="1">
                <a:tableStyleId>{93296810-A885-4BE3-A3E7-6D5BEEA58F35}</a:tableStyleId>
              </a:tblPr>
              <a:tblGrid>
                <a:gridCol w="2103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5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8139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Teacher Name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Ruba A. Salamah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8139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Office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L506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9395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Phone int.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2819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8139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Email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Rsalamah@iugaza.edu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8139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Office Hours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Saturday: 11-12         Monday: 11-12            Tuesday 10:11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06AD0D-3C82-4308-8887-3B477791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4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Information</a:t>
            </a:r>
            <a:endParaRPr lang="ar-SA" dirty="0"/>
          </a:p>
        </p:txBody>
      </p:sp>
      <p:graphicFrame>
        <p:nvGraphicFramePr>
          <p:cNvPr id="4" name="عنصر نائب للمحتوى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3855334"/>
              </p:ext>
            </p:extLst>
          </p:nvPr>
        </p:nvGraphicFramePr>
        <p:xfrm>
          <a:off x="611560" y="1772815"/>
          <a:ext cx="8075239" cy="248810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2064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0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971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Course Name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Computer Programming 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71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Course Code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ECOM 4412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971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Credits 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4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187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Pre-requisite 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AE" sz="2000" dirty="0">
                          <a:effectLst/>
                        </a:rPr>
                        <a:t> </a:t>
                      </a:r>
                      <a:r>
                        <a:rPr lang="en-US" sz="2000" dirty="0">
                          <a:effectLst/>
                        </a:rPr>
                        <a:t>Computer Architecture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جدول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622784"/>
              </p:ext>
            </p:extLst>
          </p:nvPr>
        </p:nvGraphicFramePr>
        <p:xfrm>
          <a:off x="683569" y="4725144"/>
          <a:ext cx="8003233" cy="1574347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1348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0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0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33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33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 rowSpan="2"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LECTURE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Building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Day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Start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End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Room Number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072"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Sat. Mon. Wed.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12:00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1:00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L319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144BF7-5647-4AAB-AF3D-99680E818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16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Course Description:</a:t>
            </a:r>
            <a:endParaRPr lang="ar-SA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course provides basic computer organization with emphasis on machine representation of data and instructions. Students will study programming in assembly and machine-oriented languages. Students will solve problems and design solutions using assembly language for Intel x86 processor family.</a:t>
            </a:r>
            <a:endParaRPr lang="ar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EEDD0-55DF-4B27-A14B-68561EAF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852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7FC7A-3033-4B34-BFED-ED2CE734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762000"/>
          </a:xfrm>
        </p:spPr>
        <p:txBody>
          <a:bodyPr/>
          <a:lstStyle/>
          <a:p>
            <a:r>
              <a:rPr lang="en-US" dirty="0"/>
              <a:t>Course 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667A0-7C7C-408C-AD20-B2D6D2415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435280" cy="5734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who successfully complete this course will have demonstrated the ability to: </a:t>
            </a:r>
          </a:p>
          <a:p>
            <a:pPr marL="536575" indent="-536575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principles of computer architecture as applied to the Intel x86 processor family, </a:t>
            </a:r>
          </a:p>
          <a:p>
            <a:pPr marL="536575" indent="-536575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data representation, including signed and unsigned integers, real numbers, and character data, </a:t>
            </a:r>
          </a:p>
          <a:p>
            <a:pPr marL="536575" indent="-536575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 concepts of basic Boolean logic to computer hardware and programming, </a:t>
            </a:r>
          </a:p>
          <a:p>
            <a:pPr marL="536575" indent="-536575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familiar with the syntax and constructs of assembly language,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EDACB-F2CA-4881-8FEC-999AD277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6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119BC-879E-45DA-84B0-983260330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 (</a:t>
            </a:r>
            <a:r>
              <a:rPr lang="en-US" dirty="0" err="1"/>
              <a:t>Cont</a:t>
            </a:r>
            <a:r>
              <a:rPr lang="en-US" dirty="0"/>
              <a:t>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33D3B-223C-4010-845C-21A6C3223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99721"/>
            <a:ext cx="8229600" cy="5257800"/>
          </a:xfrm>
        </p:spPr>
        <p:txBody>
          <a:bodyPr>
            <a:normAutofit/>
          </a:bodyPr>
          <a:lstStyle/>
          <a:p>
            <a:pPr marL="441325" indent="-441325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Create, compile, link and run assembly language programs using the Microsoft Visual Studio Integrated  Development Environment, </a:t>
            </a:r>
          </a:p>
          <a:p>
            <a:pPr marL="441325" indent="-441325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programs using one or more of the following:  sequence, selection, and repetition, </a:t>
            </a:r>
          </a:p>
          <a:p>
            <a:pPr marL="361950" indent="-361950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procedures and arrays, </a:t>
            </a:r>
          </a:p>
          <a:p>
            <a:pPr marL="361950" indent="-361950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problems and create solutions using assembly language.</a:t>
            </a:r>
          </a:p>
          <a:p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0F5ED-26A3-4F06-820B-D1FB4885A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79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1812" y="152428"/>
            <a:ext cx="8080375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dirty="0"/>
              <a:t>Course Text Book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7920" y="1124744"/>
            <a:ext cx="7522432" cy="5023644"/>
          </a:xfrm>
          <a:noFill/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"Assembly Language for x86 Processors"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by Kip R. Irvine (7th Edition), Prentice-Hall, 2015.</a:t>
            </a:r>
            <a:endParaRPr lang="en-US" altLang="ar-SA" sz="28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spcAft>
                <a:spcPts val="600"/>
              </a:spcAft>
            </a:pPr>
            <a:endParaRPr lang="en-US" sz="2800" b="1" dirty="0"/>
          </a:p>
          <a:p>
            <a:pPr>
              <a:lnSpc>
                <a:spcPct val="70000"/>
              </a:lnSpc>
              <a:spcAft>
                <a:spcPts val="600"/>
              </a:spcAft>
            </a:pPr>
            <a:r>
              <a:rPr lang="en-US" sz="2800" b="1" dirty="0"/>
              <a:t> </a:t>
            </a:r>
            <a:r>
              <a:rPr lang="en-US" altLang="ar-SA" sz="2800" dirty="0">
                <a:ea typeface="ＭＳ Ｐゴシック" panose="020B0600070205080204" pitchFamily="34" charset="-128"/>
              </a:rPr>
              <a:t>Lecture notes will follow</a:t>
            </a:r>
          </a:p>
          <a:p>
            <a:pPr marL="0" indent="0">
              <a:lnSpc>
                <a:spcPct val="70000"/>
              </a:lnSpc>
              <a:spcAft>
                <a:spcPts val="600"/>
              </a:spcAft>
              <a:buNone/>
            </a:pPr>
            <a:r>
              <a:rPr lang="en-US" altLang="ar-SA" sz="2800" dirty="0">
                <a:ea typeface="ＭＳ Ｐゴシック" panose="020B0600070205080204" pitchFamily="34" charset="-128"/>
              </a:rPr>
              <a:t>   the book.</a:t>
            </a:r>
          </a:p>
          <a:p>
            <a:pPr eaLnBrk="1" hangingPunct="1">
              <a:lnSpc>
                <a:spcPct val="70000"/>
              </a:lnSpc>
              <a:spcAft>
                <a:spcPts val="600"/>
              </a:spcAft>
            </a:pPr>
            <a:endParaRPr lang="en-US" altLang="ar-SA" sz="28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70000"/>
              </a:lnSpc>
              <a:spcAft>
                <a:spcPts val="600"/>
              </a:spcAft>
            </a:pPr>
            <a:r>
              <a:rPr lang="en-US" altLang="ar-SA" sz="2800" dirty="0">
                <a:ea typeface="ＭＳ Ｐゴシック" panose="020B0600070205080204" pitchFamily="34" charset="-128"/>
              </a:rPr>
              <a:t>Please keep up with the reading!</a:t>
            </a:r>
          </a:p>
        </p:txBody>
      </p:sp>
      <p:sp>
        <p:nvSpPr>
          <p:cNvPr id="17412" name="Rectangle 6"/>
          <p:cNvSpPr>
            <a:spLocks noChangeArrowheads="1"/>
          </p:cNvSpPr>
          <p:nvPr/>
        </p:nvSpPr>
        <p:spPr bwMode="auto">
          <a:xfrm>
            <a:off x="7199313" y="6148388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0" rIns="92075" bIns="0" anchor="b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 algn="r" eaLnBrk="1" hangingPunct="1"/>
            <a:fld id="{778A0325-59AD-4AAF-AC7E-2EFCCEAFA725}" type="slidenum">
              <a:rPr lang="en-US" altLang="ar-SA" sz="1400">
                <a:latin typeface="Arial" panose="020B0604020202020204" pitchFamily="34" charset="0"/>
              </a:rPr>
              <a:pPr lvl="1" algn="r" eaLnBrk="1" hangingPunct="1"/>
              <a:t>7</a:t>
            </a:fld>
            <a:endParaRPr lang="en-US" altLang="ar-SA" sz="1400">
              <a:latin typeface="Arial" panose="020B0604020202020204" pitchFamily="34" charset="0"/>
            </a:endParaRPr>
          </a:p>
        </p:txBody>
      </p:sp>
      <p:pic>
        <p:nvPicPr>
          <p:cNvPr id="2" name="Picture 2" descr="Assembly Language for x86 Processors (7th Edition): 9780133769401: Computer  Science Books @ Amazon.com">
            <a:extLst>
              <a:ext uri="{FF2B5EF4-FFF2-40B4-BE49-F238E27FC236}">
                <a16:creationId xmlns:a16="http://schemas.microsoft.com/office/drawing/2014/main" id="{789B73BB-E287-40C1-A2DD-E45EEBF32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395" y="2276872"/>
            <a:ext cx="3218160" cy="4206746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390B88-39E9-40FC-9AE4-E6B61CB8AB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1"/>
            <a:fld id="{63CF995C-646F-4B16-AA25-97E38F4213FD}" type="slidenum">
              <a:rPr lang="en-US" altLang="ar-SA" smtClean="0"/>
              <a:pPr lvl="1"/>
              <a:t>7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67194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A2BB4-5514-4D93-B61A-2D895E735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2EF7D-59EB-4D62-8C32-5848D7B69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These chapters will be covered from </a:t>
            </a:r>
            <a:r>
              <a:rPr lang="en-US"/>
              <a:t>the textbook:</a:t>
            </a:r>
          </a:p>
          <a:p>
            <a:r>
              <a:rPr lang="en-US" dirty="0"/>
              <a:t>Basic Concepts (Ch. 1) 	</a:t>
            </a:r>
          </a:p>
          <a:p>
            <a:r>
              <a:rPr lang="en-US" dirty="0"/>
              <a:t>x86 Processor Architecture (Ch. 2) 	</a:t>
            </a:r>
          </a:p>
          <a:p>
            <a:r>
              <a:rPr lang="en-US" dirty="0"/>
              <a:t>Assembly Language fundamentals (Ch. 3) 	</a:t>
            </a:r>
          </a:p>
          <a:p>
            <a:r>
              <a:rPr lang="en-US" dirty="0"/>
              <a:t>Data Transfers, Addressing and Arithmetic (Ch. 4) 	</a:t>
            </a:r>
          </a:p>
          <a:p>
            <a:r>
              <a:rPr lang="en-US" dirty="0"/>
              <a:t>Procedures (Ch. 5) 	</a:t>
            </a:r>
          </a:p>
          <a:p>
            <a:r>
              <a:rPr lang="en-US" dirty="0"/>
              <a:t>Conditional Processing (Ch. 6) 	</a:t>
            </a:r>
          </a:p>
          <a:p>
            <a:r>
              <a:rPr lang="en-US" dirty="0"/>
              <a:t>Integer Arithmetic (Ch. 7) 	</a:t>
            </a:r>
          </a:p>
          <a:p>
            <a:r>
              <a:rPr lang="en-US" dirty="0"/>
              <a:t>Advanced Procedures (Ch. 8) 	</a:t>
            </a:r>
          </a:p>
          <a:p>
            <a:r>
              <a:rPr lang="en-US" dirty="0"/>
              <a:t>Structures and Macros (</a:t>
            </a:r>
            <a:r>
              <a:rPr lang="en-US" dirty="0" err="1"/>
              <a:t>ch.</a:t>
            </a:r>
            <a:r>
              <a:rPr lang="en-US" dirty="0"/>
              <a:t> 10)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209F5-DA92-4414-A9E4-5E7504C21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65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2625" y="304800"/>
            <a:ext cx="8080375" cy="9906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Software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367408"/>
            <a:ext cx="8712967" cy="5445968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All the example programs and lab </a:t>
            </a:r>
            <a:r>
              <a:rPr lang="en-US" sz="3200" dirty="0" err="1"/>
              <a:t>eercises</a:t>
            </a:r>
            <a:r>
              <a:rPr lang="en-US" sz="3200" dirty="0"/>
              <a:t> will be tested with Microsoft Macro Assembler (MASM) Version 11.0, running in Microsoft Visual Studio</a:t>
            </a:r>
            <a:endParaRPr lang="en-US" altLang="ar-SA" sz="3200" dirty="0">
              <a:ea typeface="ＭＳ Ｐゴシック" panose="020B0600070205080204" pitchFamily="34" charset="-128"/>
            </a:endParaRP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7199313" y="6148388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0" rIns="92075" bIns="0" anchor="b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 algn="r" eaLnBrk="1" hangingPunct="1"/>
            <a:fld id="{16D70F09-ACE9-4435-8D4B-51BED7738E27}" type="slidenum">
              <a:rPr lang="en-US" altLang="ar-SA" sz="1400">
                <a:latin typeface="Arial" panose="020B0604020202020204" pitchFamily="34" charset="0"/>
              </a:rPr>
              <a:pPr lvl="1" algn="r" eaLnBrk="1" hangingPunct="1"/>
              <a:t>9</a:t>
            </a:fld>
            <a:endParaRPr lang="en-US" altLang="ar-SA" sz="1400">
              <a:latin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84B45A-5CB9-40D0-9085-76004C796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5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/>
              <a:t>Grading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ar-SA" dirty="0">
                <a:ea typeface="ＭＳ Ｐゴシック" panose="020B0600070205080204" pitchFamily="34" charset="-128"/>
              </a:rPr>
              <a:t>Your grade will be determined as follows:</a:t>
            </a:r>
          </a:p>
          <a:p>
            <a:pPr lvl="1"/>
            <a:r>
              <a:rPr lang="en-US" sz="3200" dirty="0"/>
              <a:t>Labs, Activities and </a:t>
            </a:r>
            <a:r>
              <a:rPr lang="en-US" sz="3200" dirty="0" err="1"/>
              <a:t>Quizes</a:t>
            </a:r>
            <a:r>
              <a:rPr lang="en-US" sz="3200" dirty="0"/>
              <a:t> 30%</a:t>
            </a:r>
          </a:p>
          <a:p>
            <a:pPr lvl="1"/>
            <a:r>
              <a:rPr lang="en-US" sz="3200" dirty="0"/>
              <a:t>Research 10%</a:t>
            </a:r>
          </a:p>
          <a:p>
            <a:pPr lvl="1"/>
            <a:r>
              <a:rPr lang="en-US" sz="3200" dirty="0" err="1"/>
              <a:t>MidTerm</a:t>
            </a:r>
            <a:r>
              <a:rPr lang="en-US" sz="3200" dirty="0"/>
              <a:t> Exam 20%</a:t>
            </a:r>
          </a:p>
          <a:p>
            <a:pPr lvl="1"/>
            <a:r>
              <a:rPr lang="en-US" sz="3200" dirty="0"/>
              <a:t>Final Exam 50%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7199313" y="6148388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0" rIns="92075" bIns="0" anchor="b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 algn="r" eaLnBrk="1" hangingPunct="1"/>
            <a:fld id="{5035FAF7-B501-4096-AD91-EDBFAC484627}" type="slidenum">
              <a:rPr lang="en-US" altLang="ar-SA" sz="1400">
                <a:latin typeface="Arial" panose="020B0604020202020204" pitchFamily="34" charset="0"/>
              </a:rPr>
              <a:pPr lvl="1" algn="r" eaLnBrk="1" hangingPunct="1"/>
              <a:t>10</a:t>
            </a:fld>
            <a:endParaRPr lang="en-US" altLang="ar-SA" sz="1400">
              <a:latin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AF55BC-23C2-4342-9D1F-1ED53129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9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Luck!!!!!</a:t>
            </a:r>
            <a:endParaRPr lang="ar-SA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653E2A-A6F1-48B1-9761-E1E921B23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822BE-9DF2-44C9-B12A-5C7415AD85A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4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579</TotalTime>
  <Words>476</Words>
  <Application>Microsoft Office PowerPoint</Application>
  <PresentationFormat>On-screen Show (4:3)</PresentationFormat>
  <Paragraphs>94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ＭＳ Ｐゴシック</vt:lpstr>
      <vt:lpstr>Arial</vt:lpstr>
      <vt:lpstr>Calibri</vt:lpstr>
      <vt:lpstr>Georgia</vt:lpstr>
      <vt:lpstr>Times New Roman</vt:lpstr>
      <vt:lpstr>Clarity</vt:lpstr>
      <vt:lpstr>ECOM 4412 Computer Organization &amp; Assembly Language</vt:lpstr>
      <vt:lpstr>Instructor Information</vt:lpstr>
      <vt:lpstr>Course Information</vt:lpstr>
      <vt:lpstr>Course Description:</vt:lpstr>
      <vt:lpstr>Course Objectives:</vt:lpstr>
      <vt:lpstr>Course Objectives (Cont…)</vt:lpstr>
      <vt:lpstr>Course Text Book</vt:lpstr>
      <vt:lpstr>Outline: </vt:lpstr>
      <vt:lpstr>Software</vt:lpstr>
      <vt:lpstr>Grading</vt:lpstr>
      <vt:lpstr>Good Luck!!!!!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ruba</dc:creator>
  <cp:lastModifiedBy>hp</cp:lastModifiedBy>
  <cp:revision>54</cp:revision>
  <dcterms:created xsi:type="dcterms:W3CDTF">2014-09-10T08:52:20Z</dcterms:created>
  <dcterms:modified xsi:type="dcterms:W3CDTF">2021-09-11T17:26:45Z</dcterms:modified>
</cp:coreProperties>
</file>